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8"/>
  </p:notesMasterIdLst>
  <p:sldIdLst>
    <p:sldId id="256" r:id="rId2"/>
    <p:sldId id="259" r:id="rId3"/>
    <p:sldId id="260" r:id="rId4"/>
    <p:sldId id="261" r:id="rId5"/>
    <p:sldId id="264" r:id="rId6"/>
    <p:sldId id="312" r:id="rId7"/>
    <p:sldId id="267" r:id="rId8"/>
    <p:sldId id="305" r:id="rId9"/>
    <p:sldId id="308" r:id="rId10"/>
    <p:sldId id="274" r:id="rId11"/>
    <p:sldId id="270" r:id="rId12"/>
    <p:sldId id="313" r:id="rId13"/>
    <p:sldId id="307" r:id="rId14"/>
    <p:sldId id="309" r:id="rId15"/>
    <p:sldId id="318" r:id="rId16"/>
    <p:sldId id="319" r:id="rId17"/>
    <p:sldId id="320" r:id="rId18"/>
    <p:sldId id="321" r:id="rId19"/>
    <p:sldId id="322" r:id="rId20"/>
    <p:sldId id="323" r:id="rId21"/>
    <p:sldId id="310" r:id="rId22"/>
    <p:sldId id="316" r:id="rId23"/>
    <p:sldId id="317" r:id="rId24"/>
    <p:sldId id="311" r:id="rId25"/>
    <p:sldId id="280" r:id="rId26"/>
    <p:sldId id="283" r:id="rId27"/>
  </p:sldIdLst>
  <p:sldSz cx="9144000" cy="5143500" type="screen16x9"/>
  <p:notesSz cx="6858000" cy="9144000"/>
  <p:embeddedFontLst>
    <p:embeddedFont>
      <p:font typeface="Bebas Neue" panose="020B0606020202050201" pitchFamily="34" charset="0"/>
      <p:regular r:id="rId29"/>
    </p:embeddedFont>
    <p:embeddedFont>
      <p:font typeface="Consolas" panose="020B0609020204030204" pitchFamily="49" charset="0"/>
      <p:regular r:id="rId30"/>
      <p:bold r:id="rId31"/>
      <p:italic r:id="rId32"/>
      <p:boldItalic r:id="rId33"/>
    </p:embeddedFont>
    <p:embeddedFont>
      <p:font typeface="Mulish" panose="020B0604020202020204" charset="0"/>
      <p:regular r:id="rId34"/>
      <p:bold r:id="rId35"/>
      <p:italic r:id="rId36"/>
      <p:boldItalic r:id="rId37"/>
    </p:embeddedFont>
    <p:embeddedFont>
      <p:font typeface="Quicksand" panose="020B0604020202020204"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591D83-5829-40D4-AC8A-644ED1D59C0B}">
  <a:tblStyle styleId="{90591D83-5829-40D4-AC8A-644ED1D59C0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47" autoAdjust="0"/>
  </p:normalViewPr>
  <p:slideViewPr>
    <p:cSldViewPr snapToGrid="0">
      <p:cViewPr varScale="1">
        <p:scale>
          <a:sx n="140" d="100"/>
          <a:sy n="140" d="100"/>
        </p:scale>
        <p:origin x="77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s-ES" b="1" dirty="0"/>
              <a:t>Introducción:</a:t>
            </a:r>
            <a:r>
              <a:rPr lang="es-ES" dirty="0"/>
              <a:t> Los estudios observacionales son fundamentales para la investigación en salud pública, sobre todo en situaciones donde no es posible o ético realizar ensayos controlados.</a:t>
            </a:r>
          </a:p>
          <a:p>
            <a:r>
              <a:rPr lang="es-ES" b="1" dirty="0"/>
              <a:t>Ventajas:</a:t>
            </a:r>
            <a:r>
              <a:rPr lang="es-ES" dirty="0"/>
              <a:t> Una de las principales ventajas de los estudios observacionales es que proporcionan una mayor validez externa, ya que reflejan situaciones del mundo real sin la intervención directa del investigador. Esto permite que los resultados sean más generalizables a la población en general.</a:t>
            </a:r>
          </a:p>
          <a:p>
            <a:r>
              <a:rPr lang="es-ES" b="1" dirty="0"/>
              <a:t>Desventajas:</a:t>
            </a:r>
            <a:r>
              <a:rPr lang="es-ES" dirty="0"/>
              <a:t> Sin embargo, uno de los principales inconvenientes es la imposibilidad de establecer relaciones causales directas. Esto se debe a la presencia de variables </a:t>
            </a:r>
            <a:r>
              <a:rPr lang="es-ES" dirty="0" err="1"/>
              <a:t>confusoras</a:t>
            </a:r>
            <a:r>
              <a:rPr lang="es-ES" dirty="0"/>
              <a:t> que pueden influir en los resultados. Es importante tener en cuenta estos sesgos a la hora de interpretar los datos.</a:t>
            </a:r>
          </a:p>
          <a:p>
            <a:r>
              <a:rPr lang="es-ES" b="1" dirty="0"/>
              <a:t>Limitaciones y Futuro:</a:t>
            </a:r>
            <a:r>
              <a:rPr lang="es-ES" dirty="0"/>
              <a:t> Existen diversas limitaciones, como la incapacidad de controlar todas las variables y la presencia de sesgos. Para contrarrestar estas limitaciones, se están desarrollando métodos estadísticos avanzados como los </a:t>
            </a:r>
            <a:r>
              <a:rPr lang="es-ES" dirty="0" err="1"/>
              <a:t>Propensity</a:t>
            </a:r>
            <a:r>
              <a:rPr lang="es-ES" dirty="0"/>
              <a:t> Scores, que ayudan a equilibrar las características de los grupos comparados y reducir el impacto de las variables </a:t>
            </a:r>
            <a:r>
              <a:rPr lang="es-ES" dirty="0" err="1"/>
              <a:t>confusoras</a:t>
            </a:r>
            <a:r>
              <a:rPr lang="es-ES" dirty="0"/>
              <a:t>.</a:t>
            </a:r>
          </a:p>
          <a:p>
            <a:r>
              <a:rPr lang="es-ES" b="1" dirty="0"/>
              <a:t>Conclusión:</a:t>
            </a:r>
            <a:r>
              <a:rPr lang="es-ES" dirty="0"/>
              <a:t> En resumen, aunque los estudios observacionales tienen sus limitaciones, siguen siendo esenciales en la investigación en salud pública. Con el desarrollo continuo de métodos estadísticos, es posible mejorar su validez interna y obtener resultados más confiables.</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1dd46dd1d67_2_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1dd46dd1d67_2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a:extLst>
            <a:ext uri="{FF2B5EF4-FFF2-40B4-BE49-F238E27FC236}">
              <a16:creationId xmlns:a16="http://schemas.microsoft.com/office/drawing/2014/main" id="{3D6CB0B1-063E-1F5A-6B4A-B601BB1A293A}"/>
            </a:ext>
          </a:extLst>
        </p:cNvPr>
        <p:cNvGrpSpPr/>
        <p:nvPr/>
      </p:nvGrpSpPr>
      <p:grpSpPr>
        <a:xfrm>
          <a:off x="0" y="0"/>
          <a:ext cx="0" cy="0"/>
          <a:chOff x="0" y="0"/>
          <a:chExt cx="0" cy="0"/>
        </a:xfrm>
      </p:grpSpPr>
      <p:sp>
        <p:nvSpPr>
          <p:cNvPr id="377" name="Google Shape;377;g1dd46dd1d67_2_681:notes">
            <a:extLst>
              <a:ext uri="{FF2B5EF4-FFF2-40B4-BE49-F238E27FC236}">
                <a16:creationId xmlns:a16="http://schemas.microsoft.com/office/drawing/2014/main" id="{AE66C8A7-6FB9-DC8E-170C-2F0ABFE0C5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1dd46dd1d67_2_681:notes">
            <a:extLst>
              <a:ext uri="{FF2B5EF4-FFF2-40B4-BE49-F238E27FC236}">
                <a16:creationId xmlns:a16="http://schemas.microsoft.com/office/drawing/2014/main" id="{7853635A-DFF7-ADDE-5D10-9779A0908F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6238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17b871a42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117b871a42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a:extLst>
            <a:ext uri="{FF2B5EF4-FFF2-40B4-BE49-F238E27FC236}">
              <a16:creationId xmlns:a16="http://schemas.microsoft.com/office/drawing/2014/main" id="{1553221E-C955-C316-3A23-5F23EB42E6E3}"/>
            </a:ext>
          </a:extLst>
        </p:cNvPr>
        <p:cNvGrpSpPr/>
        <p:nvPr/>
      </p:nvGrpSpPr>
      <p:grpSpPr>
        <a:xfrm>
          <a:off x="0" y="0"/>
          <a:ext cx="0" cy="0"/>
          <a:chOff x="0" y="0"/>
          <a:chExt cx="0" cy="0"/>
        </a:xfrm>
      </p:grpSpPr>
      <p:sp>
        <p:nvSpPr>
          <p:cNvPr id="444" name="Google Shape;444;g133f6155f6d_0_69:notes">
            <a:extLst>
              <a:ext uri="{FF2B5EF4-FFF2-40B4-BE49-F238E27FC236}">
                <a16:creationId xmlns:a16="http://schemas.microsoft.com/office/drawing/2014/main" id="{A5C7D1C6-075C-82A3-E0F8-FA5EFFC1B1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133f6155f6d_0_69:notes">
            <a:extLst>
              <a:ext uri="{FF2B5EF4-FFF2-40B4-BE49-F238E27FC236}">
                <a16:creationId xmlns:a16="http://schemas.microsoft.com/office/drawing/2014/main" id="{7E96C04D-DDB7-5727-5BDA-D829E41C29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639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a:extLst>
            <a:ext uri="{FF2B5EF4-FFF2-40B4-BE49-F238E27FC236}">
              <a16:creationId xmlns:a16="http://schemas.microsoft.com/office/drawing/2014/main" id="{B76DECE6-315C-95A0-1612-E10B7F8852B3}"/>
            </a:ext>
          </a:extLst>
        </p:cNvPr>
        <p:cNvGrpSpPr/>
        <p:nvPr/>
      </p:nvGrpSpPr>
      <p:grpSpPr>
        <a:xfrm>
          <a:off x="0" y="0"/>
          <a:ext cx="0" cy="0"/>
          <a:chOff x="0" y="0"/>
          <a:chExt cx="0" cy="0"/>
        </a:xfrm>
      </p:grpSpPr>
      <p:sp>
        <p:nvSpPr>
          <p:cNvPr id="326" name="Google Shape;326;g2161ca7da69_2_7:notes">
            <a:extLst>
              <a:ext uri="{FF2B5EF4-FFF2-40B4-BE49-F238E27FC236}">
                <a16:creationId xmlns:a16="http://schemas.microsoft.com/office/drawing/2014/main" id="{2DA54FD2-AB8F-BA12-F61E-7E214E8AB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a:extLst>
              <a:ext uri="{FF2B5EF4-FFF2-40B4-BE49-F238E27FC236}">
                <a16:creationId xmlns:a16="http://schemas.microsoft.com/office/drawing/2014/main" id="{A0BBAAFF-396F-EAA4-4ED9-8D60BF321F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0953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1dd46dd1d67_2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1dd46dd1d67_2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6139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a:extLst>
            <a:ext uri="{FF2B5EF4-FFF2-40B4-BE49-F238E27FC236}">
              <a16:creationId xmlns:a16="http://schemas.microsoft.com/office/drawing/2014/main" id="{16644C07-A86B-05D7-682A-C23B23AFA5EF}"/>
            </a:ext>
          </a:extLst>
        </p:cNvPr>
        <p:cNvGrpSpPr/>
        <p:nvPr/>
      </p:nvGrpSpPr>
      <p:grpSpPr>
        <a:xfrm>
          <a:off x="0" y="0"/>
          <a:ext cx="0" cy="0"/>
          <a:chOff x="0" y="0"/>
          <a:chExt cx="0" cy="0"/>
        </a:xfrm>
      </p:grpSpPr>
      <p:sp>
        <p:nvSpPr>
          <p:cNvPr id="482" name="Google Shape;482;g1dd46dd1d67_2_512:notes">
            <a:extLst>
              <a:ext uri="{FF2B5EF4-FFF2-40B4-BE49-F238E27FC236}">
                <a16:creationId xmlns:a16="http://schemas.microsoft.com/office/drawing/2014/main" id="{E170DEDF-D365-F01E-577F-92D32A67DF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1dd46dd1d67_2_512:notes">
            <a:extLst>
              <a:ext uri="{FF2B5EF4-FFF2-40B4-BE49-F238E27FC236}">
                <a16:creationId xmlns:a16="http://schemas.microsoft.com/office/drawing/2014/main" id="{80E23F01-D382-8422-EE94-ED51B7B4FC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7682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a:extLst>
            <a:ext uri="{FF2B5EF4-FFF2-40B4-BE49-F238E27FC236}">
              <a16:creationId xmlns:a16="http://schemas.microsoft.com/office/drawing/2014/main" id="{692CA70A-C696-87A0-F15B-7909F8C628D2}"/>
            </a:ext>
          </a:extLst>
        </p:cNvPr>
        <p:cNvGrpSpPr/>
        <p:nvPr/>
      </p:nvGrpSpPr>
      <p:grpSpPr>
        <a:xfrm>
          <a:off x="0" y="0"/>
          <a:ext cx="0" cy="0"/>
          <a:chOff x="0" y="0"/>
          <a:chExt cx="0" cy="0"/>
        </a:xfrm>
      </p:grpSpPr>
      <p:sp>
        <p:nvSpPr>
          <p:cNvPr id="326" name="Google Shape;326;g2161ca7da69_2_7:notes">
            <a:extLst>
              <a:ext uri="{FF2B5EF4-FFF2-40B4-BE49-F238E27FC236}">
                <a16:creationId xmlns:a16="http://schemas.microsoft.com/office/drawing/2014/main" id="{AF882641-F728-A55D-925D-9CDC9E72E9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a:extLst>
              <a:ext uri="{FF2B5EF4-FFF2-40B4-BE49-F238E27FC236}">
                <a16:creationId xmlns:a16="http://schemas.microsoft.com/office/drawing/2014/main" id="{6669D495-98D7-5603-9D74-F15A4D1AF0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2803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a:extLst>
            <a:ext uri="{FF2B5EF4-FFF2-40B4-BE49-F238E27FC236}">
              <a16:creationId xmlns:a16="http://schemas.microsoft.com/office/drawing/2014/main" id="{FE546897-9577-32B7-4C9B-41839C921B75}"/>
            </a:ext>
          </a:extLst>
        </p:cNvPr>
        <p:cNvGrpSpPr/>
        <p:nvPr/>
      </p:nvGrpSpPr>
      <p:grpSpPr>
        <a:xfrm>
          <a:off x="0" y="0"/>
          <a:ext cx="0" cy="0"/>
          <a:chOff x="0" y="0"/>
          <a:chExt cx="0" cy="0"/>
        </a:xfrm>
      </p:grpSpPr>
      <p:sp>
        <p:nvSpPr>
          <p:cNvPr id="326" name="Google Shape;326;g2161ca7da69_2_7:notes">
            <a:extLst>
              <a:ext uri="{FF2B5EF4-FFF2-40B4-BE49-F238E27FC236}">
                <a16:creationId xmlns:a16="http://schemas.microsoft.com/office/drawing/2014/main" id="{28BCDAE8-E802-C681-336A-75A38A51FB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a:extLst>
              <a:ext uri="{FF2B5EF4-FFF2-40B4-BE49-F238E27FC236}">
                <a16:creationId xmlns:a16="http://schemas.microsoft.com/office/drawing/2014/main" id="{DA64F604-AFD4-3DDF-1ACF-B869819708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4785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a:extLst>
            <a:ext uri="{FF2B5EF4-FFF2-40B4-BE49-F238E27FC236}">
              <a16:creationId xmlns:a16="http://schemas.microsoft.com/office/drawing/2014/main" id="{36B273DF-188C-F0D4-3091-E797CAECE2C6}"/>
            </a:ext>
          </a:extLst>
        </p:cNvPr>
        <p:cNvGrpSpPr/>
        <p:nvPr/>
      </p:nvGrpSpPr>
      <p:grpSpPr>
        <a:xfrm>
          <a:off x="0" y="0"/>
          <a:ext cx="0" cy="0"/>
          <a:chOff x="0" y="0"/>
          <a:chExt cx="0" cy="0"/>
        </a:xfrm>
      </p:grpSpPr>
      <p:sp>
        <p:nvSpPr>
          <p:cNvPr id="326" name="Google Shape;326;g2161ca7da69_2_7:notes">
            <a:extLst>
              <a:ext uri="{FF2B5EF4-FFF2-40B4-BE49-F238E27FC236}">
                <a16:creationId xmlns:a16="http://schemas.microsoft.com/office/drawing/2014/main" id="{E80A9748-528A-17FB-693D-102541D214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a:extLst>
              <a:ext uri="{FF2B5EF4-FFF2-40B4-BE49-F238E27FC236}">
                <a16:creationId xmlns:a16="http://schemas.microsoft.com/office/drawing/2014/main" id="{E693947C-8398-6F53-4D72-8FC36F4BA3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1560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6826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1340135a08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7" name="Google Shape;797;g1340135a08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609200" y="1424875"/>
            <a:ext cx="5925600" cy="2079300"/>
          </a:xfrm>
          <a:prstGeom prst="rect">
            <a:avLst/>
          </a:prstGeom>
          <a:noFill/>
        </p:spPr>
        <p:txBody>
          <a:bodyPr spcFirstLastPara="1" wrap="square" lIns="91425" tIns="91425" rIns="91425" bIns="91425" anchor="ctr" anchorCtr="0">
            <a:noAutofit/>
          </a:bodyPr>
          <a:lstStyle>
            <a:lvl1pPr lvl="0" algn="ctr">
              <a:lnSpc>
                <a:spcPct val="115000"/>
              </a:lnSpc>
              <a:spcBef>
                <a:spcPts val="0"/>
              </a:spcBef>
              <a:spcAft>
                <a:spcPts val="0"/>
              </a:spcAft>
              <a:buSzPts val="5200"/>
              <a:buNone/>
              <a:defRPr sz="7200" b="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609200" y="3573775"/>
            <a:ext cx="5942700" cy="47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sp>
        <p:nvSpPr>
          <p:cNvPr id="14" name="Google Shape;14;p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txBox="1">
            <a:spLocks noGrp="1"/>
          </p:cNvSpPr>
          <p:nvPr>
            <p:ph type="title"/>
          </p:nvPr>
        </p:nvSpPr>
        <p:spPr>
          <a:xfrm>
            <a:off x="3579950" y="1854500"/>
            <a:ext cx="36048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1959250" y="1854500"/>
            <a:ext cx="1189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 name="Google Shape;17;p3"/>
          <p:cNvSpPr txBox="1">
            <a:spLocks noGrp="1"/>
          </p:cNvSpPr>
          <p:nvPr>
            <p:ph type="subTitle" idx="1"/>
          </p:nvPr>
        </p:nvSpPr>
        <p:spPr>
          <a:xfrm>
            <a:off x="1959250" y="2939075"/>
            <a:ext cx="5225400" cy="446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lvl1pPr>
            <a:lvl2pPr lvl="1" algn="ctr" rtl="0">
              <a:lnSpc>
                <a:spcPct val="100000"/>
              </a:lnSpc>
              <a:spcBef>
                <a:spcPts val="160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cxnSp>
        <p:nvCxnSpPr>
          <p:cNvPr id="18" name="Google Shape;18;p3"/>
          <p:cNvCxnSpPr/>
          <p:nvPr/>
        </p:nvCxnSpPr>
        <p:spPr>
          <a:xfrm rot="10800000">
            <a:off x="8761325" y="2079300"/>
            <a:ext cx="0" cy="984900"/>
          </a:xfrm>
          <a:prstGeom prst="straightConnector1">
            <a:avLst/>
          </a:prstGeom>
          <a:noFill/>
          <a:ln w="19050" cap="flat" cmpd="sng">
            <a:solidFill>
              <a:schemeClr val="lt1"/>
            </a:solidFill>
            <a:prstDash val="solid"/>
            <a:round/>
            <a:headEnd type="oval" w="med" len="med"/>
            <a:tailEnd type="oval" w="med" len="med"/>
          </a:ln>
        </p:spPr>
      </p:cxnSp>
      <p:cxnSp>
        <p:nvCxnSpPr>
          <p:cNvPr id="19" name="Google Shape;19;p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0" name="Google Shape;20;p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21;p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2" name="Google Shape;22;p3"/>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3" name="Google Shape;23;p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‹Nº›</a:t>
            </a:fld>
            <a:endParaRPr/>
          </a:p>
        </p:txBody>
      </p:sp>
      <p:cxnSp>
        <p:nvCxnSpPr>
          <p:cNvPr id="24" name="Google Shape;24;p3"/>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5" name="Google Shape;25;p3"/>
          <p:cNvCxnSpPr/>
          <p:nvPr/>
        </p:nvCxnSpPr>
        <p:spPr>
          <a:xfrm rot="10800000">
            <a:off x="394350" y="2079300"/>
            <a:ext cx="0" cy="9849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6"/>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1" name="Google Shape;51;p6"/>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52" name="Google Shape;52;p6"/>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53;p6"/>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54" name="Google Shape;54;p6"/>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55" name="Google Shape;55;p6"/>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‹Nº›</a:t>
            </a:fld>
            <a:endParaRPr/>
          </a:p>
        </p:txBody>
      </p:sp>
      <p:cxnSp>
        <p:nvCxnSpPr>
          <p:cNvPr id="56" name="Google Shape;56;p6"/>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57" name="Google Shape;5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9" name="Google Shape;79;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0" name="Google Shape;80;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9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2"/>
        <p:cNvGrpSpPr/>
        <p:nvPr/>
      </p:nvGrpSpPr>
      <p:grpSpPr>
        <a:xfrm>
          <a:off x="0" y="0"/>
          <a:ext cx="0" cy="0"/>
          <a:chOff x="0" y="0"/>
          <a:chExt cx="0" cy="0"/>
        </a:xfrm>
      </p:grpSpPr>
      <p:sp>
        <p:nvSpPr>
          <p:cNvPr id="123" name="Google Shape;123;p1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4" name="Google Shape;124;p1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25" name="Google Shape;125;p1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 name="Google Shape;126;p1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27" name="Google Shape;127;p1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28" name="Google Shape;128;p1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‹Nº›</a:t>
            </a:fld>
            <a:endParaRPr/>
          </a:p>
        </p:txBody>
      </p:sp>
      <p:cxnSp>
        <p:nvCxnSpPr>
          <p:cNvPr id="129" name="Google Shape;129;p1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30" name="Google Shape;130;p14"/>
          <p:cNvSpPr txBox="1">
            <a:spLocks noGrp="1"/>
          </p:cNvSpPr>
          <p:nvPr>
            <p:ph type="title"/>
          </p:nvPr>
        </p:nvSpPr>
        <p:spPr>
          <a:xfrm>
            <a:off x="969900" y="3387600"/>
            <a:ext cx="7204200" cy="531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a:solidFill>
                  <a:schemeClr val="dk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31" name="Google Shape;131;p14"/>
          <p:cNvSpPr txBox="1">
            <a:spLocks noGrp="1"/>
          </p:cNvSpPr>
          <p:nvPr>
            <p:ph type="subTitle" idx="1"/>
          </p:nvPr>
        </p:nvSpPr>
        <p:spPr>
          <a:xfrm>
            <a:off x="969900" y="1312625"/>
            <a:ext cx="7204200" cy="147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132"/>
        <p:cNvGrpSpPr/>
        <p:nvPr/>
      </p:nvGrpSpPr>
      <p:grpSpPr>
        <a:xfrm>
          <a:off x="0" y="0"/>
          <a:ext cx="0" cy="0"/>
          <a:chOff x="0" y="0"/>
          <a:chExt cx="0" cy="0"/>
        </a:xfrm>
      </p:grpSpPr>
      <p:sp>
        <p:nvSpPr>
          <p:cNvPr id="133" name="Google Shape;133;p15"/>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4" name="Google Shape;134;p15"/>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35" name="Google Shape;135;p15"/>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6" name="Google Shape;136;p15"/>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37" name="Google Shape;137;p15"/>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38" name="Google Shape;138;p15"/>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‹Nº›</a:t>
            </a:fld>
            <a:endParaRPr/>
          </a:p>
        </p:txBody>
      </p:sp>
      <p:cxnSp>
        <p:nvCxnSpPr>
          <p:cNvPr id="139" name="Google Shape;139;p15"/>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40" name="Google Shape;140;p15"/>
          <p:cNvSpPr txBox="1">
            <a:spLocks noGrp="1"/>
          </p:cNvSpPr>
          <p:nvPr>
            <p:ph type="title"/>
          </p:nvPr>
        </p:nvSpPr>
        <p:spPr>
          <a:xfrm>
            <a:off x="720000" y="1148563"/>
            <a:ext cx="3944700" cy="1607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1" name="Google Shape;141;p15"/>
          <p:cNvSpPr txBox="1">
            <a:spLocks noGrp="1"/>
          </p:cNvSpPr>
          <p:nvPr>
            <p:ph type="subTitle" idx="1"/>
          </p:nvPr>
        </p:nvSpPr>
        <p:spPr>
          <a:xfrm>
            <a:off x="720000" y="2878638"/>
            <a:ext cx="3944700" cy="111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2" name="Google Shape;142;p15"/>
          <p:cNvSpPr>
            <a:spLocks noGrp="1"/>
          </p:cNvSpPr>
          <p:nvPr>
            <p:ph type="pic" idx="2"/>
          </p:nvPr>
        </p:nvSpPr>
        <p:spPr>
          <a:xfrm>
            <a:off x="5149825" y="691038"/>
            <a:ext cx="3070800" cy="3761400"/>
          </a:xfrm>
          <a:prstGeom prst="ellipse">
            <a:avLst/>
          </a:prstGeom>
          <a:noFill/>
          <a:ln w="19050" cap="flat" cmpd="sng">
            <a:solidFill>
              <a:schemeClr val="dk2"/>
            </a:solidFill>
            <a:prstDash val="solid"/>
            <a:round/>
            <a:headEnd type="none" w="sm" len="sm"/>
            <a:tailEnd type="none" w="sm" len="sm"/>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8"/>
        <p:cNvGrpSpPr/>
        <p:nvPr/>
      </p:nvGrpSpPr>
      <p:grpSpPr>
        <a:xfrm>
          <a:off x="0" y="0"/>
          <a:ext cx="0" cy="0"/>
          <a:chOff x="0" y="0"/>
          <a:chExt cx="0" cy="0"/>
        </a:xfrm>
      </p:grpSpPr>
      <p:sp>
        <p:nvSpPr>
          <p:cNvPr id="169" name="Google Shape;169;p18"/>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18"/>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71" name="Google Shape;171;p18"/>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18"/>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73" name="Google Shape;173;p18"/>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74" name="Google Shape;174;p18"/>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‹Nº›</a:t>
            </a:fld>
            <a:endParaRPr/>
          </a:p>
        </p:txBody>
      </p:sp>
      <p:cxnSp>
        <p:nvCxnSpPr>
          <p:cNvPr id="175" name="Google Shape;175;p18"/>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76" name="Google Shape;176;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18"/>
          <p:cNvSpPr txBox="1">
            <a:spLocks noGrp="1"/>
          </p:cNvSpPr>
          <p:nvPr>
            <p:ph type="subTitle" idx="1"/>
          </p:nvPr>
        </p:nvSpPr>
        <p:spPr>
          <a:xfrm>
            <a:off x="720025" y="1610942"/>
            <a:ext cx="7704000" cy="530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8" name="Google Shape;178;p18"/>
          <p:cNvSpPr txBox="1">
            <a:spLocks noGrp="1"/>
          </p:cNvSpPr>
          <p:nvPr>
            <p:ph type="subTitle" idx="2"/>
          </p:nvPr>
        </p:nvSpPr>
        <p:spPr>
          <a:xfrm>
            <a:off x="720025" y="27311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9" name="Google Shape;179;p18"/>
          <p:cNvSpPr txBox="1">
            <a:spLocks noGrp="1"/>
          </p:cNvSpPr>
          <p:nvPr>
            <p:ph type="subTitle" idx="3"/>
          </p:nvPr>
        </p:nvSpPr>
        <p:spPr>
          <a:xfrm>
            <a:off x="720025" y="38516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80" name="Google Shape;180;p18"/>
          <p:cNvSpPr txBox="1">
            <a:spLocks noGrp="1"/>
          </p:cNvSpPr>
          <p:nvPr>
            <p:ph type="subTitle" idx="4"/>
          </p:nvPr>
        </p:nvSpPr>
        <p:spPr>
          <a:xfrm>
            <a:off x="720025" y="1241274"/>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1" name="Google Shape;181;p18"/>
          <p:cNvSpPr txBox="1">
            <a:spLocks noGrp="1"/>
          </p:cNvSpPr>
          <p:nvPr>
            <p:ph type="subTitle" idx="5"/>
          </p:nvPr>
        </p:nvSpPr>
        <p:spPr>
          <a:xfrm>
            <a:off x="720025" y="23501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2" name="Google Shape;182;p18"/>
          <p:cNvSpPr txBox="1">
            <a:spLocks noGrp="1"/>
          </p:cNvSpPr>
          <p:nvPr>
            <p:ph type="subTitle" idx="6"/>
          </p:nvPr>
        </p:nvSpPr>
        <p:spPr>
          <a:xfrm>
            <a:off x="720025" y="34706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Shape 183"/>
        <p:cNvGrpSpPr/>
        <p:nvPr/>
      </p:nvGrpSpPr>
      <p:grpSpPr>
        <a:xfrm>
          <a:off x="0" y="0"/>
          <a:ext cx="0" cy="0"/>
          <a:chOff x="0" y="0"/>
          <a:chExt cx="0" cy="0"/>
        </a:xfrm>
      </p:grpSpPr>
      <p:sp>
        <p:nvSpPr>
          <p:cNvPr id="184" name="Google Shape;184;p19"/>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5" name="Google Shape;185;p19"/>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86" name="Google Shape;186;p19"/>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7" name="Google Shape;187;p19"/>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88" name="Google Shape;188;p19"/>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89" name="Google Shape;189;p19"/>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‹Nº›</a:t>
            </a:fld>
            <a:endParaRPr/>
          </a:p>
        </p:txBody>
      </p:sp>
      <p:cxnSp>
        <p:nvCxnSpPr>
          <p:cNvPr id="190" name="Google Shape;190;p19"/>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91" name="Google Shape;191;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2" name="Google Shape;192;p19"/>
          <p:cNvSpPr txBox="1">
            <a:spLocks noGrp="1"/>
          </p:cNvSpPr>
          <p:nvPr>
            <p:ph type="subTitle" idx="1"/>
          </p:nvPr>
        </p:nvSpPr>
        <p:spPr>
          <a:xfrm>
            <a:off x="1381625" y="1718025"/>
            <a:ext cx="70425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93" name="Google Shape;193;p19"/>
          <p:cNvSpPr txBox="1">
            <a:spLocks noGrp="1"/>
          </p:cNvSpPr>
          <p:nvPr>
            <p:ph type="subTitle" idx="2"/>
          </p:nvPr>
        </p:nvSpPr>
        <p:spPr>
          <a:xfrm>
            <a:off x="1381635" y="2861025"/>
            <a:ext cx="70425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94" name="Google Shape;194;p19"/>
          <p:cNvSpPr txBox="1">
            <a:spLocks noGrp="1"/>
          </p:cNvSpPr>
          <p:nvPr>
            <p:ph type="subTitle" idx="3"/>
          </p:nvPr>
        </p:nvSpPr>
        <p:spPr>
          <a:xfrm>
            <a:off x="1381635" y="4004025"/>
            <a:ext cx="70425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95" name="Google Shape;195;p19"/>
          <p:cNvSpPr txBox="1">
            <a:spLocks noGrp="1"/>
          </p:cNvSpPr>
          <p:nvPr>
            <p:ph type="subTitle" idx="4"/>
          </p:nvPr>
        </p:nvSpPr>
        <p:spPr>
          <a:xfrm>
            <a:off x="1381625" y="1406025"/>
            <a:ext cx="7042500" cy="33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6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96" name="Google Shape;196;p19"/>
          <p:cNvSpPr txBox="1">
            <a:spLocks noGrp="1"/>
          </p:cNvSpPr>
          <p:nvPr>
            <p:ph type="subTitle" idx="5"/>
          </p:nvPr>
        </p:nvSpPr>
        <p:spPr>
          <a:xfrm>
            <a:off x="1381625" y="2526575"/>
            <a:ext cx="7042500" cy="33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6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
        <p:nvSpPr>
          <p:cNvPr id="197" name="Google Shape;197;p19"/>
          <p:cNvSpPr txBox="1">
            <a:spLocks noGrp="1"/>
          </p:cNvSpPr>
          <p:nvPr>
            <p:ph type="subTitle" idx="6"/>
          </p:nvPr>
        </p:nvSpPr>
        <p:spPr>
          <a:xfrm>
            <a:off x="1381625" y="3647125"/>
            <a:ext cx="7042500" cy="33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6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98"/>
        <p:cNvGrpSpPr/>
        <p:nvPr/>
      </p:nvGrpSpPr>
      <p:grpSpPr>
        <a:xfrm>
          <a:off x="0" y="0"/>
          <a:ext cx="0" cy="0"/>
          <a:chOff x="0" y="0"/>
          <a:chExt cx="0" cy="0"/>
        </a:xfrm>
      </p:grpSpPr>
      <p:sp>
        <p:nvSpPr>
          <p:cNvPr id="199" name="Google Shape;199;p20"/>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0" name="Google Shape;200;p20"/>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01" name="Google Shape;201;p20"/>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2" name="Google Shape;202;p20"/>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03" name="Google Shape;203;p20"/>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04" name="Google Shape;204;p20"/>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‹Nº›</a:t>
            </a:fld>
            <a:endParaRPr/>
          </a:p>
        </p:txBody>
      </p:sp>
      <p:cxnSp>
        <p:nvCxnSpPr>
          <p:cNvPr id="205" name="Google Shape;205;p20"/>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206" name="Google Shape;206;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7" name="Google Shape;207;p20"/>
          <p:cNvSpPr txBox="1">
            <a:spLocks noGrp="1"/>
          </p:cNvSpPr>
          <p:nvPr>
            <p:ph type="subTitle" idx="1"/>
          </p:nvPr>
        </p:nvSpPr>
        <p:spPr>
          <a:xfrm>
            <a:off x="1545775" y="1975263"/>
            <a:ext cx="2556900" cy="91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08" name="Google Shape;208;p20"/>
          <p:cNvSpPr txBox="1">
            <a:spLocks noGrp="1"/>
          </p:cNvSpPr>
          <p:nvPr>
            <p:ph type="subTitle" idx="2"/>
          </p:nvPr>
        </p:nvSpPr>
        <p:spPr>
          <a:xfrm>
            <a:off x="5041325" y="1975263"/>
            <a:ext cx="2556900" cy="91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09" name="Google Shape;209;p20"/>
          <p:cNvSpPr txBox="1">
            <a:spLocks noGrp="1"/>
          </p:cNvSpPr>
          <p:nvPr>
            <p:ph type="subTitle" idx="3"/>
          </p:nvPr>
        </p:nvSpPr>
        <p:spPr>
          <a:xfrm>
            <a:off x="1545775" y="3691500"/>
            <a:ext cx="2556900" cy="91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10" name="Google Shape;210;p20"/>
          <p:cNvSpPr txBox="1">
            <a:spLocks noGrp="1"/>
          </p:cNvSpPr>
          <p:nvPr>
            <p:ph type="subTitle" idx="4"/>
          </p:nvPr>
        </p:nvSpPr>
        <p:spPr>
          <a:xfrm>
            <a:off x="5041325" y="3691500"/>
            <a:ext cx="2556900" cy="91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11" name="Google Shape;211;p20"/>
          <p:cNvSpPr txBox="1">
            <a:spLocks noGrp="1"/>
          </p:cNvSpPr>
          <p:nvPr>
            <p:ph type="subTitle" idx="5"/>
          </p:nvPr>
        </p:nvSpPr>
        <p:spPr>
          <a:xfrm>
            <a:off x="1545775" y="1670463"/>
            <a:ext cx="2556900" cy="354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212" name="Google Shape;212;p20"/>
          <p:cNvSpPr txBox="1">
            <a:spLocks noGrp="1"/>
          </p:cNvSpPr>
          <p:nvPr>
            <p:ph type="subTitle" idx="6"/>
          </p:nvPr>
        </p:nvSpPr>
        <p:spPr>
          <a:xfrm>
            <a:off x="5041325" y="1670463"/>
            <a:ext cx="2556900" cy="354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213" name="Google Shape;213;p20"/>
          <p:cNvSpPr txBox="1">
            <a:spLocks noGrp="1"/>
          </p:cNvSpPr>
          <p:nvPr>
            <p:ph type="subTitle" idx="7"/>
          </p:nvPr>
        </p:nvSpPr>
        <p:spPr>
          <a:xfrm>
            <a:off x="1545775" y="3386700"/>
            <a:ext cx="2556900" cy="354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214" name="Google Shape;214;p20"/>
          <p:cNvSpPr txBox="1">
            <a:spLocks noGrp="1"/>
          </p:cNvSpPr>
          <p:nvPr>
            <p:ph type="subTitle" idx="8"/>
          </p:nvPr>
        </p:nvSpPr>
        <p:spPr>
          <a:xfrm>
            <a:off x="5041325" y="3386700"/>
            <a:ext cx="2556900" cy="354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215"/>
        <p:cNvGrpSpPr/>
        <p:nvPr/>
      </p:nvGrpSpPr>
      <p:grpSpPr>
        <a:xfrm>
          <a:off x="0" y="0"/>
          <a:ext cx="0" cy="0"/>
          <a:chOff x="0" y="0"/>
          <a:chExt cx="0" cy="0"/>
        </a:xfrm>
      </p:grpSpPr>
      <p:sp>
        <p:nvSpPr>
          <p:cNvPr id="216" name="Google Shape;216;p21"/>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7" name="Google Shape;217;p21"/>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18" name="Google Shape;218;p21"/>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9" name="Google Shape;219;p21"/>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20" name="Google Shape;220;p21"/>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21" name="Google Shape;221;p2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‹Nº›</a:t>
            </a:fld>
            <a:endParaRPr/>
          </a:p>
        </p:txBody>
      </p:sp>
      <p:cxnSp>
        <p:nvCxnSpPr>
          <p:cNvPr id="222" name="Google Shape;222;p21"/>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223" name="Google Shape;223;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4" name="Google Shape;224;p21"/>
          <p:cNvSpPr txBox="1">
            <a:spLocks noGrp="1"/>
          </p:cNvSpPr>
          <p:nvPr>
            <p:ph type="subTitle" idx="1"/>
          </p:nvPr>
        </p:nvSpPr>
        <p:spPr>
          <a:xfrm>
            <a:off x="903950" y="2149201"/>
            <a:ext cx="2191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5" name="Google Shape;225;p21"/>
          <p:cNvSpPr txBox="1">
            <a:spLocks noGrp="1"/>
          </p:cNvSpPr>
          <p:nvPr>
            <p:ph type="subTitle" idx="2"/>
          </p:nvPr>
        </p:nvSpPr>
        <p:spPr>
          <a:xfrm>
            <a:off x="3478550" y="2149201"/>
            <a:ext cx="21825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6" name="Google Shape;226;p21"/>
          <p:cNvSpPr txBox="1">
            <a:spLocks noGrp="1"/>
          </p:cNvSpPr>
          <p:nvPr>
            <p:ph type="subTitle" idx="3"/>
          </p:nvPr>
        </p:nvSpPr>
        <p:spPr>
          <a:xfrm>
            <a:off x="903950" y="3579425"/>
            <a:ext cx="21912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7" name="Google Shape;227;p21"/>
          <p:cNvSpPr txBox="1">
            <a:spLocks noGrp="1"/>
          </p:cNvSpPr>
          <p:nvPr>
            <p:ph type="subTitle" idx="4"/>
          </p:nvPr>
        </p:nvSpPr>
        <p:spPr>
          <a:xfrm>
            <a:off x="3478550" y="3579425"/>
            <a:ext cx="21825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8" name="Google Shape;228;p21"/>
          <p:cNvSpPr txBox="1">
            <a:spLocks noGrp="1"/>
          </p:cNvSpPr>
          <p:nvPr>
            <p:ph type="subTitle" idx="5"/>
          </p:nvPr>
        </p:nvSpPr>
        <p:spPr>
          <a:xfrm>
            <a:off x="6048850" y="2149201"/>
            <a:ext cx="2199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29" name="Google Shape;229;p21"/>
          <p:cNvSpPr txBox="1">
            <a:spLocks noGrp="1"/>
          </p:cNvSpPr>
          <p:nvPr>
            <p:ph type="subTitle" idx="6"/>
          </p:nvPr>
        </p:nvSpPr>
        <p:spPr>
          <a:xfrm>
            <a:off x="6048850" y="3579425"/>
            <a:ext cx="21999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30" name="Google Shape;230;p21"/>
          <p:cNvSpPr txBox="1">
            <a:spLocks noGrp="1"/>
          </p:cNvSpPr>
          <p:nvPr>
            <p:ph type="subTitle" idx="7"/>
          </p:nvPr>
        </p:nvSpPr>
        <p:spPr>
          <a:xfrm>
            <a:off x="908250" y="1656600"/>
            <a:ext cx="21825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31" name="Google Shape;231;p21"/>
          <p:cNvSpPr txBox="1">
            <a:spLocks noGrp="1"/>
          </p:cNvSpPr>
          <p:nvPr>
            <p:ph type="subTitle" idx="8"/>
          </p:nvPr>
        </p:nvSpPr>
        <p:spPr>
          <a:xfrm>
            <a:off x="3482836" y="1656600"/>
            <a:ext cx="21738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32" name="Google Shape;232;p21"/>
          <p:cNvSpPr txBox="1">
            <a:spLocks noGrp="1"/>
          </p:cNvSpPr>
          <p:nvPr>
            <p:ph type="subTitle" idx="9"/>
          </p:nvPr>
        </p:nvSpPr>
        <p:spPr>
          <a:xfrm>
            <a:off x="6053173" y="1656600"/>
            <a:ext cx="21912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33" name="Google Shape;233;p21"/>
          <p:cNvSpPr txBox="1">
            <a:spLocks noGrp="1"/>
          </p:cNvSpPr>
          <p:nvPr>
            <p:ph type="subTitle" idx="13"/>
          </p:nvPr>
        </p:nvSpPr>
        <p:spPr>
          <a:xfrm>
            <a:off x="908250" y="3086800"/>
            <a:ext cx="21825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34" name="Google Shape;234;p21"/>
          <p:cNvSpPr txBox="1">
            <a:spLocks noGrp="1"/>
          </p:cNvSpPr>
          <p:nvPr>
            <p:ph type="subTitle" idx="14"/>
          </p:nvPr>
        </p:nvSpPr>
        <p:spPr>
          <a:xfrm>
            <a:off x="3482836" y="3086800"/>
            <a:ext cx="21738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35" name="Google Shape;235;p21"/>
          <p:cNvSpPr txBox="1">
            <a:spLocks noGrp="1"/>
          </p:cNvSpPr>
          <p:nvPr>
            <p:ph type="subTitle" idx="15"/>
          </p:nvPr>
        </p:nvSpPr>
        <p:spPr>
          <a:xfrm>
            <a:off x="6053173" y="3086800"/>
            <a:ext cx="2191200" cy="4425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50"/>
        <p:cNvGrpSpPr/>
        <p:nvPr/>
      </p:nvGrpSpPr>
      <p:grpSpPr>
        <a:xfrm>
          <a:off x="0" y="0"/>
          <a:ext cx="0" cy="0"/>
          <a:chOff x="0" y="0"/>
          <a:chExt cx="0" cy="0"/>
        </a:xfrm>
      </p:grpSpPr>
      <p:sp>
        <p:nvSpPr>
          <p:cNvPr id="251" name="Google Shape;251;p2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3"/>
          <p:cNvSpPr txBox="1">
            <a:spLocks noGrp="1"/>
          </p:cNvSpPr>
          <p:nvPr>
            <p:ph type="title"/>
          </p:nvPr>
        </p:nvSpPr>
        <p:spPr>
          <a:xfrm>
            <a:off x="2347938" y="540000"/>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7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53" name="Google Shape;253;p23"/>
          <p:cNvSpPr txBox="1">
            <a:spLocks noGrp="1"/>
          </p:cNvSpPr>
          <p:nvPr>
            <p:ph type="subTitle" idx="1"/>
          </p:nvPr>
        </p:nvSpPr>
        <p:spPr>
          <a:xfrm>
            <a:off x="2347900" y="1717825"/>
            <a:ext cx="4448100" cy="12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54" name="Google Shape;254;p23"/>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lang="en" sz="1200" b="1" u="sng">
                <a:solidFill>
                  <a:schemeClr val="dk1"/>
                </a:solidFill>
                <a:latin typeface="Mulish"/>
                <a:ea typeface="Mulish"/>
                <a:cs typeface="Mulish"/>
                <a:sym typeface="Mulish"/>
                <a:hlinkClick r:id="rId2">
                  <a:extLst>
                    <a:ext uri="{A12FA001-AC4F-418D-AE19-62706E023703}">
                      <ahyp:hlinkClr xmlns:ahyp="http://schemas.microsoft.com/office/drawing/2018/hyperlinkcolor" val="tx"/>
                    </a:ext>
                  </a:extLst>
                </a:hlinkClick>
              </a:rPr>
              <a:t>Slidesgo</a:t>
            </a:r>
            <a:r>
              <a:rPr lang="en" sz="1200" b="1">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lang="en" sz="1200" b="1">
                <a:solidFill>
                  <a:schemeClr val="dk1"/>
                </a:solidFill>
                <a:latin typeface="Mulish"/>
                <a:ea typeface="Mulish"/>
                <a:cs typeface="Mulish"/>
                <a:sym typeface="Mulish"/>
              </a:rPr>
              <a:t> </a:t>
            </a:r>
            <a:r>
              <a:rPr lang="en" sz="1200" b="1" u="sng">
                <a:solidFill>
                  <a:schemeClr val="dk1"/>
                </a:solidFill>
                <a:latin typeface="Mulish"/>
                <a:ea typeface="Mulish"/>
                <a:cs typeface="Mulish"/>
                <a:sym typeface="Mulish"/>
                <a:hlinkClick r:id="rId3">
                  <a:extLst>
                    <a:ext uri="{A12FA001-AC4F-418D-AE19-62706E023703}">
                      <ahyp:hlinkClr xmlns:ahyp="http://schemas.microsoft.com/office/drawing/2018/hyperlinkcolor" val="tx"/>
                    </a:ext>
                  </a:extLst>
                </a:hlinkClick>
              </a:rPr>
              <a:t>Flaticon</a:t>
            </a:r>
            <a:r>
              <a:rPr lang="en" sz="1200" b="1">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lang="en" sz="1200" b="1" u="sng">
                <a:solidFill>
                  <a:schemeClr val="dk1"/>
                </a:solidFill>
                <a:latin typeface="Mulish"/>
                <a:ea typeface="Mulish"/>
                <a:cs typeface="Mulish"/>
                <a:sym typeface="Mulish"/>
                <a:hlinkClick r:id="rId4">
                  <a:extLst>
                    <a:ext uri="{A12FA001-AC4F-418D-AE19-62706E023703}">
                      <ahyp:hlinkClr xmlns:ahyp="http://schemas.microsoft.com/office/drawing/2018/hyperlinkcolor" val="tx"/>
                    </a:ext>
                  </a:extLst>
                </a:hlinkClick>
              </a:rPr>
              <a:t>Freepik</a:t>
            </a:r>
            <a:r>
              <a:rPr lang="en" sz="1200" b="1" u="sng">
                <a:solidFill>
                  <a:schemeClr val="dk1"/>
                </a:solidFill>
                <a:latin typeface="Mulish"/>
                <a:ea typeface="Mulish"/>
                <a:cs typeface="Mulish"/>
                <a:sym typeface="Mulish"/>
              </a:rPr>
              <a:t> </a:t>
            </a:r>
            <a:endParaRPr sz="1200" b="1" u="sng">
              <a:solidFill>
                <a:schemeClr val="dk1"/>
              </a:solidFill>
              <a:latin typeface="Mulish"/>
              <a:ea typeface="Mulish"/>
              <a:cs typeface="Mulish"/>
              <a:sym typeface="Mulish"/>
            </a:endParaRPr>
          </a:p>
        </p:txBody>
      </p:sp>
      <p:cxnSp>
        <p:nvCxnSpPr>
          <p:cNvPr id="255" name="Google Shape;255;p2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56" name="Google Shape;256;p2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7" name="Google Shape;257;p2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58" name="Google Shape;258;p23"/>
          <p:cNvCxnSpPr/>
          <p:nvPr/>
        </p:nvCxnSpPr>
        <p:spPr>
          <a:xfrm rot="10800000" flipH="1">
            <a:off x="347659" y="4749851"/>
            <a:ext cx="8448600" cy="330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59"/>
        <p:cNvGrpSpPr/>
        <p:nvPr/>
      </p:nvGrpSpPr>
      <p:grpSpPr>
        <a:xfrm>
          <a:off x="0" y="0"/>
          <a:ext cx="0" cy="0"/>
          <a:chOff x="0" y="0"/>
          <a:chExt cx="0" cy="0"/>
        </a:xfrm>
      </p:grpSpPr>
      <p:sp>
        <p:nvSpPr>
          <p:cNvPr id="260" name="Google Shape;260;p2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cxnSp>
        <p:nvCxnSpPr>
          <p:cNvPr id="262" name="Google Shape;262;p2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63" name="Google Shape;263;p2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4" name="Google Shape;264;p2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65" name="Google Shape;265;p2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66" name="Google Shape;266;p24"/>
          <p:cNvSpPr txBox="1">
            <a:spLocks noGrp="1"/>
          </p:cNvSpPr>
          <p:nvPr>
            <p:ph type="sldNum" idx="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lt1"/>
                </a:solidFill>
              </a:defRPr>
            </a:lvl1pPr>
            <a:lvl2pPr lvl="1" algn="ctr" rtl="0">
              <a:buNone/>
              <a:defRPr>
                <a:solidFill>
                  <a:schemeClr val="lt1"/>
                </a:solidFill>
              </a:defRPr>
            </a:lvl2pPr>
            <a:lvl3pPr lvl="2" algn="ctr" rtl="0">
              <a:buNone/>
              <a:defRPr>
                <a:solidFill>
                  <a:schemeClr val="lt1"/>
                </a:solidFill>
              </a:defRPr>
            </a:lvl3pPr>
            <a:lvl4pPr lvl="3" algn="ctr" rtl="0">
              <a:buNone/>
              <a:defRPr>
                <a:solidFill>
                  <a:schemeClr val="lt1"/>
                </a:solidFill>
              </a:defRPr>
            </a:lvl4pPr>
            <a:lvl5pPr lvl="4" algn="ctr" rtl="0">
              <a:buNone/>
              <a:defRPr>
                <a:solidFill>
                  <a:schemeClr val="lt1"/>
                </a:solidFill>
              </a:defRPr>
            </a:lvl5pPr>
            <a:lvl6pPr lvl="5" algn="ctr" rtl="0">
              <a:buNone/>
              <a:defRPr>
                <a:solidFill>
                  <a:schemeClr val="lt1"/>
                </a:solidFill>
              </a:defRPr>
            </a:lvl6pPr>
            <a:lvl7pPr lvl="6" algn="ctr" rtl="0">
              <a:buNone/>
              <a:defRPr>
                <a:solidFill>
                  <a:schemeClr val="lt1"/>
                </a:solidFill>
              </a:defRPr>
            </a:lvl7pPr>
            <a:lvl8pPr lvl="7" algn="ctr" rtl="0">
              <a:buNone/>
              <a:defRPr>
                <a:solidFill>
                  <a:schemeClr val="lt1"/>
                </a:solidFill>
              </a:defRPr>
            </a:lvl8pPr>
            <a:lvl9pPr lvl="8" algn="ctr" rtl="0">
              <a:buNone/>
              <a:defRPr>
                <a:solidFill>
                  <a:schemeClr val="lt1"/>
                </a:solidFill>
              </a:defRPr>
            </a:lvl9pPr>
          </a:lstStyle>
          <a:p>
            <a:pPr marL="0" lvl="0" indent="0" algn="ctr" rtl="0">
              <a:spcBef>
                <a:spcPts val="0"/>
              </a:spcBef>
              <a:spcAft>
                <a:spcPts val="0"/>
              </a:spcAft>
              <a:buNone/>
            </a:pPr>
            <a:fld id="{00000000-1234-1234-1234-123412341234}" type="slidenum">
              <a:rPr lang="en"/>
              <a:t>‹Nº›</a:t>
            </a:fld>
            <a:endParaRPr/>
          </a:p>
        </p:txBody>
      </p:sp>
      <p:cxnSp>
        <p:nvCxnSpPr>
          <p:cNvPr id="267" name="Google Shape;267;p2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68"/>
        <p:cNvGrpSpPr/>
        <p:nvPr/>
      </p:nvGrpSpPr>
      <p:grpSpPr>
        <a:xfrm>
          <a:off x="0" y="0"/>
          <a:ext cx="0" cy="0"/>
          <a:chOff x="0" y="0"/>
          <a:chExt cx="0" cy="0"/>
        </a:xfrm>
      </p:grpSpPr>
      <p:sp>
        <p:nvSpPr>
          <p:cNvPr id="269" name="Google Shape;26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
        <p:nvSpPr>
          <p:cNvPr id="270" name="Google Shape;270;p25"/>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1" name="Google Shape;271;p25"/>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72" name="Google Shape;272;p25"/>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3" name="Google Shape;273;p25"/>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74" name="Google Shape;274;p25"/>
          <p:cNvCxnSpPr/>
          <p:nvPr/>
        </p:nvCxnSpPr>
        <p:spPr>
          <a:xfrm rot="10800000" flipH="1">
            <a:off x="347659" y="4749851"/>
            <a:ext cx="8448600" cy="330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1pPr>
            <a:lvl2pPr lvl="1"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2pPr>
            <a:lvl3pPr lvl="2"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3pPr>
            <a:lvl4pPr lvl="3"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4pPr>
            <a:lvl5pPr lvl="4"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5pPr>
            <a:lvl6pPr lvl="5"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6pPr>
            <a:lvl7pPr lvl="6"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7pPr>
            <a:lvl8pPr lvl="7"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8pPr>
            <a:lvl9pPr lvl="8"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5" r:id="rId4"/>
    <p:sldLayoutId id="2147483658" r:id="rId5"/>
    <p:sldLayoutId id="2147483660" r:id="rId6"/>
    <p:sldLayoutId id="2147483661" r:id="rId7"/>
    <p:sldLayoutId id="2147483664" r:id="rId8"/>
    <p:sldLayoutId id="2147483665" r:id="rId9"/>
    <p:sldLayoutId id="2147483666" r:id="rId10"/>
    <p:sldLayoutId id="2147483667" r:id="rId11"/>
    <p:sldLayoutId id="2147483669" r:id="rId12"/>
    <p:sldLayoutId id="2147483670" r:id="rId13"/>
    <p:sldLayoutId id="214748367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29"/>
          <p:cNvSpPr txBox="1">
            <a:spLocks noGrp="1"/>
          </p:cNvSpPr>
          <p:nvPr>
            <p:ph type="ctrTitle"/>
          </p:nvPr>
        </p:nvSpPr>
        <p:spPr>
          <a:xfrm>
            <a:off x="150559" y="945575"/>
            <a:ext cx="8859982" cy="207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t>Evaluación de Propensity Scores en estudios observacionales</a:t>
            </a:r>
            <a:r>
              <a:rPr lang="en" sz="4000" dirty="0"/>
              <a:t> </a:t>
            </a:r>
            <a:br>
              <a:rPr lang="en" sz="4000" dirty="0"/>
            </a:br>
            <a:endParaRPr sz="2000" dirty="0">
              <a:solidFill>
                <a:schemeClr val="dk2"/>
              </a:solidFill>
            </a:endParaRPr>
          </a:p>
        </p:txBody>
      </p:sp>
      <p:sp>
        <p:nvSpPr>
          <p:cNvPr id="286" name="Google Shape;286;p29"/>
          <p:cNvSpPr txBox="1">
            <a:spLocks noGrp="1"/>
          </p:cNvSpPr>
          <p:nvPr>
            <p:ph type="subTitle" idx="1"/>
          </p:nvPr>
        </p:nvSpPr>
        <p:spPr>
          <a:xfrm>
            <a:off x="1609200" y="3573775"/>
            <a:ext cx="59427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i="1" dirty="0"/>
              <a:t>Adrián Martínez Requena</a:t>
            </a:r>
          </a:p>
          <a:p>
            <a:pPr marL="0" lvl="0" indent="0" algn="ctr" rtl="0">
              <a:spcBef>
                <a:spcPts val="0"/>
              </a:spcBef>
              <a:spcAft>
                <a:spcPts val="0"/>
              </a:spcAft>
              <a:buNone/>
            </a:pPr>
            <a:r>
              <a:rPr lang="en" i="1" dirty="0"/>
              <a:t>Directora: Susana Pérez Álvarez</a:t>
            </a:r>
          </a:p>
          <a:p>
            <a:pPr marL="0" lvl="0" indent="0" algn="ctr" rtl="0">
              <a:spcBef>
                <a:spcPts val="0"/>
              </a:spcBef>
              <a:spcAft>
                <a:spcPts val="0"/>
              </a:spcAft>
              <a:buNone/>
            </a:pPr>
            <a:endParaRPr dirty="0"/>
          </a:p>
        </p:txBody>
      </p:sp>
      <p:cxnSp>
        <p:nvCxnSpPr>
          <p:cNvPr id="287" name="Google Shape;287;p29"/>
          <p:cNvCxnSpPr/>
          <p:nvPr/>
        </p:nvCxnSpPr>
        <p:spPr>
          <a:xfrm rot="10800000" flipH="1">
            <a:off x="1600600" y="2398540"/>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288" name="Google Shape;288;p29"/>
          <p:cNvCxnSpPr/>
          <p:nvPr/>
        </p:nvCxnSpPr>
        <p:spPr>
          <a:xfrm rot="10800000" flipH="1">
            <a:off x="1600600" y="1411011"/>
            <a:ext cx="5942700" cy="6600"/>
          </a:xfrm>
          <a:prstGeom prst="straightConnector1">
            <a:avLst/>
          </a:prstGeom>
          <a:noFill/>
          <a:ln w="19050" cap="flat" cmpd="sng">
            <a:solidFill>
              <a:schemeClr val="lt1"/>
            </a:solidFill>
            <a:prstDash val="solid"/>
            <a:round/>
            <a:headEnd type="oval" w="med" len="med"/>
            <a:tailEnd type="oval" w="med" len="med"/>
          </a:ln>
        </p:spPr>
      </p:cxnSp>
      <p:sp>
        <p:nvSpPr>
          <p:cNvPr id="289" name="Google Shape;289;p29"/>
          <p:cNvSpPr/>
          <p:nvPr/>
        </p:nvSpPr>
        <p:spPr>
          <a:xfrm>
            <a:off x="552462" y="174582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a:off x="8292236" y="174582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CuadroTexto 1">
            <a:extLst>
              <a:ext uri="{FF2B5EF4-FFF2-40B4-BE49-F238E27FC236}">
                <a16:creationId xmlns:a16="http://schemas.microsoft.com/office/drawing/2014/main" id="{F4E00790-2D8B-5CA1-EB21-BE1449043A73}"/>
              </a:ext>
            </a:extLst>
          </p:cNvPr>
          <p:cNvSpPr txBox="1"/>
          <p:nvPr/>
        </p:nvSpPr>
        <p:spPr>
          <a:xfrm>
            <a:off x="552463" y="2514953"/>
            <a:ext cx="7979174" cy="707886"/>
          </a:xfrm>
          <a:prstGeom prst="rect">
            <a:avLst/>
          </a:prstGeom>
          <a:noFill/>
        </p:spPr>
        <p:txBody>
          <a:bodyPr wrap="square" rtlCol="0">
            <a:spAutoFit/>
          </a:bodyPr>
          <a:lstStyle/>
          <a:p>
            <a:pPr algn="ctr"/>
            <a:r>
              <a:rPr lang="es-ES" sz="2000" dirty="0">
                <a:solidFill>
                  <a:schemeClr val="dk2"/>
                </a:solidFill>
                <a:latin typeface="Quicksand" panose="020B0604020202020204" charset="0"/>
              </a:rPr>
              <a:t>simulación de datos y sesgo de género en la adherencia a tratamiento</a:t>
            </a:r>
            <a:endParaRPr lang="es-ES" sz="2000" dirty="0">
              <a:latin typeface="Quicksand" panose="020B0604020202020204" charset="0"/>
            </a:endParaRPr>
          </a:p>
        </p:txBody>
      </p:sp>
      <p:pic>
        <p:nvPicPr>
          <p:cNvPr id="4" name="Imagen 3" descr="Texto&#10;&#10;Descripción generada automáticamente con confianza baja">
            <a:extLst>
              <a:ext uri="{FF2B5EF4-FFF2-40B4-BE49-F238E27FC236}">
                <a16:creationId xmlns:a16="http://schemas.microsoft.com/office/drawing/2014/main" id="{7BA9C1CE-7CB9-0F81-F073-1F7D6CB3537D}"/>
              </a:ext>
            </a:extLst>
          </p:cNvPr>
          <p:cNvPicPr>
            <a:picLocks noChangeAspect="1"/>
          </p:cNvPicPr>
          <p:nvPr/>
        </p:nvPicPr>
        <p:blipFill>
          <a:blip r:embed="rId3"/>
          <a:stretch>
            <a:fillRect/>
          </a:stretch>
        </p:blipFill>
        <p:spPr>
          <a:xfrm>
            <a:off x="672163" y="303081"/>
            <a:ext cx="2923092" cy="754887"/>
          </a:xfrm>
          <a:prstGeom prst="rect">
            <a:avLst/>
          </a:prstGeom>
        </p:spPr>
      </p:pic>
      <p:sp>
        <p:nvSpPr>
          <p:cNvPr id="6" name="CuadroTexto 5">
            <a:extLst>
              <a:ext uri="{FF2B5EF4-FFF2-40B4-BE49-F238E27FC236}">
                <a16:creationId xmlns:a16="http://schemas.microsoft.com/office/drawing/2014/main" id="{DD9CB1A6-7217-612F-2658-B60FDBF134BE}"/>
              </a:ext>
            </a:extLst>
          </p:cNvPr>
          <p:cNvSpPr txBox="1"/>
          <p:nvPr/>
        </p:nvSpPr>
        <p:spPr>
          <a:xfrm>
            <a:off x="5855788" y="527730"/>
            <a:ext cx="4572000" cy="261610"/>
          </a:xfrm>
          <a:prstGeom prst="rect">
            <a:avLst/>
          </a:prstGeom>
          <a:noFill/>
        </p:spPr>
        <p:txBody>
          <a:bodyPr wrap="square">
            <a:spAutoFit/>
          </a:bodyPr>
          <a:lstStyle/>
          <a:p>
            <a:pPr marL="0" indent="0"/>
            <a:r>
              <a:rPr lang="es-ES" sz="1100" b="1" dirty="0">
                <a:solidFill>
                  <a:schemeClr val="bg1">
                    <a:lumMod val="50000"/>
                  </a:schemeClr>
                </a:solidFill>
                <a:effectLst/>
                <a:latin typeface="Consolas" panose="020B0609020204030204" pitchFamily="49" charset="0"/>
              </a:rPr>
              <a:t>Estudios Clínicos y Epidemiológicos</a:t>
            </a:r>
          </a:p>
        </p:txBody>
      </p:sp>
      <p:sp>
        <p:nvSpPr>
          <p:cNvPr id="8" name="CuadroTexto 7">
            <a:extLst>
              <a:ext uri="{FF2B5EF4-FFF2-40B4-BE49-F238E27FC236}">
                <a16:creationId xmlns:a16="http://schemas.microsoft.com/office/drawing/2014/main" id="{2B9CB93C-F8CC-E913-B0A0-D3ECB9F3F071}"/>
              </a:ext>
            </a:extLst>
          </p:cNvPr>
          <p:cNvSpPr txBox="1"/>
          <p:nvPr/>
        </p:nvSpPr>
        <p:spPr>
          <a:xfrm>
            <a:off x="5548747" y="784816"/>
            <a:ext cx="4710544" cy="273152"/>
          </a:xfrm>
          <a:prstGeom prst="rect">
            <a:avLst/>
          </a:prstGeom>
          <a:noFill/>
        </p:spPr>
        <p:txBody>
          <a:bodyPr wrap="square">
            <a:spAutoFit/>
          </a:bodyPr>
          <a:lstStyle/>
          <a:p>
            <a:pPr>
              <a:lnSpc>
                <a:spcPts val="1425"/>
              </a:lnSpc>
            </a:pPr>
            <a:r>
              <a:rPr lang="es-ES" sz="1100" b="1" dirty="0">
                <a:solidFill>
                  <a:schemeClr val="bg1">
                    <a:lumMod val="50000"/>
                  </a:schemeClr>
                </a:solidFill>
                <a:effectLst/>
                <a:latin typeface="Consolas" panose="020B0609020204030204" pitchFamily="49" charset="0"/>
              </a:rPr>
              <a:t>Máster en Bioinformática y bioestadística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3579950" y="1854500"/>
            <a:ext cx="3604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Estado del Arte</a:t>
            </a:r>
            <a:endParaRPr sz="4000" dirty="0"/>
          </a:p>
        </p:txBody>
      </p:sp>
      <p:sp>
        <p:nvSpPr>
          <p:cNvPr id="330" name="Google Shape;330;p32"/>
          <p:cNvSpPr txBox="1">
            <a:spLocks noGrp="1"/>
          </p:cNvSpPr>
          <p:nvPr>
            <p:ph type="subTitle" idx="1"/>
          </p:nvPr>
        </p:nvSpPr>
        <p:spPr>
          <a:xfrm>
            <a:off x="1959250" y="2939075"/>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Estudios Observacionales y Propensity Scores</a:t>
            </a:r>
            <a:endParaRPr dirty="0"/>
          </a:p>
        </p:txBody>
      </p:sp>
      <p:sp>
        <p:nvSpPr>
          <p:cNvPr id="331" name="Google Shape;331;p32"/>
          <p:cNvSpPr txBox="1">
            <a:spLocks noGrp="1"/>
          </p:cNvSpPr>
          <p:nvPr>
            <p:ph type="title" idx="2"/>
          </p:nvPr>
        </p:nvSpPr>
        <p:spPr>
          <a:xfrm>
            <a:off x="1959250" y="1854500"/>
            <a:ext cx="1189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32" name="Google Shape;332;p3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a:t>
            </a:fld>
            <a:endParaRPr/>
          </a:p>
        </p:txBody>
      </p:sp>
      <p:cxnSp>
        <p:nvCxnSpPr>
          <p:cNvPr id="333" name="Google Shape;333;p32"/>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p:cNvSpPr/>
          <p:nvPr/>
        </p:nvSpPr>
        <p:spPr>
          <a:xfrm>
            <a:off x="32448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¿Qué son los estudios Observacionales?</a:t>
            </a:r>
            <a:endParaRPr dirty="0"/>
          </a:p>
        </p:txBody>
      </p:sp>
      <p:sp>
        <p:nvSpPr>
          <p:cNvPr id="342" name="Google Shape;342;p33"/>
          <p:cNvSpPr txBox="1">
            <a:spLocks noGrp="1"/>
          </p:cNvSpPr>
          <p:nvPr>
            <p:ph type="subTitle" idx="1"/>
          </p:nvPr>
        </p:nvSpPr>
        <p:spPr>
          <a:xfrm>
            <a:off x="720025" y="1610942"/>
            <a:ext cx="7704000" cy="53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Mayor validez externa al reflejar situaciones reales sin intervención del investigador.</a:t>
            </a:r>
            <a:endParaRPr dirty="0"/>
          </a:p>
        </p:txBody>
      </p:sp>
      <p:sp>
        <p:nvSpPr>
          <p:cNvPr id="343" name="Google Shape;343;p33"/>
          <p:cNvSpPr txBox="1">
            <a:spLocks noGrp="1"/>
          </p:cNvSpPr>
          <p:nvPr>
            <p:ph type="subTitle" idx="2"/>
          </p:nvPr>
        </p:nvSpPr>
        <p:spPr>
          <a:xfrm>
            <a:off x="720025" y="2731125"/>
            <a:ext cx="77040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Imposibilidad de establecer relaciones causales debido a la presencia de variables </a:t>
            </a:r>
            <a:r>
              <a:rPr lang="es-ES" dirty="0" err="1"/>
              <a:t>confusoras</a:t>
            </a:r>
            <a:r>
              <a:rPr lang="es-ES" dirty="0"/>
              <a:t>.</a:t>
            </a:r>
            <a:endParaRPr dirty="0"/>
          </a:p>
        </p:txBody>
      </p:sp>
      <p:sp>
        <p:nvSpPr>
          <p:cNvPr id="344" name="Google Shape;344;p33"/>
          <p:cNvSpPr txBox="1">
            <a:spLocks noGrp="1"/>
          </p:cNvSpPr>
          <p:nvPr>
            <p:ph type="subTitle" idx="3"/>
          </p:nvPr>
        </p:nvSpPr>
        <p:spPr>
          <a:xfrm>
            <a:off x="720025" y="3851625"/>
            <a:ext cx="77040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Necesidad de métodos estadísticos avanzados para mejorar la validez interna</a:t>
            </a:r>
            <a:endParaRPr dirty="0"/>
          </a:p>
        </p:txBody>
      </p:sp>
      <p:sp>
        <p:nvSpPr>
          <p:cNvPr id="345" name="Google Shape;345;p33"/>
          <p:cNvSpPr txBox="1">
            <a:spLocks noGrp="1"/>
          </p:cNvSpPr>
          <p:nvPr>
            <p:ph type="subTitle" idx="4"/>
          </p:nvPr>
        </p:nvSpPr>
        <p:spPr>
          <a:xfrm>
            <a:off x="720025" y="1241274"/>
            <a:ext cx="77040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Ventajas</a:t>
            </a:r>
            <a:endParaRPr dirty="0"/>
          </a:p>
        </p:txBody>
      </p:sp>
      <p:sp>
        <p:nvSpPr>
          <p:cNvPr id="346" name="Google Shape;346;p33"/>
          <p:cNvSpPr txBox="1">
            <a:spLocks noGrp="1"/>
          </p:cNvSpPr>
          <p:nvPr>
            <p:ph type="subTitle" idx="5"/>
          </p:nvPr>
        </p:nvSpPr>
        <p:spPr>
          <a:xfrm>
            <a:off x="720025" y="2350125"/>
            <a:ext cx="77040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Desventajas</a:t>
            </a:r>
            <a:endParaRPr dirty="0"/>
          </a:p>
        </p:txBody>
      </p:sp>
      <p:sp>
        <p:nvSpPr>
          <p:cNvPr id="347" name="Google Shape;347;p33"/>
          <p:cNvSpPr txBox="1">
            <a:spLocks noGrp="1"/>
          </p:cNvSpPr>
          <p:nvPr>
            <p:ph type="subTitle" idx="6"/>
          </p:nvPr>
        </p:nvSpPr>
        <p:spPr>
          <a:xfrm>
            <a:off x="720025" y="3470625"/>
            <a:ext cx="77040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Limitaciones</a:t>
            </a:r>
            <a:endParaRPr dirty="0"/>
          </a:p>
        </p:txBody>
      </p:sp>
      <p:sp>
        <p:nvSpPr>
          <p:cNvPr id="348" name="Google Shape;348;p3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4"/>
          <p:cNvSpPr txBox="1">
            <a:spLocks noGrp="1"/>
          </p:cNvSpPr>
          <p:nvPr>
            <p:ph type="subTitle" idx="1"/>
          </p:nvPr>
        </p:nvSpPr>
        <p:spPr>
          <a:xfrm>
            <a:off x="-13649" y="529626"/>
            <a:ext cx="4269446" cy="147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t>“¿Cómo se pueden superar estas limitaciones?</a:t>
            </a:r>
            <a:endParaRPr sz="2000" dirty="0"/>
          </a:p>
        </p:txBody>
      </p:sp>
      <p:sp>
        <p:nvSpPr>
          <p:cNvPr id="354" name="Google Shape;354;p34"/>
          <p:cNvSpPr txBox="1">
            <a:spLocks noGrp="1"/>
          </p:cNvSpPr>
          <p:nvPr>
            <p:ph type="title"/>
          </p:nvPr>
        </p:nvSpPr>
        <p:spPr>
          <a:xfrm>
            <a:off x="3685804" y="1002876"/>
            <a:ext cx="7204200" cy="5319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t>Propensity Scores (PS)</a:t>
            </a:r>
            <a:endParaRPr sz="2000" dirty="0"/>
          </a:p>
        </p:txBody>
      </p:sp>
      <p:sp>
        <p:nvSpPr>
          <p:cNvPr id="355" name="Google Shape;355;p3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a:t>
            </a:fld>
            <a:endParaRPr/>
          </a:p>
        </p:txBody>
      </p:sp>
      <p:cxnSp>
        <p:nvCxnSpPr>
          <p:cNvPr id="7" name="Conector recto de flecha 6">
            <a:extLst>
              <a:ext uri="{FF2B5EF4-FFF2-40B4-BE49-F238E27FC236}">
                <a16:creationId xmlns:a16="http://schemas.microsoft.com/office/drawing/2014/main" id="{0E563088-73D2-7C61-9C06-9E6247E8C84A}"/>
              </a:ext>
            </a:extLst>
          </p:cNvPr>
          <p:cNvCxnSpPr/>
          <p:nvPr/>
        </p:nvCxnSpPr>
        <p:spPr>
          <a:xfrm>
            <a:off x="4346812" y="1268826"/>
            <a:ext cx="1030406"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9" name="Imagen 8" descr="Interfaz de usuario gráfica, Texto, Aplicación&#10;&#10;Descripción generada automáticamente">
            <a:extLst>
              <a:ext uri="{FF2B5EF4-FFF2-40B4-BE49-F238E27FC236}">
                <a16:creationId xmlns:a16="http://schemas.microsoft.com/office/drawing/2014/main" id="{413EB075-57B8-B0F3-67B4-FE5ACB4071BC}"/>
              </a:ext>
            </a:extLst>
          </p:cNvPr>
          <p:cNvPicPr>
            <a:picLocks noChangeAspect="1"/>
          </p:cNvPicPr>
          <p:nvPr/>
        </p:nvPicPr>
        <p:blipFill>
          <a:blip r:embed="rId3"/>
          <a:stretch>
            <a:fillRect/>
          </a:stretch>
        </p:blipFill>
        <p:spPr>
          <a:xfrm>
            <a:off x="2047164" y="1818985"/>
            <a:ext cx="5240740" cy="2632980"/>
          </a:xfrm>
          <a:prstGeom prst="rect">
            <a:avLst/>
          </a:prstGeom>
        </p:spPr>
      </p:pic>
      <p:sp>
        <p:nvSpPr>
          <p:cNvPr id="10" name="CuadroTexto 9">
            <a:extLst>
              <a:ext uri="{FF2B5EF4-FFF2-40B4-BE49-F238E27FC236}">
                <a16:creationId xmlns:a16="http://schemas.microsoft.com/office/drawing/2014/main" id="{E14E7B3C-EA58-4986-36D6-D2FFD674FFC9}"/>
              </a:ext>
            </a:extLst>
          </p:cNvPr>
          <p:cNvSpPr txBox="1"/>
          <p:nvPr/>
        </p:nvSpPr>
        <p:spPr>
          <a:xfrm>
            <a:off x="2643639" y="4451965"/>
            <a:ext cx="3856722" cy="200055"/>
          </a:xfrm>
          <a:prstGeom prst="rect">
            <a:avLst/>
          </a:prstGeom>
          <a:noFill/>
        </p:spPr>
        <p:txBody>
          <a:bodyPr wrap="square" rtlCol="0">
            <a:spAutoFit/>
          </a:bodyPr>
          <a:lstStyle/>
          <a:p>
            <a:r>
              <a:rPr lang="es-ES" sz="700" b="1" dirty="0">
                <a:latin typeface="Mulish" panose="020B0604020202020204" charset="0"/>
              </a:rPr>
              <a:t>Fuente:</a:t>
            </a:r>
            <a:r>
              <a:rPr lang="es-ES" sz="700" dirty="0">
                <a:latin typeface="Mulish" panose="020B0604020202020204" charset="0"/>
              </a:rPr>
              <a:t> Shaw </a:t>
            </a:r>
            <a:r>
              <a:rPr lang="es-ES" sz="700" dirty="0" err="1">
                <a:latin typeface="Mulish" panose="020B0604020202020204" charset="0"/>
              </a:rPr>
              <a:t>Talebi</a:t>
            </a:r>
            <a:r>
              <a:rPr lang="es-ES" sz="700" dirty="0">
                <a:latin typeface="Mulish" panose="020B0604020202020204" charset="0"/>
              </a:rPr>
              <a:t>, "Causal </a:t>
            </a:r>
            <a:r>
              <a:rPr lang="es-ES" sz="700" dirty="0" err="1">
                <a:latin typeface="Mulish" panose="020B0604020202020204" charset="0"/>
              </a:rPr>
              <a:t>Effects</a:t>
            </a:r>
            <a:r>
              <a:rPr lang="es-ES" sz="700" dirty="0">
                <a:latin typeface="Mulish" panose="020B0604020202020204" charset="0"/>
              </a:rPr>
              <a:t> </a:t>
            </a:r>
            <a:r>
              <a:rPr lang="es-ES" sz="700" dirty="0" err="1">
                <a:latin typeface="Mulish" panose="020B0604020202020204" charset="0"/>
              </a:rPr>
              <a:t>via</a:t>
            </a:r>
            <a:r>
              <a:rPr lang="es-ES" sz="700" dirty="0">
                <a:latin typeface="Mulish" panose="020B0604020202020204" charset="0"/>
              </a:rPr>
              <a:t> </a:t>
            </a:r>
            <a:r>
              <a:rPr lang="es-ES" sz="700" dirty="0" err="1">
                <a:latin typeface="Mulish" panose="020B0604020202020204" charset="0"/>
              </a:rPr>
              <a:t>Propensity</a:t>
            </a:r>
            <a:r>
              <a:rPr lang="es-ES" sz="700" dirty="0">
                <a:latin typeface="Mulish" panose="020B0604020202020204" charset="0"/>
              </a:rPr>
              <a:t> Scores | </a:t>
            </a:r>
            <a:r>
              <a:rPr lang="es-ES" sz="700" dirty="0" err="1">
                <a:latin typeface="Mulish" panose="020B0604020202020204" charset="0"/>
              </a:rPr>
              <a:t>Introduction</a:t>
            </a:r>
            <a:r>
              <a:rPr lang="es-ES" sz="700" dirty="0">
                <a:latin typeface="Mulish" panose="020B0604020202020204" charset="0"/>
              </a:rPr>
              <a:t> &amp; Python </a:t>
            </a:r>
            <a:r>
              <a:rPr lang="es-ES" sz="700" dirty="0" err="1">
                <a:latin typeface="Mulish" panose="020B0604020202020204" charset="0"/>
              </a:rPr>
              <a:t>Code</a:t>
            </a:r>
            <a:r>
              <a:rPr lang="es-ES" sz="700" dirty="0">
                <a:latin typeface="Mulish" panose="020B0604020202020204"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1" name="Google Shape;381;p37"/>
          <p:cNvSpPr txBox="1">
            <a:spLocks noGrp="1"/>
          </p:cNvSpPr>
          <p:nvPr>
            <p:ph type="title"/>
          </p:nvPr>
        </p:nvSpPr>
        <p:spPr>
          <a:xfrm>
            <a:off x="901650" y="-587910"/>
            <a:ext cx="3944700" cy="160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ES" dirty="0">
                <a:solidFill>
                  <a:schemeClr val="bg2"/>
                </a:solidFill>
              </a:rPr>
              <a:t>PS: </a:t>
            </a:r>
            <a:r>
              <a:rPr lang="es-ES" dirty="0" err="1">
                <a:solidFill>
                  <a:schemeClr val="bg2"/>
                </a:solidFill>
              </a:rPr>
              <a:t>Matching</a:t>
            </a:r>
            <a:endParaRPr dirty="0">
              <a:solidFill>
                <a:schemeClr val="bg2"/>
              </a:solidFill>
            </a:endParaRPr>
          </a:p>
        </p:txBody>
      </p:sp>
      <p:sp>
        <p:nvSpPr>
          <p:cNvPr id="382" name="Google Shape;382;p37"/>
          <p:cNvSpPr txBox="1">
            <a:spLocks noGrp="1"/>
          </p:cNvSpPr>
          <p:nvPr>
            <p:ph type="subTitle" idx="1"/>
          </p:nvPr>
        </p:nvSpPr>
        <p:spPr>
          <a:xfrm>
            <a:off x="478577" y="1524489"/>
            <a:ext cx="3944700" cy="1116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ES" b="1" dirty="0"/>
              <a:t>Emparejamiento: </a:t>
            </a:r>
            <a:r>
              <a:rPr lang="es-ES" dirty="0"/>
              <a:t>Grupos similares basados en características observadas.</a:t>
            </a:r>
          </a:p>
          <a:p>
            <a:pPr marL="285750" lvl="0" indent="-285750" algn="l" rtl="0">
              <a:spcBef>
                <a:spcPts val="0"/>
              </a:spcBef>
              <a:spcAft>
                <a:spcPts val="1600"/>
              </a:spcAft>
              <a:buFont typeface="Arial" panose="020B0604020202020204" pitchFamily="34" charset="0"/>
              <a:buChar char="•"/>
            </a:pPr>
            <a:r>
              <a:rPr lang="es-ES" b="1" dirty="0"/>
              <a:t>Ventaja: </a:t>
            </a:r>
            <a:r>
              <a:rPr lang="es-ES" dirty="0"/>
              <a:t>Reducción del sesgo.</a:t>
            </a:r>
          </a:p>
          <a:p>
            <a:pPr marL="285750" lvl="0" indent="-285750" algn="l" rtl="0">
              <a:spcBef>
                <a:spcPts val="0"/>
              </a:spcBef>
              <a:spcAft>
                <a:spcPts val="1600"/>
              </a:spcAft>
              <a:buFont typeface="Arial" panose="020B0604020202020204" pitchFamily="34" charset="0"/>
              <a:buChar char="•"/>
            </a:pPr>
            <a:r>
              <a:rPr lang="es-ES" b="1" dirty="0"/>
              <a:t>Desventaja: </a:t>
            </a:r>
            <a:r>
              <a:rPr lang="es-ES" dirty="0"/>
              <a:t>Exclusión de individuos no emparejados.</a:t>
            </a:r>
          </a:p>
        </p:txBody>
      </p:sp>
      <p:sp>
        <p:nvSpPr>
          <p:cNvPr id="383" name="Google Shape;383;p37"/>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5</a:t>
            </a:fld>
            <a:endParaRPr/>
          </a:p>
        </p:txBody>
      </p:sp>
      <p:pic>
        <p:nvPicPr>
          <p:cNvPr id="5" name="Imagen 4" descr="Una calculadora científica&#10;&#10;Descripción generada automáticamente con confianza media">
            <a:extLst>
              <a:ext uri="{FF2B5EF4-FFF2-40B4-BE49-F238E27FC236}">
                <a16:creationId xmlns:a16="http://schemas.microsoft.com/office/drawing/2014/main" id="{C023496F-66A4-B915-AAFF-B3CA8B0F5D87}"/>
              </a:ext>
            </a:extLst>
          </p:cNvPr>
          <p:cNvPicPr>
            <a:picLocks noChangeAspect="1"/>
          </p:cNvPicPr>
          <p:nvPr/>
        </p:nvPicPr>
        <p:blipFill>
          <a:blip r:embed="rId3"/>
          <a:stretch>
            <a:fillRect/>
          </a:stretch>
        </p:blipFill>
        <p:spPr>
          <a:xfrm>
            <a:off x="4846350" y="1196683"/>
            <a:ext cx="3819073" cy="2750134"/>
          </a:xfrm>
          <a:prstGeom prst="rect">
            <a:avLst/>
          </a:prstGeom>
        </p:spPr>
      </p:pic>
      <p:sp>
        <p:nvSpPr>
          <p:cNvPr id="6" name="CuadroTexto 5">
            <a:extLst>
              <a:ext uri="{FF2B5EF4-FFF2-40B4-BE49-F238E27FC236}">
                <a16:creationId xmlns:a16="http://schemas.microsoft.com/office/drawing/2014/main" id="{6D91BC13-73A7-2A08-EE92-B13E8D516F18}"/>
              </a:ext>
            </a:extLst>
          </p:cNvPr>
          <p:cNvSpPr txBox="1"/>
          <p:nvPr/>
        </p:nvSpPr>
        <p:spPr>
          <a:xfrm>
            <a:off x="4846350" y="4074790"/>
            <a:ext cx="3856722" cy="200055"/>
          </a:xfrm>
          <a:prstGeom prst="rect">
            <a:avLst/>
          </a:prstGeom>
          <a:noFill/>
        </p:spPr>
        <p:txBody>
          <a:bodyPr wrap="square" rtlCol="0">
            <a:spAutoFit/>
          </a:bodyPr>
          <a:lstStyle/>
          <a:p>
            <a:r>
              <a:rPr lang="es-ES" sz="700" b="1" dirty="0">
                <a:latin typeface="Mulish" panose="020B0604020202020204" charset="0"/>
              </a:rPr>
              <a:t>Fuente:</a:t>
            </a:r>
            <a:r>
              <a:rPr lang="es-ES" sz="700" dirty="0">
                <a:latin typeface="Mulish" panose="020B0604020202020204" charset="0"/>
              </a:rPr>
              <a:t> Shaw </a:t>
            </a:r>
            <a:r>
              <a:rPr lang="es-ES" sz="700" dirty="0" err="1">
                <a:latin typeface="Mulish" panose="020B0604020202020204" charset="0"/>
              </a:rPr>
              <a:t>Talebi</a:t>
            </a:r>
            <a:r>
              <a:rPr lang="es-ES" sz="700" dirty="0">
                <a:latin typeface="Mulish" panose="020B0604020202020204" charset="0"/>
              </a:rPr>
              <a:t>, "Causal </a:t>
            </a:r>
            <a:r>
              <a:rPr lang="es-ES" sz="700" dirty="0" err="1">
                <a:latin typeface="Mulish" panose="020B0604020202020204" charset="0"/>
              </a:rPr>
              <a:t>Effects</a:t>
            </a:r>
            <a:r>
              <a:rPr lang="es-ES" sz="700" dirty="0">
                <a:latin typeface="Mulish" panose="020B0604020202020204" charset="0"/>
              </a:rPr>
              <a:t> </a:t>
            </a:r>
            <a:r>
              <a:rPr lang="es-ES" sz="700" dirty="0" err="1">
                <a:latin typeface="Mulish" panose="020B0604020202020204" charset="0"/>
              </a:rPr>
              <a:t>via</a:t>
            </a:r>
            <a:r>
              <a:rPr lang="es-ES" sz="700" dirty="0">
                <a:latin typeface="Mulish" panose="020B0604020202020204" charset="0"/>
              </a:rPr>
              <a:t> </a:t>
            </a:r>
            <a:r>
              <a:rPr lang="es-ES" sz="700" dirty="0" err="1">
                <a:latin typeface="Mulish" panose="020B0604020202020204" charset="0"/>
              </a:rPr>
              <a:t>Propensity</a:t>
            </a:r>
            <a:r>
              <a:rPr lang="es-ES" sz="700" dirty="0">
                <a:latin typeface="Mulish" panose="020B0604020202020204" charset="0"/>
              </a:rPr>
              <a:t> Scores | </a:t>
            </a:r>
            <a:r>
              <a:rPr lang="es-ES" sz="700" dirty="0" err="1">
                <a:latin typeface="Mulish" panose="020B0604020202020204" charset="0"/>
              </a:rPr>
              <a:t>Introduction</a:t>
            </a:r>
            <a:r>
              <a:rPr lang="es-ES" sz="700" dirty="0">
                <a:latin typeface="Mulish" panose="020B0604020202020204" charset="0"/>
              </a:rPr>
              <a:t> &amp; Python </a:t>
            </a:r>
            <a:r>
              <a:rPr lang="es-ES" sz="700" dirty="0" err="1">
                <a:latin typeface="Mulish" panose="020B0604020202020204" charset="0"/>
              </a:rPr>
              <a:t>Code</a:t>
            </a:r>
            <a:r>
              <a:rPr lang="es-ES" sz="700" dirty="0">
                <a:latin typeface="Mulish" panose="020B0604020202020204"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9">
          <a:extLst>
            <a:ext uri="{FF2B5EF4-FFF2-40B4-BE49-F238E27FC236}">
              <a16:creationId xmlns:a16="http://schemas.microsoft.com/office/drawing/2014/main" id="{33524D4A-C37E-9142-DA10-377BB712712D}"/>
            </a:ext>
          </a:extLst>
        </p:cNvPr>
        <p:cNvGrpSpPr/>
        <p:nvPr/>
      </p:nvGrpSpPr>
      <p:grpSpPr>
        <a:xfrm>
          <a:off x="0" y="0"/>
          <a:ext cx="0" cy="0"/>
          <a:chOff x="0" y="0"/>
          <a:chExt cx="0" cy="0"/>
        </a:xfrm>
      </p:grpSpPr>
      <p:sp>
        <p:nvSpPr>
          <p:cNvPr id="381" name="Google Shape;381;p37">
            <a:extLst>
              <a:ext uri="{FF2B5EF4-FFF2-40B4-BE49-F238E27FC236}">
                <a16:creationId xmlns:a16="http://schemas.microsoft.com/office/drawing/2014/main" id="{E26AB304-3F2E-C8AA-BEE1-7A259D74F7AC}"/>
              </a:ext>
            </a:extLst>
          </p:cNvPr>
          <p:cNvSpPr txBox="1">
            <a:spLocks noGrp="1"/>
          </p:cNvSpPr>
          <p:nvPr>
            <p:ph type="title"/>
          </p:nvPr>
        </p:nvSpPr>
        <p:spPr>
          <a:xfrm>
            <a:off x="5592313" y="-594890"/>
            <a:ext cx="3944700" cy="160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ES" dirty="0">
                <a:solidFill>
                  <a:schemeClr val="bg2"/>
                </a:solidFill>
              </a:rPr>
              <a:t>PS: </a:t>
            </a:r>
            <a:r>
              <a:rPr lang="es-ES" dirty="0" err="1">
                <a:solidFill>
                  <a:schemeClr val="bg2"/>
                </a:solidFill>
              </a:rPr>
              <a:t>Weighting</a:t>
            </a:r>
            <a:endParaRPr dirty="0">
              <a:solidFill>
                <a:schemeClr val="bg2"/>
              </a:solidFill>
            </a:endParaRPr>
          </a:p>
        </p:txBody>
      </p:sp>
      <p:sp>
        <p:nvSpPr>
          <p:cNvPr id="382" name="Google Shape;382;p37">
            <a:extLst>
              <a:ext uri="{FF2B5EF4-FFF2-40B4-BE49-F238E27FC236}">
                <a16:creationId xmlns:a16="http://schemas.microsoft.com/office/drawing/2014/main" id="{82B3E981-FCA4-4623-C9D0-F505C7295726}"/>
              </a:ext>
            </a:extLst>
          </p:cNvPr>
          <p:cNvSpPr txBox="1">
            <a:spLocks noGrp="1"/>
          </p:cNvSpPr>
          <p:nvPr>
            <p:ph type="subTitle" idx="1"/>
          </p:nvPr>
        </p:nvSpPr>
        <p:spPr>
          <a:xfrm>
            <a:off x="5078497" y="1653257"/>
            <a:ext cx="3944700" cy="1116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ES" b="1" dirty="0"/>
              <a:t>Ponderación: </a:t>
            </a:r>
            <a:r>
              <a:rPr lang="es-ES" dirty="0"/>
              <a:t>Pesos según probabilidad de recibir tratamiento.</a:t>
            </a:r>
          </a:p>
          <a:p>
            <a:pPr marL="285750" lvl="0" indent="-285750" algn="l" rtl="0">
              <a:spcBef>
                <a:spcPts val="0"/>
              </a:spcBef>
              <a:spcAft>
                <a:spcPts val="1600"/>
              </a:spcAft>
              <a:buFont typeface="Arial" panose="020B0604020202020204" pitchFamily="34" charset="0"/>
              <a:buChar char="•"/>
            </a:pPr>
            <a:r>
              <a:rPr lang="es-ES" b="1" dirty="0"/>
              <a:t>Ventaja: </a:t>
            </a:r>
            <a:r>
              <a:rPr lang="es-ES" dirty="0"/>
              <a:t>Inclusión de todos los sujetos.</a:t>
            </a:r>
          </a:p>
          <a:p>
            <a:pPr marL="285750" lvl="0" indent="-285750" algn="l" rtl="0">
              <a:spcBef>
                <a:spcPts val="0"/>
              </a:spcBef>
              <a:spcAft>
                <a:spcPts val="1600"/>
              </a:spcAft>
              <a:buFont typeface="Arial" panose="020B0604020202020204" pitchFamily="34" charset="0"/>
              <a:buChar char="•"/>
            </a:pPr>
            <a:r>
              <a:rPr lang="es-ES" b="1" dirty="0"/>
              <a:t>Desventaja: </a:t>
            </a:r>
            <a:r>
              <a:rPr lang="es-ES" dirty="0"/>
              <a:t>Cálculos estadísticos complejos.</a:t>
            </a:r>
          </a:p>
        </p:txBody>
      </p:sp>
      <p:sp>
        <p:nvSpPr>
          <p:cNvPr id="383" name="Google Shape;383;p37">
            <a:extLst>
              <a:ext uri="{FF2B5EF4-FFF2-40B4-BE49-F238E27FC236}">
                <a16:creationId xmlns:a16="http://schemas.microsoft.com/office/drawing/2014/main" id="{B5F1C220-EEDE-F363-22F0-7CFAB498BF0A}"/>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6</a:t>
            </a:fld>
            <a:endParaRPr/>
          </a:p>
        </p:txBody>
      </p:sp>
      <p:pic>
        <p:nvPicPr>
          <p:cNvPr id="3" name="Imagen 2" descr="Imagen que contiene Interfaz de usuario gráfica&#10;&#10;Descripción generada automáticamente">
            <a:extLst>
              <a:ext uri="{FF2B5EF4-FFF2-40B4-BE49-F238E27FC236}">
                <a16:creationId xmlns:a16="http://schemas.microsoft.com/office/drawing/2014/main" id="{327FB05B-18A7-E30F-9697-6B7DA191AB4D}"/>
              </a:ext>
            </a:extLst>
          </p:cNvPr>
          <p:cNvPicPr>
            <a:picLocks noChangeAspect="1"/>
          </p:cNvPicPr>
          <p:nvPr/>
        </p:nvPicPr>
        <p:blipFill>
          <a:blip r:embed="rId3"/>
          <a:stretch>
            <a:fillRect/>
          </a:stretch>
        </p:blipFill>
        <p:spPr>
          <a:xfrm>
            <a:off x="490090" y="1151986"/>
            <a:ext cx="3794207" cy="2994224"/>
          </a:xfrm>
          <a:prstGeom prst="rect">
            <a:avLst/>
          </a:prstGeom>
        </p:spPr>
      </p:pic>
      <p:sp>
        <p:nvSpPr>
          <p:cNvPr id="4" name="CuadroTexto 3">
            <a:extLst>
              <a:ext uri="{FF2B5EF4-FFF2-40B4-BE49-F238E27FC236}">
                <a16:creationId xmlns:a16="http://schemas.microsoft.com/office/drawing/2014/main" id="{14800A61-59C5-F4BF-D5C4-96A6B514C5FC}"/>
              </a:ext>
            </a:extLst>
          </p:cNvPr>
          <p:cNvSpPr txBox="1"/>
          <p:nvPr/>
        </p:nvSpPr>
        <p:spPr>
          <a:xfrm>
            <a:off x="490091" y="4210334"/>
            <a:ext cx="3856722" cy="200055"/>
          </a:xfrm>
          <a:prstGeom prst="rect">
            <a:avLst/>
          </a:prstGeom>
          <a:noFill/>
        </p:spPr>
        <p:txBody>
          <a:bodyPr wrap="square" rtlCol="0">
            <a:spAutoFit/>
          </a:bodyPr>
          <a:lstStyle/>
          <a:p>
            <a:r>
              <a:rPr lang="es-ES" sz="700" b="1" dirty="0">
                <a:latin typeface="Mulish" panose="020B0604020202020204" charset="0"/>
              </a:rPr>
              <a:t>Fuente:</a:t>
            </a:r>
            <a:r>
              <a:rPr lang="es-ES" sz="700" dirty="0">
                <a:latin typeface="Mulish" panose="020B0604020202020204" charset="0"/>
              </a:rPr>
              <a:t> Shaw </a:t>
            </a:r>
            <a:r>
              <a:rPr lang="es-ES" sz="700" dirty="0" err="1">
                <a:latin typeface="Mulish" panose="020B0604020202020204" charset="0"/>
              </a:rPr>
              <a:t>Talebi</a:t>
            </a:r>
            <a:r>
              <a:rPr lang="es-ES" sz="700" dirty="0">
                <a:latin typeface="Mulish" panose="020B0604020202020204" charset="0"/>
              </a:rPr>
              <a:t>, "Causal </a:t>
            </a:r>
            <a:r>
              <a:rPr lang="es-ES" sz="700" dirty="0" err="1">
                <a:latin typeface="Mulish" panose="020B0604020202020204" charset="0"/>
              </a:rPr>
              <a:t>Effects</a:t>
            </a:r>
            <a:r>
              <a:rPr lang="es-ES" sz="700" dirty="0">
                <a:latin typeface="Mulish" panose="020B0604020202020204" charset="0"/>
              </a:rPr>
              <a:t> </a:t>
            </a:r>
            <a:r>
              <a:rPr lang="es-ES" sz="700" dirty="0" err="1">
                <a:latin typeface="Mulish" panose="020B0604020202020204" charset="0"/>
              </a:rPr>
              <a:t>via</a:t>
            </a:r>
            <a:r>
              <a:rPr lang="es-ES" sz="700" dirty="0">
                <a:latin typeface="Mulish" panose="020B0604020202020204" charset="0"/>
              </a:rPr>
              <a:t> </a:t>
            </a:r>
            <a:r>
              <a:rPr lang="es-ES" sz="700" dirty="0" err="1">
                <a:latin typeface="Mulish" panose="020B0604020202020204" charset="0"/>
              </a:rPr>
              <a:t>Propensity</a:t>
            </a:r>
            <a:r>
              <a:rPr lang="es-ES" sz="700" dirty="0">
                <a:latin typeface="Mulish" panose="020B0604020202020204" charset="0"/>
              </a:rPr>
              <a:t> Scores | </a:t>
            </a:r>
            <a:r>
              <a:rPr lang="es-ES" sz="700" dirty="0" err="1">
                <a:latin typeface="Mulish" panose="020B0604020202020204" charset="0"/>
              </a:rPr>
              <a:t>Introduction</a:t>
            </a:r>
            <a:r>
              <a:rPr lang="es-ES" sz="700" dirty="0">
                <a:latin typeface="Mulish" panose="020B0604020202020204" charset="0"/>
              </a:rPr>
              <a:t> &amp; Python </a:t>
            </a:r>
            <a:r>
              <a:rPr lang="es-ES" sz="700" dirty="0" err="1">
                <a:latin typeface="Mulish" panose="020B0604020202020204" charset="0"/>
              </a:rPr>
              <a:t>Code</a:t>
            </a:r>
            <a:r>
              <a:rPr lang="es-ES" sz="700" dirty="0">
                <a:latin typeface="Mulish" panose="020B0604020202020204" charset="0"/>
              </a:rPr>
              <a:t>"</a:t>
            </a:r>
          </a:p>
        </p:txBody>
      </p:sp>
    </p:spTree>
    <p:extLst>
      <p:ext uri="{BB962C8B-B14F-4D97-AF65-F5344CB8AC3E}">
        <p14:creationId xmlns:p14="http://schemas.microsoft.com/office/powerpoint/2010/main" val="2852395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bg2"/>
                </a:solidFill>
              </a:rPr>
              <a:t>Otro Problema de Interés</a:t>
            </a:r>
            <a:endParaRPr dirty="0">
              <a:solidFill>
                <a:schemeClr val="bg2"/>
              </a:solidFill>
            </a:endParaRPr>
          </a:p>
        </p:txBody>
      </p:sp>
      <p:sp>
        <p:nvSpPr>
          <p:cNvPr id="408" name="Google Shape;408;p40"/>
          <p:cNvSpPr txBox="1"/>
          <p:nvPr/>
        </p:nvSpPr>
        <p:spPr>
          <a:xfrm>
            <a:off x="722491" y="1689200"/>
            <a:ext cx="2557200" cy="488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rgbClr val="000000"/>
              </a:buClr>
              <a:buSzPts val="1100"/>
              <a:buFont typeface="Arial"/>
              <a:buNone/>
            </a:pPr>
            <a:r>
              <a:rPr lang="en" sz="2000" b="1" dirty="0">
                <a:solidFill>
                  <a:schemeClr val="dk1"/>
                </a:solidFill>
                <a:latin typeface="Quicksand"/>
                <a:ea typeface="Quicksand"/>
                <a:cs typeface="Quicksand"/>
                <a:sym typeface="Quicksand"/>
              </a:rPr>
              <a:t>Sesgo de Género</a:t>
            </a:r>
            <a:endParaRPr sz="2000" b="1" dirty="0">
              <a:solidFill>
                <a:schemeClr val="dk1"/>
              </a:solidFill>
              <a:latin typeface="Quicksand"/>
              <a:ea typeface="Quicksand"/>
              <a:cs typeface="Quicksand"/>
              <a:sym typeface="Quicksand"/>
            </a:endParaRPr>
          </a:p>
        </p:txBody>
      </p:sp>
      <p:sp>
        <p:nvSpPr>
          <p:cNvPr id="409" name="Google Shape;409;p40"/>
          <p:cNvSpPr txBox="1"/>
          <p:nvPr/>
        </p:nvSpPr>
        <p:spPr>
          <a:xfrm>
            <a:off x="722450" y="2177300"/>
            <a:ext cx="2557200" cy="139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ES" sz="1200" dirty="0">
                <a:solidFill>
                  <a:schemeClr val="dk1"/>
                </a:solidFill>
                <a:latin typeface="Mulish"/>
                <a:ea typeface="Mulish"/>
                <a:cs typeface="Mulish"/>
                <a:sym typeface="Mulish"/>
              </a:rPr>
              <a:t>Subrepresentación de las mujeres en estudios clínicos, lo que ha llevado a diagnósticos, tratamientos y resultados menos efectivos para ellas</a:t>
            </a:r>
            <a:endParaRPr sz="1200" dirty="0">
              <a:solidFill>
                <a:schemeClr val="dk1"/>
              </a:solidFill>
              <a:latin typeface="Mulish"/>
              <a:ea typeface="Mulish"/>
              <a:cs typeface="Mulish"/>
              <a:sym typeface="Mulish"/>
            </a:endParaRPr>
          </a:p>
        </p:txBody>
      </p:sp>
      <p:sp>
        <p:nvSpPr>
          <p:cNvPr id="410" name="Google Shape;410;p40"/>
          <p:cNvSpPr txBox="1"/>
          <p:nvPr/>
        </p:nvSpPr>
        <p:spPr>
          <a:xfrm>
            <a:off x="7083487" y="1996493"/>
            <a:ext cx="1837722" cy="409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rgbClr val="000000"/>
              </a:buClr>
              <a:buSzPts val="1100"/>
              <a:buFont typeface="Arial"/>
              <a:buNone/>
            </a:pPr>
            <a:r>
              <a:rPr lang="en" sz="2000" b="1" dirty="0">
                <a:solidFill>
                  <a:schemeClr val="dk1"/>
                </a:solidFill>
                <a:latin typeface="Quicksand"/>
                <a:ea typeface="Quicksand"/>
                <a:cs typeface="Quicksand"/>
                <a:sym typeface="Quicksand"/>
              </a:rPr>
              <a:t>Propensity Scores</a:t>
            </a:r>
            <a:endParaRPr sz="2000" b="1" dirty="0">
              <a:solidFill>
                <a:schemeClr val="dk1"/>
              </a:solidFill>
              <a:latin typeface="Quicksand"/>
              <a:ea typeface="Quicksand"/>
              <a:cs typeface="Quicksand"/>
              <a:sym typeface="Quicksand"/>
            </a:endParaRPr>
          </a:p>
        </p:txBody>
      </p:sp>
      <p:sp>
        <p:nvSpPr>
          <p:cNvPr id="412" name="Google Shape;412;p40"/>
          <p:cNvSpPr txBox="1"/>
          <p:nvPr/>
        </p:nvSpPr>
        <p:spPr>
          <a:xfrm>
            <a:off x="3479843" y="2938582"/>
            <a:ext cx="1465500" cy="409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100"/>
              <a:buFont typeface="Arial"/>
              <a:buNone/>
            </a:pPr>
            <a:r>
              <a:rPr lang="en" sz="2000" b="1" dirty="0">
                <a:solidFill>
                  <a:schemeClr val="dk1"/>
                </a:solidFill>
                <a:latin typeface="Quicksand"/>
                <a:ea typeface="Quicksand"/>
                <a:cs typeface="Quicksand"/>
                <a:sym typeface="Quicksand"/>
              </a:rPr>
              <a:t>Datos Simulados</a:t>
            </a:r>
            <a:endParaRPr sz="2000" b="1" dirty="0">
              <a:solidFill>
                <a:schemeClr val="dk1"/>
              </a:solidFill>
              <a:latin typeface="Quicksand"/>
              <a:ea typeface="Quicksand"/>
              <a:cs typeface="Quicksand"/>
              <a:sym typeface="Quicksand"/>
            </a:endParaRPr>
          </a:p>
        </p:txBody>
      </p:sp>
      <p:sp>
        <p:nvSpPr>
          <p:cNvPr id="414" name="Google Shape;414;p40"/>
          <p:cNvSpPr txBox="1"/>
          <p:nvPr/>
        </p:nvSpPr>
        <p:spPr>
          <a:xfrm>
            <a:off x="6965337" y="3721125"/>
            <a:ext cx="1837788" cy="409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rgbClr val="000000"/>
              </a:buClr>
              <a:buSzPts val="1100"/>
              <a:buFont typeface="Arial"/>
              <a:buNone/>
            </a:pPr>
            <a:r>
              <a:rPr lang="en" sz="2000" b="1" dirty="0">
                <a:solidFill>
                  <a:schemeClr val="dk1"/>
                </a:solidFill>
                <a:latin typeface="Quicksand"/>
                <a:ea typeface="Quicksand"/>
                <a:cs typeface="Quicksand"/>
                <a:sym typeface="Quicksand"/>
              </a:rPr>
              <a:t>ODS 5</a:t>
            </a:r>
            <a:endParaRPr sz="2000" b="1" dirty="0">
              <a:solidFill>
                <a:schemeClr val="dk1"/>
              </a:solidFill>
              <a:latin typeface="Quicksand"/>
              <a:ea typeface="Quicksand"/>
              <a:cs typeface="Quicksand"/>
              <a:sym typeface="Quicksand"/>
            </a:endParaRPr>
          </a:p>
        </p:txBody>
      </p:sp>
      <p:sp>
        <p:nvSpPr>
          <p:cNvPr id="416" name="Google Shape;416;p40"/>
          <p:cNvSpPr/>
          <p:nvPr/>
        </p:nvSpPr>
        <p:spPr>
          <a:xfrm>
            <a:off x="6547652" y="1875803"/>
            <a:ext cx="367800" cy="333600"/>
          </a:xfrm>
          <a:prstGeom prst="ellipse">
            <a:avLst/>
          </a:prstGeom>
          <a:noFill/>
          <a:ln w="19050" cap="flat" cmpd="sng">
            <a:solidFill>
              <a:schemeClr val="lt1"/>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2"/>
                </a:solidFill>
                <a:latin typeface="Quicksand"/>
                <a:ea typeface="Quicksand"/>
                <a:cs typeface="Quicksand"/>
                <a:sym typeface="Quicksand"/>
              </a:rPr>
              <a:t>1</a:t>
            </a:r>
            <a:endParaRPr sz="1800" b="1">
              <a:solidFill>
                <a:schemeClr val="dk2"/>
              </a:solidFill>
              <a:latin typeface="Quicksand"/>
              <a:ea typeface="Quicksand"/>
              <a:cs typeface="Quicksand"/>
              <a:sym typeface="Quicksand"/>
            </a:endParaRPr>
          </a:p>
        </p:txBody>
      </p:sp>
      <p:sp>
        <p:nvSpPr>
          <p:cNvPr id="417" name="Google Shape;417;p40"/>
          <p:cNvSpPr/>
          <p:nvPr/>
        </p:nvSpPr>
        <p:spPr>
          <a:xfrm>
            <a:off x="5072788" y="2778628"/>
            <a:ext cx="367800" cy="367800"/>
          </a:xfrm>
          <a:prstGeom prst="ellipse">
            <a:avLst/>
          </a:prstGeom>
          <a:noFill/>
          <a:ln w="19050" cap="flat" cmpd="sng">
            <a:solidFill>
              <a:schemeClr val="lt1"/>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2"/>
                </a:solidFill>
                <a:latin typeface="Quicksand"/>
                <a:ea typeface="Quicksand"/>
                <a:cs typeface="Quicksand"/>
                <a:sym typeface="Quicksand"/>
              </a:rPr>
              <a:t>2</a:t>
            </a:r>
            <a:endParaRPr sz="1800" b="1">
              <a:solidFill>
                <a:schemeClr val="dk2"/>
              </a:solidFill>
              <a:latin typeface="Quicksand"/>
              <a:ea typeface="Quicksand"/>
              <a:cs typeface="Quicksand"/>
              <a:sym typeface="Quicksand"/>
            </a:endParaRPr>
          </a:p>
        </p:txBody>
      </p:sp>
      <p:sp>
        <p:nvSpPr>
          <p:cNvPr id="418" name="Google Shape;418;p40"/>
          <p:cNvSpPr/>
          <p:nvPr/>
        </p:nvSpPr>
        <p:spPr>
          <a:xfrm>
            <a:off x="6527187" y="3715653"/>
            <a:ext cx="367800" cy="367800"/>
          </a:xfrm>
          <a:prstGeom prst="ellipse">
            <a:avLst/>
          </a:prstGeom>
          <a:noFill/>
          <a:ln w="19050" cap="flat" cmpd="sng">
            <a:solidFill>
              <a:schemeClr val="lt1"/>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800" b="1">
                <a:solidFill>
                  <a:schemeClr val="dk2"/>
                </a:solidFill>
                <a:latin typeface="Quicksand"/>
                <a:ea typeface="Quicksand"/>
                <a:cs typeface="Quicksand"/>
                <a:sym typeface="Quicksand"/>
              </a:rPr>
              <a:t>3</a:t>
            </a:r>
            <a:endParaRPr sz="1800" b="1">
              <a:solidFill>
                <a:schemeClr val="dk2"/>
              </a:solidFill>
              <a:latin typeface="Quicksand"/>
              <a:ea typeface="Quicksand"/>
              <a:cs typeface="Quicksand"/>
              <a:sym typeface="Quicksand"/>
            </a:endParaRPr>
          </a:p>
        </p:txBody>
      </p:sp>
      <p:sp>
        <p:nvSpPr>
          <p:cNvPr id="419" name="Google Shape;419;p40"/>
          <p:cNvSpPr txBox="1"/>
          <p:nvPr/>
        </p:nvSpPr>
        <p:spPr>
          <a:xfrm>
            <a:off x="5293712" y="1363282"/>
            <a:ext cx="1522800" cy="374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000" b="1" dirty="0">
                <a:solidFill>
                  <a:schemeClr val="dk1"/>
                </a:solidFill>
                <a:latin typeface="Quicksand"/>
                <a:ea typeface="Quicksand"/>
                <a:cs typeface="Quicksand"/>
                <a:sym typeface="Quicksand"/>
              </a:rPr>
              <a:t>Soluciones</a:t>
            </a:r>
            <a:endParaRPr sz="2000" b="1" dirty="0">
              <a:solidFill>
                <a:schemeClr val="dk1"/>
              </a:solidFill>
              <a:latin typeface="Quicksand"/>
              <a:ea typeface="Quicksand"/>
              <a:cs typeface="Quicksand"/>
              <a:sym typeface="Quicksand"/>
            </a:endParaRPr>
          </a:p>
        </p:txBody>
      </p:sp>
      <p:sp>
        <p:nvSpPr>
          <p:cNvPr id="420" name="Google Shape;420;p40"/>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a:t>
            </a:fld>
            <a:endParaRPr/>
          </a:p>
        </p:txBody>
      </p:sp>
      <p:cxnSp>
        <p:nvCxnSpPr>
          <p:cNvPr id="421" name="Google Shape;421;p40"/>
          <p:cNvCxnSpPr/>
          <p:nvPr/>
        </p:nvCxnSpPr>
        <p:spPr>
          <a:xfrm>
            <a:off x="6055100" y="1812625"/>
            <a:ext cx="0" cy="2619900"/>
          </a:xfrm>
          <a:prstGeom prst="straightConnector1">
            <a:avLst/>
          </a:prstGeom>
          <a:noFill/>
          <a:ln w="19050" cap="flat" cmpd="sng">
            <a:solidFill>
              <a:schemeClr val="lt1"/>
            </a:solidFill>
            <a:prstDash val="solid"/>
            <a:round/>
            <a:headEnd type="none" w="med" len="med"/>
            <a:tailEnd type="triangle" w="med" len="med"/>
          </a:ln>
        </p:spPr>
      </p:cxnSp>
      <p:cxnSp>
        <p:nvCxnSpPr>
          <p:cNvPr id="422" name="Google Shape;422;p40"/>
          <p:cNvCxnSpPr>
            <a:stCxn id="416" idx="2"/>
          </p:cNvCxnSpPr>
          <p:nvPr/>
        </p:nvCxnSpPr>
        <p:spPr>
          <a:xfrm rot="10800000">
            <a:off x="5513552" y="2042603"/>
            <a:ext cx="1034100" cy="0"/>
          </a:xfrm>
          <a:prstGeom prst="straightConnector1">
            <a:avLst/>
          </a:prstGeom>
          <a:noFill/>
          <a:ln w="19050" cap="flat" cmpd="sng">
            <a:solidFill>
              <a:schemeClr val="lt1"/>
            </a:solidFill>
            <a:prstDash val="solid"/>
            <a:round/>
            <a:headEnd type="none" w="med" len="med"/>
            <a:tailEnd type="oval" w="med" len="med"/>
          </a:ln>
        </p:spPr>
      </p:cxnSp>
      <p:cxnSp>
        <p:nvCxnSpPr>
          <p:cNvPr id="423" name="Google Shape;423;p40"/>
          <p:cNvCxnSpPr>
            <a:stCxn id="417" idx="6"/>
          </p:cNvCxnSpPr>
          <p:nvPr/>
        </p:nvCxnSpPr>
        <p:spPr>
          <a:xfrm>
            <a:off x="5440588" y="2962528"/>
            <a:ext cx="1020300" cy="0"/>
          </a:xfrm>
          <a:prstGeom prst="straightConnector1">
            <a:avLst/>
          </a:prstGeom>
          <a:noFill/>
          <a:ln w="19050" cap="flat" cmpd="sng">
            <a:solidFill>
              <a:schemeClr val="lt1"/>
            </a:solidFill>
            <a:prstDash val="solid"/>
            <a:round/>
            <a:headEnd type="none" w="med" len="med"/>
            <a:tailEnd type="oval" w="med" len="med"/>
          </a:ln>
        </p:spPr>
      </p:cxnSp>
      <p:grpSp>
        <p:nvGrpSpPr>
          <p:cNvPr id="424" name="Google Shape;424;p40"/>
          <p:cNvGrpSpPr/>
          <p:nvPr/>
        </p:nvGrpSpPr>
        <p:grpSpPr>
          <a:xfrm>
            <a:off x="5096625" y="1846312"/>
            <a:ext cx="320143" cy="392581"/>
            <a:chOff x="3086313" y="2877049"/>
            <a:chExt cx="320143" cy="392581"/>
          </a:xfrm>
        </p:grpSpPr>
        <p:sp>
          <p:nvSpPr>
            <p:cNvPr id="425" name="Google Shape;425;p40"/>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0"/>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40"/>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40"/>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40"/>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40"/>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0"/>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0"/>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40"/>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0"/>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0"/>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37" name="Google Shape;437;p40"/>
          <p:cNvCxnSpPr>
            <a:stCxn id="418" idx="2"/>
          </p:cNvCxnSpPr>
          <p:nvPr/>
        </p:nvCxnSpPr>
        <p:spPr>
          <a:xfrm rot="10800000">
            <a:off x="5513487" y="3899553"/>
            <a:ext cx="1013700" cy="0"/>
          </a:xfrm>
          <a:prstGeom prst="straightConnector1">
            <a:avLst/>
          </a:prstGeom>
          <a:noFill/>
          <a:ln w="19050" cap="flat" cmpd="sng">
            <a:solidFill>
              <a:schemeClr val="lt1"/>
            </a:solidFill>
            <a:prstDash val="solid"/>
            <a:round/>
            <a:headEnd type="none" w="med" len="med"/>
            <a:tailEnd type="oval" w="med" len="med"/>
          </a:ln>
        </p:spPr>
      </p:cxnSp>
      <p:sp>
        <p:nvSpPr>
          <p:cNvPr id="438" name="Google Shape;438;p40"/>
          <p:cNvSpPr/>
          <p:nvPr/>
        </p:nvSpPr>
        <p:spPr>
          <a:xfrm>
            <a:off x="6606946" y="2822071"/>
            <a:ext cx="358464" cy="356808"/>
          </a:xfrm>
          <a:custGeom>
            <a:avLst/>
            <a:gdLst/>
            <a:ahLst/>
            <a:cxnLst/>
            <a:rect l="l" t="t" r="r" b="b"/>
            <a:pathLst>
              <a:path w="11253" h="11201" extrusionOk="0">
                <a:moveTo>
                  <a:pt x="9133" y="0"/>
                </a:moveTo>
                <a:cubicBezTo>
                  <a:pt x="8990" y="0"/>
                  <a:pt x="8847" y="60"/>
                  <a:pt x="8740" y="167"/>
                </a:cubicBezTo>
                <a:lnTo>
                  <a:pt x="322" y="8584"/>
                </a:lnTo>
                <a:cubicBezTo>
                  <a:pt x="1" y="8894"/>
                  <a:pt x="1" y="9263"/>
                  <a:pt x="215" y="9465"/>
                </a:cubicBezTo>
                <a:lnTo>
                  <a:pt x="1787" y="11049"/>
                </a:lnTo>
                <a:cubicBezTo>
                  <a:pt x="1894" y="11150"/>
                  <a:pt x="2037" y="11201"/>
                  <a:pt x="2178" y="11201"/>
                </a:cubicBezTo>
                <a:cubicBezTo>
                  <a:pt x="2320" y="11201"/>
                  <a:pt x="2460" y="11150"/>
                  <a:pt x="2561" y="11049"/>
                </a:cubicBezTo>
                <a:lnTo>
                  <a:pt x="9371" y="4239"/>
                </a:lnTo>
                <a:cubicBezTo>
                  <a:pt x="9431" y="4179"/>
                  <a:pt x="9431" y="4084"/>
                  <a:pt x="9371" y="4001"/>
                </a:cubicBezTo>
                <a:cubicBezTo>
                  <a:pt x="9341" y="3971"/>
                  <a:pt x="9300" y="3956"/>
                  <a:pt x="9257" y="3956"/>
                </a:cubicBezTo>
                <a:cubicBezTo>
                  <a:pt x="9213" y="3956"/>
                  <a:pt x="9169" y="3971"/>
                  <a:pt x="9133" y="4001"/>
                </a:cubicBezTo>
                <a:lnTo>
                  <a:pt x="2323" y="10811"/>
                </a:lnTo>
                <a:cubicBezTo>
                  <a:pt x="2281" y="10853"/>
                  <a:pt x="2227" y="10873"/>
                  <a:pt x="2172" y="10873"/>
                </a:cubicBezTo>
                <a:cubicBezTo>
                  <a:pt x="2117" y="10873"/>
                  <a:pt x="2061" y="10853"/>
                  <a:pt x="2013" y="10811"/>
                </a:cubicBezTo>
                <a:lnTo>
                  <a:pt x="453" y="9227"/>
                </a:lnTo>
                <a:cubicBezTo>
                  <a:pt x="358" y="9144"/>
                  <a:pt x="358" y="9001"/>
                  <a:pt x="453" y="8918"/>
                </a:cubicBezTo>
                <a:lnTo>
                  <a:pt x="703" y="8656"/>
                </a:lnTo>
                <a:lnTo>
                  <a:pt x="1096" y="9049"/>
                </a:lnTo>
                <a:cubicBezTo>
                  <a:pt x="1126" y="9079"/>
                  <a:pt x="1165" y="9093"/>
                  <a:pt x="1206" y="9093"/>
                </a:cubicBezTo>
                <a:cubicBezTo>
                  <a:pt x="1248" y="9093"/>
                  <a:pt x="1293" y="9079"/>
                  <a:pt x="1334" y="9049"/>
                </a:cubicBezTo>
                <a:cubicBezTo>
                  <a:pt x="1394" y="8989"/>
                  <a:pt x="1394" y="8882"/>
                  <a:pt x="1334" y="8811"/>
                </a:cubicBezTo>
                <a:lnTo>
                  <a:pt x="942" y="8418"/>
                </a:lnTo>
                <a:lnTo>
                  <a:pt x="1477" y="7882"/>
                </a:lnTo>
                <a:lnTo>
                  <a:pt x="1870" y="8275"/>
                </a:lnTo>
                <a:cubicBezTo>
                  <a:pt x="1900" y="8305"/>
                  <a:pt x="1939" y="8319"/>
                  <a:pt x="1980" y="8319"/>
                </a:cubicBezTo>
                <a:cubicBezTo>
                  <a:pt x="2022" y="8319"/>
                  <a:pt x="2067" y="8305"/>
                  <a:pt x="2108" y="8275"/>
                </a:cubicBezTo>
                <a:cubicBezTo>
                  <a:pt x="2168" y="8215"/>
                  <a:pt x="2168" y="8108"/>
                  <a:pt x="2108" y="8037"/>
                </a:cubicBezTo>
                <a:lnTo>
                  <a:pt x="1715" y="7644"/>
                </a:lnTo>
                <a:lnTo>
                  <a:pt x="2251" y="7108"/>
                </a:lnTo>
                <a:lnTo>
                  <a:pt x="2858" y="7727"/>
                </a:lnTo>
                <a:cubicBezTo>
                  <a:pt x="2888" y="7757"/>
                  <a:pt x="2930" y="7772"/>
                  <a:pt x="2973" y="7772"/>
                </a:cubicBezTo>
                <a:cubicBezTo>
                  <a:pt x="3016" y="7772"/>
                  <a:pt x="3061" y="7757"/>
                  <a:pt x="3097" y="7727"/>
                </a:cubicBezTo>
                <a:cubicBezTo>
                  <a:pt x="3156" y="7668"/>
                  <a:pt x="3156" y="7560"/>
                  <a:pt x="3097" y="7489"/>
                </a:cubicBezTo>
                <a:lnTo>
                  <a:pt x="2489" y="6870"/>
                </a:lnTo>
                <a:lnTo>
                  <a:pt x="3025" y="6334"/>
                </a:lnTo>
                <a:lnTo>
                  <a:pt x="3418" y="6727"/>
                </a:lnTo>
                <a:cubicBezTo>
                  <a:pt x="3448" y="6757"/>
                  <a:pt x="3487" y="6772"/>
                  <a:pt x="3528" y="6772"/>
                </a:cubicBezTo>
                <a:cubicBezTo>
                  <a:pt x="3570" y="6772"/>
                  <a:pt x="3614" y="6757"/>
                  <a:pt x="3656" y="6727"/>
                </a:cubicBezTo>
                <a:cubicBezTo>
                  <a:pt x="3716" y="6668"/>
                  <a:pt x="3716" y="6560"/>
                  <a:pt x="3656" y="6489"/>
                </a:cubicBezTo>
                <a:lnTo>
                  <a:pt x="3263" y="6096"/>
                </a:lnTo>
                <a:lnTo>
                  <a:pt x="3799" y="5560"/>
                </a:lnTo>
                <a:lnTo>
                  <a:pt x="4192" y="5953"/>
                </a:lnTo>
                <a:cubicBezTo>
                  <a:pt x="4222" y="5983"/>
                  <a:pt x="4260" y="5998"/>
                  <a:pt x="4302" y="5998"/>
                </a:cubicBezTo>
                <a:cubicBezTo>
                  <a:pt x="4344" y="5998"/>
                  <a:pt x="4388" y="5983"/>
                  <a:pt x="4430" y="5953"/>
                </a:cubicBezTo>
                <a:cubicBezTo>
                  <a:pt x="4490" y="5894"/>
                  <a:pt x="4490" y="5786"/>
                  <a:pt x="4430" y="5715"/>
                </a:cubicBezTo>
                <a:lnTo>
                  <a:pt x="4037" y="5322"/>
                </a:lnTo>
                <a:lnTo>
                  <a:pt x="4573" y="4786"/>
                </a:lnTo>
                <a:lnTo>
                  <a:pt x="4966" y="5179"/>
                </a:lnTo>
                <a:cubicBezTo>
                  <a:pt x="4996" y="5209"/>
                  <a:pt x="5034" y="5224"/>
                  <a:pt x="5076" y="5224"/>
                </a:cubicBezTo>
                <a:cubicBezTo>
                  <a:pt x="5118" y="5224"/>
                  <a:pt x="5162" y="5209"/>
                  <a:pt x="5204" y="5179"/>
                </a:cubicBezTo>
                <a:cubicBezTo>
                  <a:pt x="5264" y="5120"/>
                  <a:pt x="5264" y="5013"/>
                  <a:pt x="5204" y="4941"/>
                </a:cubicBezTo>
                <a:lnTo>
                  <a:pt x="4811" y="4548"/>
                </a:lnTo>
                <a:lnTo>
                  <a:pt x="5347" y="4012"/>
                </a:lnTo>
                <a:lnTo>
                  <a:pt x="5954" y="4632"/>
                </a:lnTo>
                <a:cubicBezTo>
                  <a:pt x="5984" y="4661"/>
                  <a:pt x="6026" y="4676"/>
                  <a:pt x="6069" y="4676"/>
                </a:cubicBezTo>
                <a:cubicBezTo>
                  <a:pt x="6112" y="4676"/>
                  <a:pt x="6156" y="4661"/>
                  <a:pt x="6192" y="4632"/>
                </a:cubicBezTo>
                <a:cubicBezTo>
                  <a:pt x="6252" y="4572"/>
                  <a:pt x="6252" y="4465"/>
                  <a:pt x="6192" y="4393"/>
                </a:cubicBezTo>
                <a:lnTo>
                  <a:pt x="5585" y="3774"/>
                </a:lnTo>
                <a:lnTo>
                  <a:pt x="6121" y="3239"/>
                </a:lnTo>
                <a:lnTo>
                  <a:pt x="6514" y="3631"/>
                </a:lnTo>
                <a:cubicBezTo>
                  <a:pt x="6543" y="3661"/>
                  <a:pt x="6582" y="3676"/>
                  <a:pt x="6624" y="3676"/>
                </a:cubicBezTo>
                <a:cubicBezTo>
                  <a:pt x="6665" y="3676"/>
                  <a:pt x="6710" y="3661"/>
                  <a:pt x="6752" y="3631"/>
                </a:cubicBezTo>
                <a:cubicBezTo>
                  <a:pt x="6811" y="3572"/>
                  <a:pt x="6811" y="3465"/>
                  <a:pt x="6752" y="3393"/>
                </a:cubicBezTo>
                <a:lnTo>
                  <a:pt x="6359" y="3000"/>
                </a:lnTo>
                <a:lnTo>
                  <a:pt x="6895" y="2465"/>
                </a:lnTo>
                <a:lnTo>
                  <a:pt x="7288" y="2858"/>
                </a:lnTo>
                <a:cubicBezTo>
                  <a:pt x="7317" y="2887"/>
                  <a:pt x="7356" y="2902"/>
                  <a:pt x="7398" y="2902"/>
                </a:cubicBezTo>
                <a:cubicBezTo>
                  <a:pt x="7439" y="2902"/>
                  <a:pt x="7484" y="2887"/>
                  <a:pt x="7526" y="2858"/>
                </a:cubicBezTo>
                <a:cubicBezTo>
                  <a:pt x="7585" y="2798"/>
                  <a:pt x="7585" y="2691"/>
                  <a:pt x="7526" y="2619"/>
                </a:cubicBezTo>
                <a:lnTo>
                  <a:pt x="7133" y="2226"/>
                </a:lnTo>
                <a:lnTo>
                  <a:pt x="7669" y="1691"/>
                </a:lnTo>
                <a:lnTo>
                  <a:pt x="8061" y="2084"/>
                </a:lnTo>
                <a:cubicBezTo>
                  <a:pt x="8091" y="2113"/>
                  <a:pt x="8130" y="2128"/>
                  <a:pt x="8172" y="2128"/>
                </a:cubicBezTo>
                <a:cubicBezTo>
                  <a:pt x="8213" y="2128"/>
                  <a:pt x="8258" y="2113"/>
                  <a:pt x="8300" y="2084"/>
                </a:cubicBezTo>
                <a:cubicBezTo>
                  <a:pt x="8359" y="2024"/>
                  <a:pt x="8359" y="1917"/>
                  <a:pt x="8300" y="1845"/>
                </a:cubicBezTo>
                <a:lnTo>
                  <a:pt x="7907" y="1453"/>
                </a:lnTo>
                <a:lnTo>
                  <a:pt x="8442" y="917"/>
                </a:lnTo>
                <a:lnTo>
                  <a:pt x="9050" y="1536"/>
                </a:lnTo>
                <a:cubicBezTo>
                  <a:pt x="9079" y="1566"/>
                  <a:pt x="9121" y="1581"/>
                  <a:pt x="9164" y="1581"/>
                </a:cubicBezTo>
                <a:cubicBezTo>
                  <a:pt x="9207" y="1581"/>
                  <a:pt x="9252" y="1566"/>
                  <a:pt x="9288" y="1536"/>
                </a:cubicBezTo>
                <a:cubicBezTo>
                  <a:pt x="9371" y="1476"/>
                  <a:pt x="9347" y="1369"/>
                  <a:pt x="9288" y="1298"/>
                </a:cubicBezTo>
                <a:lnTo>
                  <a:pt x="8681" y="679"/>
                </a:lnTo>
                <a:lnTo>
                  <a:pt x="8966" y="405"/>
                </a:lnTo>
                <a:cubicBezTo>
                  <a:pt x="9008" y="357"/>
                  <a:pt x="9065" y="333"/>
                  <a:pt x="9121" y="333"/>
                </a:cubicBezTo>
                <a:cubicBezTo>
                  <a:pt x="9178" y="333"/>
                  <a:pt x="9234" y="357"/>
                  <a:pt x="9276" y="405"/>
                </a:cubicBezTo>
                <a:lnTo>
                  <a:pt x="10859" y="1976"/>
                </a:lnTo>
                <a:cubicBezTo>
                  <a:pt x="10895" y="2024"/>
                  <a:pt x="10919" y="2072"/>
                  <a:pt x="10919" y="2131"/>
                </a:cubicBezTo>
                <a:cubicBezTo>
                  <a:pt x="10919" y="2191"/>
                  <a:pt x="10883" y="2250"/>
                  <a:pt x="10859" y="2274"/>
                </a:cubicBezTo>
                <a:lnTo>
                  <a:pt x="9705" y="3417"/>
                </a:lnTo>
                <a:cubicBezTo>
                  <a:pt x="9645" y="3477"/>
                  <a:pt x="9645" y="3584"/>
                  <a:pt x="9705" y="3655"/>
                </a:cubicBezTo>
                <a:cubicBezTo>
                  <a:pt x="9734" y="3685"/>
                  <a:pt x="9776" y="3700"/>
                  <a:pt x="9819" y="3700"/>
                </a:cubicBezTo>
                <a:cubicBezTo>
                  <a:pt x="9862" y="3700"/>
                  <a:pt x="9907" y="3685"/>
                  <a:pt x="9943" y="3655"/>
                </a:cubicBezTo>
                <a:lnTo>
                  <a:pt x="11098" y="2512"/>
                </a:lnTo>
                <a:cubicBezTo>
                  <a:pt x="11193" y="2405"/>
                  <a:pt x="11252" y="2274"/>
                  <a:pt x="11252" y="2131"/>
                </a:cubicBezTo>
                <a:cubicBezTo>
                  <a:pt x="11252" y="1976"/>
                  <a:pt x="11193" y="1845"/>
                  <a:pt x="11098" y="1738"/>
                </a:cubicBezTo>
                <a:lnTo>
                  <a:pt x="9514" y="167"/>
                </a:lnTo>
                <a:cubicBezTo>
                  <a:pt x="9407" y="60"/>
                  <a:pt x="9264" y="0"/>
                  <a:pt x="91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9" name="Google Shape;439;p40"/>
          <p:cNvGrpSpPr/>
          <p:nvPr/>
        </p:nvGrpSpPr>
        <p:grpSpPr>
          <a:xfrm>
            <a:off x="5114276" y="3753658"/>
            <a:ext cx="284847" cy="373627"/>
            <a:chOff x="1805901" y="1960358"/>
            <a:chExt cx="284847" cy="373627"/>
          </a:xfrm>
        </p:grpSpPr>
        <p:sp>
          <p:nvSpPr>
            <p:cNvPr id="440" name="Google Shape;440;p40"/>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0"/>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42" name="Google Shape;442;p40"/>
          <p:cNvCxnSpPr/>
          <p:nvPr/>
        </p:nvCxnSpPr>
        <p:spPr>
          <a:xfrm>
            <a:off x="3427825" y="1428350"/>
            <a:ext cx="0" cy="30042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6">
          <a:extLst>
            <a:ext uri="{FF2B5EF4-FFF2-40B4-BE49-F238E27FC236}">
              <a16:creationId xmlns:a16="http://schemas.microsoft.com/office/drawing/2014/main" id="{A43A3743-575F-031A-01A5-4748E390B93B}"/>
            </a:ext>
          </a:extLst>
        </p:cNvPr>
        <p:cNvGrpSpPr/>
        <p:nvPr/>
      </p:nvGrpSpPr>
      <p:grpSpPr>
        <a:xfrm>
          <a:off x="0" y="0"/>
          <a:ext cx="0" cy="0"/>
          <a:chOff x="0" y="0"/>
          <a:chExt cx="0" cy="0"/>
        </a:xfrm>
      </p:grpSpPr>
      <p:sp>
        <p:nvSpPr>
          <p:cNvPr id="447" name="Google Shape;447;p41">
            <a:extLst>
              <a:ext uri="{FF2B5EF4-FFF2-40B4-BE49-F238E27FC236}">
                <a16:creationId xmlns:a16="http://schemas.microsoft.com/office/drawing/2014/main" id="{6A4E171F-F076-F5D4-4284-FF237429662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2"/>
                </a:solidFill>
              </a:rPr>
              <a:t>Hipótesis </a:t>
            </a:r>
            <a:endParaRPr dirty="0">
              <a:solidFill>
                <a:schemeClr val="bg2"/>
              </a:solidFill>
            </a:endParaRPr>
          </a:p>
        </p:txBody>
      </p:sp>
      <p:sp>
        <p:nvSpPr>
          <p:cNvPr id="448" name="Google Shape;448;p41">
            <a:extLst>
              <a:ext uri="{FF2B5EF4-FFF2-40B4-BE49-F238E27FC236}">
                <a16:creationId xmlns:a16="http://schemas.microsoft.com/office/drawing/2014/main" id="{2E6A47FA-2F33-A46A-44EA-A706F6843AAD}"/>
              </a:ext>
            </a:extLst>
          </p:cNvPr>
          <p:cNvSpPr txBox="1">
            <a:spLocks noGrp="1"/>
          </p:cNvSpPr>
          <p:nvPr>
            <p:ph type="subTitle" idx="1"/>
          </p:nvPr>
        </p:nvSpPr>
        <p:spPr>
          <a:xfrm>
            <a:off x="1381625" y="2066045"/>
            <a:ext cx="70425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Los PS mejoran la validez interna de los estudios observacionales</a:t>
            </a:r>
            <a:endParaRPr dirty="0"/>
          </a:p>
        </p:txBody>
      </p:sp>
      <p:sp>
        <p:nvSpPr>
          <p:cNvPr id="449" name="Google Shape;449;p41">
            <a:extLst>
              <a:ext uri="{FF2B5EF4-FFF2-40B4-BE49-F238E27FC236}">
                <a16:creationId xmlns:a16="http://schemas.microsoft.com/office/drawing/2014/main" id="{0C1541F4-3941-60E2-2107-AAA5D1E4CBEE}"/>
              </a:ext>
            </a:extLst>
          </p:cNvPr>
          <p:cNvSpPr txBox="1">
            <a:spLocks noGrp="1"/>
          </p:cNvSpPr>
          <p:nvPr>
            <p:ph type="subTitle" idx="2"/>
          </p:nvPr>
        </p:nvSpPr>
        <p:spPr>
          <a:xfrm>
            <a:off x="1381635" y="3209045"/>
            <a:ext cx="70425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dirty="0"/>
              <a:t>La implementación de PS puede reducir el sesgo de género en los estudios observacionales simulados</a:t>
            </a:r>
            <a:endParaRPr dirty="0"/>
          </a:p>
        </p:txBody>
      </p:sp>
      <p:sp>
        <p:nvSpPr>
          <p:cNvPr id="451" name="Google Shape;451;p41">
            <a:extLst>
              <a:ext uri="{FF2B5EF4-FFF2-40B4-BE49-F238E27FC236}">
                <a16:creationId xmlns:a16="http://schemas.microsoft.com/office/drawing/2014/main" id="{3FA2946B-0379-B39D-DB4C-7F53CED0209A}"/>
              </a:ext>
            </a:extLst>
          </p:cNvPr>
          <p:cNvSpPr/>
          <p:nvPr/>
        </p:nvSpPr>
        <p:spPr>
          <a:xfrm>
            <a:off x="720000" y="1688482"/>
            <a:ext cx="429000" cy="4290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100" b="1">
                <a:solidFill>
                  <a:schemeClr val="dk2"/>
                </a:solidFill>
                <a:latin typeface="Quicksand"/>
                <a:ea typeface="Quicksand"/>
                <a:cs typeface="Quicksand"/>
                <a:sym typeface="Quicksand"/>
              </a:rPr>
              <a:t>1</a:t>
            </a:r>
            <a:endParaRPr sz="2100" b="1">
              <a:solidFill>
                <a:schemeClr val="dk2"/>
              </a:solidFill>
              <a:latin typeface="Quicksand"/>
              <a:ea typeface="Quicksand"/>
              <a:cs typeface="Quicksand"/>
              <a:sym typeface="Quicksand"/>
            </a:endParaRPr>
          </a:p>
        </p:txBody>
      </p:sp>
      <p:sp>
        <p:nvSpPr>
          <p:cNvPr id="452" name="Google Shape;452;p41">
            <a:extLst>
              <a:ext uri="{FF2B5EF4-FFF2-40B4-BE49-F238E27FC236}">
                <a16:creationId xmlns:a16="http://schemas.microsoft.com/office/drawing/2014/main" id="{D04279D1-8183-AEAD-F700-BB079BCB6A5C}"/>
              </a:ext>
            </a:extLst>
          </p:cNvPr>
          <p:cNvSpPr/>
          <p:nvPr/>
        </p:nvSpPr>
        <p:spPr>
          <a:xfrm>
            <a:off x="720001" y="2826884"/>
            <a:ext cx="429000" cy="4290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100" b="1">
                <a:solidFill>
                  <a:schemeClr val="dk2"/>
                </a:solidFill>
                <a:latin typeface="Quicksand"/>
                <a:ea typeface="Quicksand"/>
                <a:cs typeface="Quicksand"/>
                <a:sym typeface="Quicksand"/>
              </a:rPr>
              <a:t>2</a:t>
            </a:r>
            <a:endParaRPr sz="2100" b="1">
              <a:solidFill>
                <a:schemeClr val="dk2"/>
              </a:solidFill>
              <a:latin typeface="Quicksand"/>
              <a:ea typeface="Quicksand"/>
              <a:cs typeface="Quicksand"/>
              <a:sym typeface="Quicksand"/>
            </a:endParaRPr>
          </a:p>
        </p:txBody>
      </p:sp>
      <p:sp>
        <p:nvSpPr>
          <p:cNvPr id="454" name="Google Shape;454;p41">
            <a:extLst>
              <a:ext uri="{FF2B5EF4-FFF2-40B4-BE49-F238E27FC236}">
                <a16:creationId xmlns:a16="http://schemas.microsoft.com/office/drawing/2014/main" id="{EDCCEABA-EF78-D0C4-38A4-13C08FA7AC02}"/>
              </a:ext>
            </a:extLst>
          </p:cNvPr>
          <p:cNvSpPr txBox="1">
            <a:spLocks noGrp="1"/>
          </p:cNvSpPr>
          <p:nvPr>
            <p:ph type="subTitle" idx="4"/>
          </p:nvPr>
        </p:nvSpPr>
        <p:spPr>
          <a:xfrm>
            <a:off x="1381625" y="1754045"/>
            <a:ext cx="7042500" cy="33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Hipótesis 1</a:t>
            </a:r>
            <a:endParaRPr dirty="0"/>
          </a:p>
        </p:txBody>
      </p:sp>
      <p:sp>
        <p:nvSpPr>
          <p:cNvPr id="455" name="Google Shape;455;p41">
            <a:extLst>
              <a:ext uri="{FF2B5EF4-FFF2-40B4-BE49-F238E27FC236}">
                <a16:creationId xmlns:a16="http://schemas.microsoft.com/office/drawing/2014/main" id="{F73219A8-02CC-DB43-4C79-BF1A2DEF7188}"/>
              </a:ext>
            </a:extLst>
          </p:cNvPr>
          <p:cNvSpPr txBox="1">
            <a:spLocks noGrp="1"/>
          </p:cNvSpPr>
          <p:nvPr>
            <p:ph type="subTitle" idx="5"/>
          </p:nvPr>
        </p:nvSpPr>
        <p:spPr>
          <a:xfrm>
            <a:off x="1381625" y="2874595"/>
            <a:ext cx="7042500" cy="33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Hipótesis 2</a:t>
            </a:r>
            <a:endParaRPr dirty="0"/>
          </a:p>
        </p:txBody>
      </p:sp>
      <p:sp>
        <p:nvSpPr>
          <p:cNvPr id="457" name="Google Shape;457;p41">
            <a:extLst>
              <a:ext uri="{FF2B5EF4-FFF2-40B4-BE49-F238E27FC236}">
                <a16:creationId xmlns:a16="http://schemas.microsoft.com/office/drawing/2014/main" id="{EFCB27A9-0190-C458-E354-57F5674B7D76}"/>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8</a:t>
            </a:fld>
            <a:endParaRPr/>
          </a:p>
        </p:txBody>
      </p:sp>
    </p:spTree>
    <p:extLst>
      <p:ext uri="{BB962C8B-B14F-4D97-AF65-F5344CB8AC3E}">
        <p14:creationId xmlns:p14="http://schemas.microsoft.com/office/powerpoint/2010/main" val="1315950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8">
          <a:extLst>
            <a:ext uri="{FF2B5EF4-FFF2-40B4-BE49-F238E27FC236}">
              <a16:creationId xmlns:a16="http://schemas.microsoft.com/office/drawing/2014/main" id="{51DC6D1F-5FAE-8A91-A3B3-CF4B48F76C3C}"/>
            </a:ext>
          </a:extLst>
        </p:cNvPr>
        <p:cNvGrpSpPr/>
        <p:nvPr/>
      </p:nvGrpSpPr>
      <p:grpSpPr>
        <a:xfrm>
          <a:off x="0" y="0"/>
          <a:ext cx="0" cy="0"/>
          <a:chOff x="0" y="0"/>
          <a:chExt cx="0" cy="0"/>
        </a:xfrm>
      </p:grpSpPr>
      <p:sp>
        <p:nvSpPr>
          <p:cNvPr id="329" name="Google Shape;329;p32">
            <a:extLst>
              <a:ext uri="{FF2B5EF4-FFF2-40B4-BE49-F238E27FC236}">
                <a16:creationId xmlns:a16="http://schemas.microsoft.com/office/drawing/2014/main" id="{87D43A33-4930-D90A-9BB7-757FA0192349}"/>
              </a:ext>
            </a:extLst>
          </p:cNvPr>
          <p:cNvSpPr txBox="1">
            <a:spLocks noGrp="1"/>
          </p:cNvSpPr>
          <p:nvPr>
            <p:ph type="title"/>
          </p:nvPr>
        </p:nvSpPr>
        <p:spPr>
          <a:xfrm>
            <a:off x="3579950" y="1854500"/>
            <a:ext cx="3604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Metodología</a:t>
            </a:r>
            <a:endParaRPr sz="4000" dirty="0"/>
          </a:p>
        </p:txBody>
      </p:sp>
      <p:sp>
        <p:nvSpPr>
          <p:cNvPr id="330" name="Google Shape;330;p32">
            <a:extLst>
              <a:ext uri="{FF2B5EF4-FFF2-40B4-BE49-F238E27FC236}">
                <a16:creationId xmlns:a16="http://schemas.microsoft.com/office/drawing/2014/main" id="{8DB47DEE-E80B-27EA-C32A-A1798DA77EA1}"/>
              </a:ext>
            </a:extLst>
          </p:cNvPr>
          <p:cNvSpPr txBox="1">
            <a:spLocks noGrp="1"/>
          </p:cNvSpPr>
          <p:nvPr>
            <p:ph type="subTitle" idx="1"/>
          </p:nvPr>
        </p:nvSpPr>
        <p:spPr>
          <a:xfrm>
            <a:off x="1959250" y="2939075"/>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Simulación de Datos y Análisis Estadístico</a:t>
            </a:r>
            <a:endParaRPr dirty="0"/>
          </a:p>
        </p:txBody>
      </p:sp>
      <p:sp>
        <p:nvSpPr>
          <p:cNvPr id="331" name="Google Shape;331;p32">
            <a:extLst>
              <a:ext uri="{FF2B5EF4-FFF2-40B4-BE49-F238E27FC236}">
                <a16:creationId xmlns:a16="http://schemas.microsoft.com/office/drawing/2014/main" id="{C50331A3-E79F-AD5A-8892-FD309AB30A29}"/>
              </a:ext>
            </a:extLst>
          </p:cNvPr>
          <p:cNvSpPr txBox="1">
            <a:spLocks noGrp="1"/>
          </p:cNvSpPr>
          <p:nvPr>
            <p:ph type="title" idx="2"/>
          </p:nvPr>
        </p:nvSpPr>
        <p:spPr>
          <a:xfrm>
            <a:off x="1959250" y="1854500"/>
            <a:ext cx="1189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332" name="Google Shape;332;p32">
            <a:extLst>
              <a:ext uri="{FF2B5EF4-FFF2-40B4-BE49-F238E27FC236}">
                <a16:creationId xmlns:a16="http://schemas.microsoft.com/office/drawing/2014/main" id="{5F1CC083-A58F-10EF-B92E-98F4AE90F0DC}"/>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9</a:t>
            </a:fld>
            <a:endParaRPr/>
          </a:p>
        </p:txBody>
      </p:sp>
      <p:cxnSp>
        <p:nvCxnSpPr>
          <p:cNvPr id="333" name="Google Shape;333;p32">
            <a:extLst>
              <a:ext uri="{FF2B5EF4-FFF2-40B4-BE49-F238E27FC236}">
                <a16:creationId xmlns:a16="http://schemas.microsoft.com/office/drawing/2014/main" id="{29DD3F6C-D50F-5649-13F0-E275A78DB7C9}"/>
              </a:ext>
            </a:extLst>
          </p:cNvPr>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a:extLst>
              <a:ext uri="{FF2B5EF4-FFF2-40B4-BE49-F238E27FC236}">
                <a16:creationId xmlns:a16="http://schemas.microsoft.com/office/drawing/2014/main" id="{886A470C-1A7B-3449-F862-79B968FE6B34}"/>
              </a:ext>
            </a:extLst>
          </p:cNvPr>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a:extLst>
              <a:ext uri="{FF2B5EF4-FFF2-40B4-BE49-F238E27FC236}">
                <a16:creationId xmlns:a16="http://schemas.microsoft.com/office/drawing/2014/main" id="{313B10B2-27B2-EEE0-EBDC-255115ECD869}"/>
              </a:ext>
            </a:extLst>
          </p:cNvPr>
          <p:cNvSpPr/>
          <p:nvPr/>
        </p:nvSpPr>
        <p:spPr>
          <a:xfrm>
            <a:off x="32448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a:extLst>
              <a:ext uri="{FF2B5EF4-FFF2-40B4-BE49-F238E27FC236}">
                <a16:creationId xmlns:a16="http://schemas.microsoft.com/office/drawing/2014/main" id="{8E078488-2647-B294-34CB-F080CAD82EA0}"/>
              </a:ext>
            </a:extLst>
          </p:cNvPr>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771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Methodology</a:t>
            </a:r>
            <a:endParaRPr/>
          </a:p>
        </p:txBody>
      </p:sp>
      <p:sp>
        <p:nvSpPr>
          <p:cNvPr id="549" name="Google Shape;549;p47"/>
          <p:cNvSpPr/>
          <p:nvPr/>
        </p:nvSpPr>
        <p:spPr>
          <a:xfrm>
            <a:off x="2383368" y="3954250"/>
            <a:ext cx="585300" cy="5853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47"/>
          <p:cNvSpPr/>
          <p:nvPr/>
        </p:nvSpPr>
        <p:spPr>
          <a:xfrm>
            <a:off x="2383368" y="3035038"/>
            <a:ext cx="585300" cy="5853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7"/>
          <p:cNvSpPr/>
          <p:nvPr/>
        </p:nvSpPr>
        <p:spPr>
          <a:xfrm>
            <a:off x="2383368" y="2112699"/>
            <a:ext cx="585300" cy="5853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7"/>
          <p:cNvSpPr/>
          <p:nvPr/>
        </p:nvSpPr>
        <p:spPr>
          <a:xfrm>
            <a:off x="2383368" y="1192000"/>
            <a:ext cx="585300" cy="5853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7"/>
          <p:cNvSpPr txBox="1"/>
          <p:nvPr/>
        </p:nvSpPr>
        <p:spPr>
          <a:xfrm>
            <a:off x="5254480" y="1125475"/>
            <a:ext cx="3293100" cy="716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200" dirty="0">
                <a:solidFill>
                  <a:schemeClr val="dk1"/>
                </a:solidFill>
                <a:latin typeface="Mulish"/>
                <a:ea typeface="Mulish"/>
                <a:cs typeface="Mulish"/>
                <a:sym typeface="Mulish"/>
              </a:rPr>
              <a:t>Se realizó la simulación de todas las variables de un estudio de Adherencia al Tratamiento</a:t>
            </a:r>
            <a:endParaRPr sz="1200" dirty="0">
              <a:solidFill>
                <a:schemeClr val="dk1"/>
              </a:solidFill>
              <a:latin typeface="Mulish"/>
              <a:ea typeface="Mulish"/>
              <a:cs typeface="Mulish"/>
              <a:sym typeface="Mulish"/>
            </a:endParaRPr>
          </a:p>
        </p:txBody>
      </p:sp>
      <p:sp>
        <p:nvSpPr>
          <p:cNvPr id="554" name="Google Shape;554;p47"/>
          <p:cNvSpPr txBox="1"/>
          <p:nvPr/>
        </p:nvSpPr>
        <p:spPr>
          <a:xfrm>
            <a:off x="5250578" y="2053892"/>
            <a:ext cx="3293100" cy="70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s-ES" sz="1200" dirty="0">
                <a:solidFill>
                  <a:schemeClr val="dk1"/>
                </a:solidFill>
                <a:latin typeface="Mulish"/>
                <a:ea typeface="Mulish"/>
                <a:cs typeface="Mulish"/>
                <a:sym typeface="Mulish"/>
              </a:rPr>
              <a:t>Todos los análisis de exploración y gráficos se realizaron utilizando R Studio</a:t>
            </a:r>
          </a:p>
        </p:txBody>
      </p:sp>
      <p:sp>
        <p:nvSpPr>
          <p:cNvPr id="555" name="Google Shape;555;p47"/>
          <p:cNvSpPr txBox="1"/>
          <p:nvPr/>
        </p:nvSpPr>
        <p:spPr>
          <a:xfrm>
            <a:off x="5250575" y="2973008"/>
            <a:ext cx="3293100" cy="699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s-ES" sz="1200" dirty="0">
                <a:solidFill>
                  <a:schemeClr val="dk1"/>
                </a:solidFill>
                <a:latin typeface="Mulish"/>
                <a:ea typeface="Mulish"/>
                <a:cs typeface="Mulish"/>
                <a:sym typeface="Mulish"/>
              </a:rPr>
              <a:t>Se realizó PS con Emparejamiento y Ponderación, Modelos de Regresión Logística y </a:t>
            </a:r>
            <a:r>
              <a:rPr lang="es-ES" sz="1200" dirty="0" err="1">
                <a:solidFill>
                  <a:schemeClr val="dk1"/>
                </a:solidFill>
                <a:latin typeface="Mulish"/>
                <a:ea typeface="Mulish"/>
                <a:cs typeface="Mulish"/>
                <a:sym typeface="Mulish"/>
              </a:rPr>
              <a:t>Stepwise</a:t>
            </a:r>
            <a:endParaRPr sz="1200" dirty="0">
              <a:solidFill>
                <a:schemeClr val="dk1"/>
              </a:solidFill>
              <a:latin typeface="Mulish"/>
              <a:ea typeface="Mulish"/>
              <a:cs typeface="Mulish"/>
              <a:sym typeface="Mulish"/>
            </a:endParaRPr>
          </a:p>
        </p:txBody>
      </p:sp>
      <p:sp>
        <p:nvSpPr>
          <p:cNvPr id="556" name="Google Shape;556;p47"/>
          <p:cNvSpPr txBox="1"/>
          <p:nvPr/>
        </p:nvSpPr>
        <p:spPr>
          <a:xfrm>
            <a:off x="5254480" y="3885225"/>
            <a:ext cx="3293100" cy="716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200" dirty="0">
                <a:solidFill>
                  <a:schemeClr val="dk1"/>
                </a:solidFill>
                <a:latin typeface="Mulish"/>
                <a:ea typeface="Mulish"/>
                <a:cs typeface="Mulish"/>
                <a:sym typeface="Mulish"/>
              </a:rPr>
              <a:t>Después se compararon los resultados de balance obtenidos y los diferentes modelos</a:t>
            </a:r>
            <a:endParaRPr sz="1200" dirty="0">
              <a:solidFill>
                <a:schemeClr val="dk1"/>
              </a:solidFill>
              <a:latin typeface="Mulish"/>
              <a:ea typeface="Mulish"/>
              <a:cs typeface="Mulish"/>
              <a:sym typeface="Mulish"/>
            </a:endParaRPr>
          </a:p>
        </p:txBody>
      </p:sp>
      <p:sp>
        <p:nvSpPr>
          <p:cNvPr id="557" name="Google Shape;557;p47"/>
          <p:cNvSpPr txBox="1"/>
          <p:nvPr/>
        </p:nvSpPr>
        <p:spPr>
          <a:xfrm>
            <a:off x="218364" y="2586275"/>
            <a:ext cx="1876536" cy="4782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dk2"/>
                </a:solidFill>
                <a:latin typeface="Quicksand"/>
                <a:ea typeface="Quicksand"/>
                <a:cs typeface="Quicksand"/>
                <a:sym typeface="Quicksand"/>
              </a:rPr>
              <a:t>Adherencia al Tratamiento</a:t>
            </a:r>
            <a:endParaRPr sz="2000" b="1" dirty="0">
              <a:solidFill>
                <a:schemeClr val="dk2"/>
              </a:solidFill>
              <a:latin typeface="Quicksand"/>
              <a:ea typeface="Quicksand"/>
              <a:cs typeface="Quicksand"/>
              <a:sym typeface="Quicksand"/>
            </a:endParaRPr>
          </a:p>
        </p:txBody>
      </p:sp>
      <p:cxnSp>
        <p:nvCxnSpPr>
          <p:cNvPr id="558" name="Google Shape;558;p47"/>
          <p:cNvCxnSpPr>
            <a:cxnSpLocks/>
            <a:stCxn id="557" idx="0"/>
            <a:endCxn id="552" idx="2"/>
          </p:cNvCxnSpPr>
          <p:nvPr/>
        </p:nvCxnSpPr>
        <p:spPr>
          <a:xfrm rot="5400000" flipH="1" flipV="1">
            <a:off x="1219188" y="1422095"/>
            <a:ext cx="1101625" cy="1226736"/>
          </a:xfrm>
          <a:prstGeom prst="bentConnector2">
            <a:avLst/>
          </a:prstGeom>
          <a:noFill/>
          <a:ln w="19050" cap="flat" cmpd="sng">
            <a:solidFill>
              <a:schemeClr val="lt1"/>
            </a:solidFill>
            <a:prstDash val="solid"/>
            <a:round/>
            <a:headEnd type="none" w="med" len="med"/>
            <a:tailEnd type="oval" w="med" len="med"/>
          </a:ln>
        </p:spPr>
      </p:cxnSp>
      <p:cxnSp>
        <p:nvCxnSpPr>
          <p:cNvPr id="559" name="Google Shape;559;p47"/>
          <p:cNvCxnSpPr>
            <a:cxnSpLocks/>
            <a:stCxn id="557" idx="2"/>
            <a:endCxn id="549" idx="2"/>
          </p:cNvCxnSpPr>
          <p:nvPr/>
        </p:nvCxnSpPr>
        <p:spPr>
          <a:xfrm rot="16200000" flipH="1">
            <a:off x="1178788" y="3042319"/>
            <a:ext cx="1182425" cy="1226736"/>
          </a:xfrm>
          <a:prstGeom prst="bentConnector2">
            <a:avLst/>
          </a:prstGeom>
          <a:noFill/>
          <a:ln w="19050" cap="flat" cmpd="sng">
            <a:solidFill>
              <a:schemeClr val="lt1"/>
            </a:solidFill>
            <a:prstDash val="solid"/>
            <a:round/>
            <a:headEnd type="none" w="med" len="med"/>
            <a:tailEnd type="oval" w="med" len="med"/>
          </a:ln>
        </p:spPr>
      </p:cxnSp>
      <p:cxnSp>
        <p:nvCxnSpPr>
          <p:cNvPr id="560" name="Google Shape;560;p47"/>
          <p:cNvCxnSpPr>
            <a:cxnSpLocks/>
            <a:stCxn id="557" idx="3"/>
            <a:endCxn id="551" idx="2"/>
          </p:cNvCxnSpPr>
          <p:nvPr/>
        </p:nvCxnSpPr>
        <p:spPr>
          <a:xfrm flipV="1">
            <a:off x="2094900" y="2405349"/>
            <a:ext cx="288468" cy="420026"/>
          </a:xfrm>
          <a:prstGeom prst="bentConnector3">
            <a:avLst>
              <a:gd name="adj1" fmla="val 50000"/>
            </a:avLst>
          </a:prstGeom>
          <a:noFill/>
          <a:ln w="19050" cap="flat" cmpd="sng">
            <a:solidFill>
              <a:schemeClr val="lt1"/>
            </a:solidFill>
            <a:prstDash val="solid"/>
            <a:round/>
            <a:headEnd type="none" w="med" len="med"/>
            <a:tailEnd type="oval" w="med" len="med"/>
          </a:ln>
        </p:spPr>
      </p:cxnSp>
      <p:cxnSp>
        <p:nvCxnSpPr>
          <p:cNvPr id="561" name="Google Shape;561;p47"/>
          <p:cNvCxnSpPr>
            <a:cxnSpLocks/>
            <a:stCxn id="557" idx="3"/>
            <a:endCxn id="550" idx="2"/>
          </p:cNvCxnSpPr>
          <p:nvPr/>
        </p:nvCxnSpPr>
        <p:spPr>
          <a:xfrm>
            <a:off x="2094900" y="2825375"/>
            <a:ext cx="288468" cy="502313"/>
          </a:xfrm>
          <a:prstGeom prst="bentConnector3">
            <a:avLst>
              <a:gd name="adj1" fmla="val 50000"/>
            </a:avLst>
          </a:prstGeom>
          <a:noFill/>
          <a:ln w="19050" cap="flat" cmpd="sng">
            <a:solidFill>
              <a:schemeClr val="lt1"/>
            </a:solidFill>
            <a:prstDash val="solid"/>
            <a:round/>
            <a:headEnd type="none" w="med" len="med"/>
            <a:tailEnd type="oval" w="med" len="med"/>
          </a:ln>
        </p:spPr>
      </p:cxnSp>
      <p:sp>
        <p:nvSpPr>
          <p:cNvPr id="562" name="Google Shape;562;p47"/>
          <p:cNvSpPr txBox="1"/>
          <p:nvPr/>
        </p:nvSpPr>
        <p:spPr>
          <a:xfrm>
            <a:off x="3030624" y="1204075"/>
            <a:ext cx="1946100" cy="55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dirty="0">
                <a:solidFill>
                  <a:schemeClr val="dk2"/>
                </a:solidFill>
                <a:latin typeface="Quicksand"/>
                <a:ea typeface="Quicksand"/>
                <a:cs typeface="Quicksand"/>
                <a:sym typeface="Quicksand"/>
              </a:rPr>
              <a:t>Datos Simulados</a:t>
            </a:r>
            <a:endParaRPr sz="1800" b="1" dirty="0">
              <a:solidFill>
                <a:schemeClr val="dk2"/>
              </a:solidFill>
              <a:latin typeface="Quicksand"/>
              <a:ea typeface="Quicksand"/>
              <a:cs typeface="Quicksand"/>
              <a:sym typeface="Quicksand"/>
            </a:endParaRPr>
          </a:p>
        </p:txBody>
      </p:sp>
      <p:sp>
        <p:nvSpPr>
          <p:cNvPr id="563" name="Google Shape;563;p47"/>
          <p:cNvSpPr txBox="1"/>
          <p:nvPr/>
        </p:nvSpPr>
        <p:spPr>
          <a:xfrm>
            <a:off x="3030624" y="2127842"/>
            <a:ext cx="1946100" cy="55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s-ES" sz="1800" b="1" dirty="0" err="1">
                <a:solidFill>
                  <a:schemeClr val="dk2"/>
                </a:solidFill>
                <a:latin typeface="Quicksand"/>
                <a:ea typeface="Quicksand"/>
                <a:cs typeface="Quicksand"/>
                <a:sym typeface="Quicksand"/>
              </a:rPr>
              <a:t>RStudio</a:t>
            </a:r>
            <a:endParaRPr lang="es-ES" sz="1800" b="1" dirty="0">
              <a:solidFill>
                <a:schemeClr val="dk2"/>
              </a:solidFill>
              <a:latin typeface="Quicksand"/>
              <a:ea typeface="Quicksand"/>
              <a:cs typeface="Quicksand"/>
              <a:sym typeface="Quicksand"/>
            </a:endParaRPr>
          </a:p>
        </p:txBody>
      </p:sp>
      <p:sp>
        <p:nvSpPr>
          <p:cNvPr id="564" name="Google Shape;564;p47"/>
          <p:cNvSpPr txBox="1"/>
          <p:nvPr/>
        </p:nvSpPr>
        <p:spPr>
          <a:xfrm>
            <a:off x="3030624" y="3043508"/>
            <a:ext cx="1946100" cy="55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s-ES" sz="1800" b="1" dirty="0">
                <a:solidFill>
                  <a:schemeClr val="dk2"/>
                </a:solidFill>
                <a:latin typeface="Quicksand"/>
                <a:ea typeface="Quicksand"/>
                <a:cs typeface="Quicksand"/>
                <a:sym typeface="Quicksand"/>
              </a:rPr>
              <a:t>PS y Modelos de Regresión</a:t>
            </a:r>
            <a:endParaRPr sz="1800" b="1" dirty="0">
              <a:solidFill>
                <a:schemeClr val="dk2"/>
              </a:solidFill>
              <a:latin typeface="Quicksand"/>
              <a:ea typeface="Quicksand"/>
              <a:cs typeface="Quicksand"/>
              <a:sym typeface="Quicksand"/>
            </a:endParaRPr>
          </a:p>
        </p:txBody>
      </p:sp>
      <p:sp>
        <p:nvSpPr>
          <p:cNvPr id="565" name="Google Shape;565;p47"/>
          <p:cNvSpPr txBox="1"/>
          <p:nvPr/>
        </p:nvSpPr>
        <p:spPr>
          <a:xfrm>
            <a:off x="3030624" y="3963825"/>
            <a:ext cx="1946100" cy="55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dirty="0">
                <a:solidFill>
                  <a:schemeClr val="dk2"/>
                </a:solidFill>
                <a:latin typeface="Quicksand"/>
                <a:ea typeface="Quicksand"/>
                <a:cs typeface="Quicksand"/>
                <a:sym typeface="Quicksand"/>
              </a:rPr>
              <a:t>Comparación de Resultados</a:t>
            </a:r>
            <a:endParaRPr sz="1800" b="1" dirty="0">
              <a:solidFill>
                <a:schemeClr val="dk2"/>
              </a:solidFill>
              <a:latin typeface="Quicksand"/>
              <a:ea typeface="Quicksand"/>
              <a:cs typeface="Quicksand"/>
              <a:sym typeface="Quicksand"/>
            </a:endParaRPr>
          </a:p>
        </p:txBody>
      </p:sp>
      <p:sp>
        <p:nvSpPr>
          <p:cNvPr id="566" name="Google Shape;566;p47"/>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10</a:t>
            </a:fld>
            <a:endParaRPr/>
          </a:p>
        </p:txBody>
      </p:sp>
      <p:cxnSp>
        <p:nvCxnSpPr>
          <p:cNvPr id="567" name="Google Shape;567;p47"/>
          <p:cNvCxnSpPr>
            <a:stCxn id="562" idx="3"/>
            <a:endCxn id="553" idx="1"/>
          </p:cNvCxnSpPr>
          <p:nvPr/>
        </p:nvCxnSpPr>
        <p:spPr>
          <a:xfrm>
            <a:off x="4976724" y="1483525"/>
            <a:ext cx="277800" cy="600"/>
          </a:xfrm>
          <a:prstGeom prst="bentConnector3">
            <a:avLst>
              <a:gd name="adj1" fmla="val 49992"/>
            </a:avLst>
          </a:prstGeom>
          <a:noFill/>
          <a:ln w="19050" cap="flat" cmpd="sng">
            <a:solidFill>
              <a:schemeClr val="lt1"/>
            </a:solidFill>
            <a:prstDash val="solid"/>
            <a:round/>
            <a:headEnd type="none" w="med" len="med"/>
            <a:tailEnd type="oval" w="med" len="med"/>
          </a:ln>
        </p:spPr>
      </p:cxnSp>
      <p:cxnSp>
        <p:nvCxnSpPr>
          <p:cNvPr id="568" name="Google Shape;568;p47"/>
          <p:cNvCxnSpPr>
            <a:stCxn id="563" idx="3"/>
            <a:endCxn id="554" idx="1"/>
          </p:cNvCxnSpPr>
          <p:nvPr/>
        </p:nvCxnSpPr>
        <p:spPr>
          <a:xfrm>
            <a:off x="4976724" y="2407292"/>
            <a:ext cx="273900" cy="600"/>
          </a:xfrm>
          <a:prstGeom prst="bentConnector3">
            <a:avLst>
              <a:gd name="adj1" fmla="val 49992"/>
            </a:avLst>
          </a:prstGeom>
          <a:noFill/>
          <a:ln w="19050" cap="flat" cmpd="sng">
            <a:solidFill>
              <a:schemeClr val="lt1"/>
            </a:solidFill>
            <a:prstDash val="solid"/>
            <a:round/>
            <a:headEnd type="none" w="med" len="med"/>
            <a:tailEnd type="oval" w="med" len="med"/>
          </a:ln>
        </p:spPr>
      </p:cxnSp>
      <p:cxnSp>
        <p:nvCxnSpPr>
          <p:cNvPr id="569" name="Google Shape;569;p47"/>
          <p:cNvCxnSpPr>
            <a:stCxn id="564" idx="3"/>
            <a:endCxn id="555" idx="1"/>
          </p:cNvCxnSpPr>
          <p:nvPr/>
        </p:nvCxnSpPr>
        <p:spPr>
          <a:xfrm>
            <a:off x="4976724" y="3322958"/>
            <a:ext cx="273900" cy="600"/>
          </a:xfrm>
          <a:prstGeom prst="bentConnector3">
            <a:avLst>
              <a:gd name="adj1" fmla="val 49991"/>
            </a:avLst>
          </a:prstGeom>
          <a:noFill/>
          <a:ln w="19050" cap="flat" cmpd="sng">
            <a:solidFill>
              <a:schemeClr val="lt1"/>
            </a:solidFill>
            <a:prstDash val="solid"/>
            <a:round/>
            <a:headEnd type="none" w="med" len="med"/>
            <a:tailEnd type="oval" w="med" len="med"/>
          </a:ln>
        </p:spPr>
      </p:cxnSp>
      <p:cxnSp>
        <p:nvCxnSpPr>
          <p:cNvPr id="570" name="Google Shape;570;p47"/>
          <p:cNvCxnSpPr>
            <a:stCxn id="565" idx="3"/>
            <a:endCxn id="556" idx="1"/>
          </p:cNvCxnSpPr>
          <p:nvPr/>
        </p:nvCxnSpPr>
        <p:spPr>
          <a:xfrm>
            <a:off x="4976724" y="4243275"/>
            <a:ext cx="277800" cy="600"/>
          </a:xfrm>
          <a:prstGeom prst="bentConnector3">
            <a:avLst>
              <a:gd name="adj1" fmla="val 49992"/>
            </a:avLst>
          </a:prstGeom>
          <a:noFill/>
          <a:ln w="19050" cap="flat" cmpd="sng">
            <a:solidFill>
              <a:schemeClr val="lt1"/>
            </a:solidFill>
            <a:prstDash val="solid"/>
            <a:round/>
            <a:headEnd type="none" w="med" len="med"/>
            <a:tailEnd type="oval" w="med" len="med"/>
          </a:ln>
        </p:spPr>
      </p:cxnSp>
      <p:sp>
        <p:nvSpPr>
          <p:cNvPr id="571" name="Google Shape;571;p47"/>
          <p:cNvSpPr/>
          <p:nvPr/>
        </p:nvSpPr>
        <p:spPr>
          <a:xfrm>
            <a:off x="2485416" y="1328417"/>
            <a:ext cx="381209" cy="312466"/>
          </a:xfrm>
          <a:custGeom>
            <a:avLst/>
            <a:gdLst/>
            <a:ahLst/>
            <a:cxnLst/>
            <a:rect l="l" t="t" r="r" b="b"/>
            <a:pathLst>
              <a:path w="11967" h="9809" extrusionOk="0">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2" name="Google Shape;572;p47"/>
          <p:cNvGrpSpPr/>
          <p:nvPr/>
        </p:nvGrpSpPr>
        <p:grpSpPr>
          <a:xfrm>
            <a:off x="2540413" y="3134580"/>
            <a:ext cx="271213" cy="383088"/>
            <a:chOff x="1333682" y="3344330"/>
            <a:chExt cx="271213" cy="383088"/>
          </a:xfrm>
        </p:grpSpPr>
        <p:sp>
          <p:nvSpPr>
            <p:cNvPr id="573" name="Google Shape;573;p47"/>
            <p:cNvSpPr/>
            <p:nvPr/>
          </p:nvSpPr>
          <p:spPr>
            <a:xfrm>
              <a:off x="1334065" y="3377332"/>
              <a:ext cx="270831" cy="350086"/>
            </a:xfrm>
            <a:custGeom>
              <a:avLst/>
              <a:gdLst/>
              <a:ahLst/>
              <a:cxnLst/>
              <a:rect l="l" t="t" r="r" b="b"/>
              <a:pathLst>
                <a:path w="8502" h="10990" extrusionOk="0">
                  <a:moveTo>
                    <a:pt x="6502" y="0"/>
                  </a:moveTo>
                  <a:cubicBezTo>
                    <a:pt x="6406" y="0"/>
                    <a:pt x="6323" y="84"/>
                    <a:pt x="6323" y="191"/>
                  </a:cubicBezTo>
                  <a:cubicBezTo>
                    <a:pt x="6323" y="286"/>
                    <a:pt x="6406" y="369"/>
                    <a:pt x="6502" y="369"/>
                  </a:cubicBezTo>
                  <a:lnTo>
                    <a:pt x="7276" y="369"/>
                  </a:lnTo>
                  <a:cubicBezTo>
                    <a:pt x="7383" y="369"/>
                    <a:pt x="7454" y="441"/>
                    <a:pt x="7454" y="548"/>
                  </a:cubicBezTo>
                  <a:lnTo>
                    <a:pt x="7454" y="9490"/>
                  </a:lnTo>
                  <a:cubicBezTo>
                    <a:pt x="7454" y="9597"/>
                    <a:pt x="7383" y="9668"/>
                    <a:pt x="7276" y="9668"/>
                  </a:cubicBezTo>
                  <a:lnTo>
                    <a:pt x="537" y="9668"/>
                  </a:lnTo>
                  <a:cubicBezTo>
                    <a:pt x="429" y="9668"/>
                    <a:pt x="358" y="9597"/>
                    <a:pt x="358" y="9490"/>
                  </a:cubicBezTo>
                  <a:lnTo>
                    <a:pt x="358" y="8775"/>
                  </a:lnTo>
                  <a:cubicBezTo>
                    <a:pt x="358" y="8668"/>
                    <a:pt x="287" y="8597"/>
                    <a:pt x="179" y="8597"/>
                  </a:cubicBezTo>
                  <a:cubicBezTo>
                    <a:pt x="72" y="8597"/>
                    <a:pt x="1" y="8668"/>
                    <a:pt x="1" y="8775"/>
                  </a:cubicBezTo>
                  <a:lnTo>
                    <a:pt x="1" y="9490"/>
                  </a:lnTo>
                  <a:cubicBezTo>
                    <a:pt x="1" y="9787"/>
                    <a:pt x="239" y="10013"/>
                    <a:pt x="525" y="10013"/>
                  </a:cubicBezTo>
                  <a:lnTo>
                    <a:pt x="703" y="10013"/>
                  </a:lnTo>
                  <a:lnTo>
                    <a:pt x="703" y="10466"/>
                  </a:lnTo>
                  <a:cubicBezTo>
                    <a:pt x="703" y="10763"/>
                    <a:pt x="941" y="10990"/>
                    <a:pt x="1227" y="10990"/>
                  </a:cubicBezTo>
                  <a:lnTo>
                    <a:pt x="7966" y="10990"/>
                  </a:lnTo>
                  <a:cubicBezTo>
                    <a:pt x="8264" y="10990"/>
                    <a:pt x="8490" y="10752"/>
                    <a:pt x="8490" y="10466"/>
                  </a:cubicBezTo>
                  <a:lnTo>
                    <a:pt x="8490" y="10252"/>
                  </a:lnTo>
                  <a:cubicBezTo>
                    <a:pt x="8490" y="10144"/>
                    <a:pt x="8407" y="10073"/>
                    <a:pt x="8311" y="10073"/>
                  </a:cubicBezTo>
                  <a:cubicBezTo>
                    <a:pt x="8204" y="10073"/>
                    <a:pt x="8133" y="10144"/>
                    <a:pt x="8133" y="10252"/>
                  </a:cubicBezTo>
                  <a:lnTo>
                    <a:pt x="8133" y="10466"/>
                  </a:lnTo>
                  <a:cubicBezTo>
                    <a:pt x="8133" y="10573"/>
                    <a:pt x="8049" y="10644"/>
                    <a:pt x="7954" y="10644"/>
                  </a:cubicBezTo>
                  <a:lnTo>
                    <a:pt x="1203" y="10644"/>
                  </a:lnTo>
                  <a:cubicBezTo>
                    <a:pt x="1108" y="10644"/>
                    <a:pt x="1025" y="10573"/>
                    <a:pt x="1025" y="10466"/>
                  </a:cubicBezTo>
                  <a:lnTo>
                    <a:pt x="1025" y="10013"/>
                  </a:lnTo>
                  <a:lnTo>
                    <a:pt x="7264" y="10013"/>
                  </a:lnTo>
                  <a:cubicBezTo>
                    <a:pt x="7561" y="10013"/>
                    <a:pt x="7788" y="9775"/>
                    <a:pt x="7788" y="9490"/>
                  </a:cubicBezTo>
                  <a:lnTo>
                    <a:pt x="7788" y="1358"/>
                  </a:lnTo>
                  <a:lnTo>
                    <a:pt x="7966" y="1358"/>
                  </a:lnTo>
                  <a:cubicBezTo>
                    <a:pt x="8061" y="1358"/>
                    <a:pt x="8145" y="1441"/>
                    <a:pt x="8145" y="1536"/>
                  </a:cubicBezTo>
                  <a:lnTo>
                    <a:pt x="8145" y="9501"/>
                  </a:lnTo>
                  <a:cubicBezTo>
                    <a:pt x="8145" y="9573"/>
                    <a:pt x="8228" y="9656"/>
                    <a:pt x="8323" y="9656"/>
                  </a:cubicBezTo>
                  <a:cubicBezTo>
                    <a:pt x="8430" y="9656"/>
                    <a:pt x="8502" y="9573"/>
                    <a:pt x="8502" y="9478"/>
                  </a:cubicBezTo>
                  <a:lnTo>
                    <a:pt x="8502" y="1512"/>
                  </a:lnTo>
                  <a:cubicBezTo>
                    <a:pt x="8502" y="1215"/>
                    <a:pt x="8264" y="988"/>
                    <a:pt x="7978" y="988"/>
                  </a:cubicBezTo>
                  <a:lnTo>
                    <a:pt x="7799" y="988"/>
                  </a:lnTo>
                  <a:lnTo>
                    <a:pt x="7799" y="524"/>
                  </a:lnTo>
                  <a:cubicBezTo>
                    <a:pt x="7799" y="226"/>
                    <a:pt x="7561" y="0"/>
                    <a:pt x="7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7"/>
            <p:cNvSpPr/>
            <p:nvPr/>
          </p:nvSpPr>
          <p:spPr>
            <a:xfrm>
              <a:off x="1333682" y="3344330"/>
              <a:ext cx="189697" cy="292461"/>
            </a:xfrm>
            <a:custGeom>
              <a:avLst/>
              <a:gdLst/>
              <a:ahLst/>
              <a:cxnLst/>
              <a:rect l="l" t="t" r="r" b="b"/>
              <a:pathLst>
                <a:path w="5955" h="9181" extrusionOk="0">
                  <a:moveTo>
                    <a:pt x="2430" y="370"/>
                  </a:moveTo>
                  <a:cubicBezTo>
                    <a:pt x="2489" y="370"/>
                    <a:pt x="2549" y="429"/>
                    <a:pt x="2549" y="489"/>
                  </a:cubicBezTo>
                  <a:lnTo>
                    <a:pt x="2549" y="727"/>
                  </a:lnTo>
                  <a:lnTo>
                    <a:pt x="1858" y="727"/>
                  </a:lnTo>
                  <a:lnTo>
                    <a:pt x="1858" y="489"/>
                  </a:lnTo>
                  <a:cubicBezTo>
                    <a:pt x="1858" y="429"/>
                    <a:pt x="1918" y="370"/>
                    <a:pt x="1977" y="370"/>
                  </a:cubicBezTo>
                  <a:close/>
                  <a:moveTo>
                    <a:pt x="3037" y="1072"/>
                  </a:moveTo>
                  <a:cubicBezTo>
                    <a:pt x="3120" y="1072"/>
                    <a:pt x="3216" y="1143"/>
                    <a:pt x="3216" y="1251"/>
                  </a:cubicBezTo>
                  <a:lnTo>
                    <a:pt x="3216" y="1953"/>
                  </a:lnTo>
                  <a:lnTo>
                    <a:pt x="1215" y="1953"/>
                  </a:lnTo>
                  <a:lnTo>
                    <a:pt x="1215" y="1251"/>
                  </a:lnTo>
                  <a:cubicBezTo>
                    <a:pt x="1203" y="1167"/>
                    <a:pt x="1299" y="1072"/>
                    <a:pt x="1382" y="1072"/>
                  </a:cubicBezTo>
                  <a:close/>
                  <a:moveTo>
                    <a:pt x="1977" y="0"/>
                  </a:moveTo>
                  <a:cubicBezTo>
                    <a:pt x="1727" y="0"/>
                    <a:pt x="1501" y="203"/>
                    <a:pt x="1501" y="477"/>
                  </a:cubicBezTo>
                  <a:lnTo>
                    <a:pt x="1501" y="715"/>
                  </a:lnTo>
                  <a:lnTo>
                    <a:pt x="1370" y="715"/>
                  </a:lnTo>
                  <a:cubicBezTo>
                    <a:pt x="1156" y="715"/>
                    <a:pt x="977" y="834"/>
                    <a:pt x="894" y="1012"/>
                  </a:cubicBezTo>
                  <a:lnTo>
                    <a:pt x="525" y="1012"/>
                  </a:lnTo>
                  <a:cubicBezTo>
                    <a:pt x="227" y="1012"/>
                    <a:pt x="1" y="1251"/>
                    <a:pt x="1" y="1536"/>
                  </a:cubicBezTo>
                  <a:lnTo>
                    <a:pt x="1" y="8990"/>
                  </a:lnTo>
                  <a:cubicBezTo>
                    <a:pt x="13" y="9109"/>
                    <a:pt x="84" y="9180"/>
                    <a:pt x="191" y="9180"/>
                  </a:cubicBezTo>
                  <a:cubicBezTo>
                    <a:pt x="299" y="9180"/>
                    <a:pt x="370" y="9109"/>
                    <a:pt x="370" y="9002"/>
                  </a:cubicBezTo>
                  <a:lnTo>
                    <a:pt x="370" y="1548"/>
                  </a:lnTo>
                  <a:cubicBezTo>
                    <a:pt x="370" y="1441"/>
                    <a:pt x="441" y="1370"/>
                    <a:pt x="549" y="1370"/>
                  </a:cubicBezTo>
                  <a:lnTo>
                    <a:pt x="858" y="1370"/>
                  </a:lnTo>
                  <a:lnTo>
                    <a:pt x="858" y="1965"/>
                  </a:lnTo>
                  <a:cubicBezTo>
                    <a:pt x="858" y="2144"/>
                    <a:pt x="1013" y="2310"/>
                    <a:pt x="1203" y="2310"/>
                  </a:cubicBezTo>
                  <a:lnTo>
                    <a:pt x="3228" y="2310"/>
                  </a:lnTo>
                  <a:cubicBezTo>
                    <a:pt x="3406" y="2310"/>
                    <a:pt x="3573" y="2155"/>
                    <a:pt x="3573" y="1965"/>
                  </a:cubicBezTo>
                  <a:lnTo>
                    <a:pt x="3573" y="1370"/>
                  </a:lnTo>
                  <a:lnTo>
                    <a:pt x="5775" y="1370"/>
                  </a:lnTo>
                  <a:cubicBezTo>
                    <a:pt x="5883" y="1370"/>
                    <a:pt x="5954" y="1298"/>
                    <a:pt x="5954" y="1191"/>
                  </a:cubicBezTo>
                  <a:cubicBezTo>
                    <a:pt x="5954" y="1084"/>
                    <a:pt x="5883" y="1012"/>
                    <a:pt x="5775" y="1012"/>
                  </a:cubicBezTo>
                  <a:lnTo>
                    <a:pt x="3513" y="1012"/>
                  </a:lnTo>
                  <a:cubicBezTo>
                    <a:pt x="3418" y="834"/>
                    <a:pt x="3239" y="715"/>
                    <a:pt x="3037" y="715"/>
                  </a:cubicBezTo>
                  <a:lnTo>
                    <a:pt x="2906" y="715"/>
                  </a:lnTo>
                  <a:lnTo>
                    <a:pt x="2906" y="477"/>
                  </a:lnTo>
                  <a:cubicBezTo>
                    <a:pt x="2906" y="227"/>
                    <a:pt x="2692" y="0"/>
                    <a:pt x="24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7"/>
            <p:cNvSpPr/>
            <p:nvPr/>
          </p:nvSpPr>
          <p:spPr>
            <a:xfrm>
              <a:off x="1444060" y="3469488"/>
              <a:ext cx="100917" cy="11404"/>
            </a:xfrm>
            <a:custGeom>
              <a:avLst/>
              <a:gdLst/>
              <a:ahLst/>
              <a:cxnLst/>
              <a:rect l="l" t="t" r="r" b="b"/>
              <a:pathLst>
                <a:path w="3168" h="358" extrusionOk="0">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7"/>
            <p:cNvSpPr/>
            <p:nvPr/>
          </p:nvSpPr>
          <p:spPr>
            <a:xfrm>
              <a:off x="1444060" y="3493762"/>
              <a:ext cx="100917" cy="11404"/>
            </a:xfrm>
            <a:custGeom>
              <a:avLst/>
              <a:gdLst/>
              <a:ahLst/>
              <a:cxnLst/>
              <a:rect l="l" t="t" r="r" b="b"/>
              <a:pathLst>
                <a:path w="3168" h="358" extrusionOk="0">
                  <a:moveTo>
                    <a:pt x="179" y="0"/>
                  </a:moveTo>
                  <a:cubicBezTo>
                    <a:pt x="72" y="0"/>
                    <a:pt x="1" y="72"/>
                    <a:pt x="1" y="179"/>
                  </a:cubicBezTo>
                  <a:cubicBezTo>
                    <a:pt x="1" y="286"/>
                    <a:pt x="72" y="358"/>
                    <a:pt x="179" y="358"/>
                  </a:cubicBezTo>
                  <a:lnTo>
                    <a:pt x="2989" y="358"/>
                  </a:lnTo>
                  <a:cubicBezTo>
                    <a:pt x="3096" y="358"/>
                    <a:pt x="3168" y="286"/>
                    <a:pt x="3168" y="179"/>
                  </a:cubicBezTo>
                  <a:cubicBezTo>
                    <a:pt x="3168" y="72"/>
                    <a:pt x="3084" y="0"/>
                    <a:pt x="29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7"/>
            <p:cNvSpPr/>
            <p:nvPr/>
          </p:nvSpPr>
          <p:spPr>
            <a:xfrm>
              <a:off x="1444060" y="3541927"/>
              <a:ext cx="100917" cy="11404"/>
            </a:xfrm>
            <a:custGeom>
              <a:avLst/>
              <a:gdLst/>
              <a:ahLst/>
              <a:cxnLst/>
              <a:rect l="l" t="t" r="r" b="b"/>
              <a:pathLst>
                <a:path w="3168" h="358" extrusionOk="0">
                  <a:moveTo>
                    <a:pt x="179" y="1"/>
                  </a:moveTo>
                  <a:cubicBezTo>
                    <a:pt x="72" y="1"/>
                    <a:pt x="1" y="84"/>
                    <a:pt x="1" y="179"/>
                  </a:cubicBezTo>
                  <a:cubicBezTo>
                    <a:pt x="1" y="286"/>
                    <a:pt x="72" y="358"/>
                    <a:pt x="179" y="358"/>
                  </a:cubicBezTo>
                  <a:lnTo>
                    <a:pt x="2989" y="358"/>
                  </a:lnTo>
                  <a:cubicBezTo>
                    <a:pt x="3096" y="358"/>
                    <a:pt x="3168" y="286"/>
                    <a:pt x="3168" y="179"/>
                  </a:cubicBezTo>
                  <a:cubicBezTo>
                    <a:pt x="3168" y="84"/>
                    <a:pt x="3084" y="1"/>
                    <a:pt x="29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7"/>
            <p:cNvSpPr/>
            <p:nvPr/>
          </p:nvSpPr>
          <p:spPr>
            <a:xfrm>
              <a:off x="1444060" y="3565818"/>
              <a:ext cx="100917" cy="11404"/>
            </a:xfrm>
            <a:custGeom>
              <a:avLst/>
              <a:gdLst/>
              <a:ahLst/>
              <a:cxnLst/>
              <a:rect l="l" t="t" r="r" b="b"/>
              <a:pathLst>
                <a:path w="3168" h="358" extrusionOk="0">
                  <a:moveTo>
                    <a:pt x="179" y="1"/>
                  </a:moveTo>
                  <a:cubicBezTo>
                    <a:pt x="72" y="1"/>
                    <a:pt x="1" y="72"/>
                    <a:pt x="1" y="179"/>
                  </a:cubicBezTo>
                  <a:cubicBezTo>
                    <a:pt x="1" y="286"/>
                    <a:pt x="72" y="358"/>
                    <a:pt x="179" y="358"/>
                  </a:cubicBezTo>
                  <a:lnTo>
                    <a:pt x="2989" y="358"/>
                  </a:lnTo>
                  <a:cubicBezTo>
                    <a:pt x="3096" y="358"/>
                    <a:pt x="3168" y="286"/>
                    <a:pt x="3168" y="179"/>
                  </a:cubicBezTo>
                  <a:cubicBezTo>
                    <a:pt x="3168" y="72"/>
                    <a:pt x="3084" y="1"/>
                    <a:pt x="29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7"/>
            <p:cNvSpPr/>
            <p:nvPr/>
          </p:nvSpPr>
          <p:spPr>
            <a:xfrm>
              <a:off x="1444060" y="3614747"/>
              <a:ext cx="100917" cy="11404"/>
            </a:xfrm>
            <a:custGeom>
              <a:avLst/>
              <a:gdLst/>
              <a:ahLst/>
              <a:cxnLst/>
              <a:rect l="l" t="t" r="r" b="b"/>
              <a:pathLst>
                <a:path w="3168" h="358" extrusionOk="0">
                  <a:moveTo>
                    <a:pt x="179" y="1"/>
                  </a:moveTo>
                  <a:cubicBezTo>
                    <a:pt x="72" y="1"/>
                    <a:pt x="1" y="72"/>
                    <a:pt x="1" y="179"/>
                  </a:cubicBezTo>
                  <a:cubicBezTo>
                    <a:pt x="1" y="274"/>
                    <a:pt x="72" y="358"/>
                    <a:pt x="179" y="358"/>
                  </a:cubicBezTo>
                  <a:lnTo>
                    <a:pt x="2989" y="358"/>
                  </a:lnTo>
                  <a:cubicBezTo>
                    <a:pt x="3096" y="358"/>
                    <a:pt x="3168" y="274"/>
                    <a:pt x="3168" y="179"/>
                  </a:cubicBezTo>
                  <a:cubicBezTo>
                    <a:pt x="3168" y="72"/>
                    <a:pt x="3084" y="1"/>
                    <a:pt x="29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7"/>
            <p:cNvSpPr/>
            <p:nvPr/>
          </p:nvSpPr>
          <p:spPr>
            <a:xfrm>
              <a:off x="1444060" y="3638256"/>
              <a:ext cx="100917" cy="11404"/>
            </a:xfrm>
            <a:custGeom>
              <a:avLst/>
              <a:gdLst/>
              <a:ahLst/>
              <a:cxnLst/>
              <a:rect l="l" t="t" r="r" b="b"/>
              <a:pathLst>
                <a:path w="3168" h="358" extrusionOk="0">
                  <a:moveTo>
                    <a:pt x="179" y="1"/>
                  </a:moveTo>
                  <a:cubicBezTo>
                    <a:pt x="72" y="1"/>
                    <a:pt x="1" y="72"/>
                    <a:pt x="1" y="179"/>
                  </a:cubicBezTo>
                  <a:cubicBezTo>
                    <a:pt x="1" y="287"/>
                    <a:pt x="72" y="358"/>
                    <a:pt x="179" y="358"/>
                  </a:cubicBezTo>
                  <a:lnTo>
                    <a:pt x="2989" y="358"/>
                  </a:lnTo>
                  <a:cubicBezTo>
                    <a:pt x="3096" y="358"/>
                    <a:pt x="3168" y="287"/>
                    <a:pt x="3168" y="179"/>
                  </a:cubicBezTo>
                  <a:cubicBezTo>
                    <a:pt x="3168" y="72"/>
                    <a:pt x="3084" y="1"/>
                    <a:pt x="29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7"/>
            <p:cNvSpPr/>
            <p:nvPr/>
          </p:nvSpPr>
          <p:spPr>
            <a:xfrm>
              <a:off x="1371622" y="3459454"/>
              <a:ext cx="70208" cy="57084"/>
            </a:xfrm>
            <a:custGeom>
              <a:avLst/>
              <a:gdLst/>
              <a:ahLst/>
              <a:cxnLst/>
              <a:rect l="l" t="t" r="r" b="b"/>
              <a:pathLst>
                <a:path w="2204" h="1792" extrusionOk="0">
                  <a:moveTo>
                    <a:pt x="1417" y="387"/>
                  </a:moveTo>
                  <a:lnTo>
                    <a:pt x="1417" y="470"/>
                  </a:lnTo>
                  <a:lnTo>
                    <a:pt x="1072" y="768"/>
                  </a:lnTo>
                  <a:lnTo>
                    <a:pt x="905" y="589"/>
                  </a:lnTo>
                  <a:cubicBezTo>
                    <a:pt x="873" y="544"/>
                    <a:pt x="823" y="523"/>
                    <a:pt x="773" y="523"/>
                  </a:cubicBezTo>
                  <a:cubicBezTo>
                    <a:pt x="731" y="523"/>
                    <a:pt x="688" y="538"/>
                    <a:pt x="655" y="566"/>
                  </a:cubicBezTo>
                  <a:cubicBezTo>
                    <a:pt x="584" y="625"/>
                    <a:pt x="584" y="744"/>
                    <a:pt x="632" y="827"/>
                  </a:cubicBezTo>
                  <a:lnTo>
                    <a:pt x="917" y="1125"/>
                  </a:lnTo>
                  <a:cubicBezTo>
                    <a:pt x="953" y="1161"/>
                    <a:pt x="989" y="1185"/>
                    <a:pt x="1048" y="1185"/>
                  </a:cubicBezTo>
                  <a:cubicBezTo>
                    <a:pt x="1096" y="1185"/>
                    <a:pt x="1132" y="1161"/>
                    <a:pt x="1167" y="1137"/>
                  </a:cubicBezTo>
                  <a:lnTo>
                    <a:pt x="1429" y="923"/>
                  </a:lnTo>
                  <a:lnTo>
                    <a:pt x="1417" y="1447"/>
                  </a:lnTo>
                  <a:lnTo>
                    <a:pt x="358" y="1447"/>
                  </a:lnTo>
                  <a:lnTo>
                    <a:pt x="358" y="387"/>
                  </a:lnTo>
                  <a:close/>
                  <a:moveTo>
                    <a:pt x="2007" y="1"/>
                  </a:moveTo>
                  <a:cubicBezTo>
                    <a:pt x="1966" y="1"/>
                    <a:pt x="1925" y="17"/>
                    <a:pt x="1894" y="54"/>
                  </a:cubicBezTo>
                  <a:lnTo>
                    <a:pt x="1727" y="185"/>
                  </a:lnTo>
                  <a:cubicBezTo>
                    <a:pt x="1679" y="89"/>
                    <a:pt x="1596" y="30"/>
                    <a:pt x="1489" y="30"/>
                  </a:cubicBezTo>
                  <a:lnTo>
                    <a:pt x="263" y="30"/>
                  </a:lnTo>
                  <a:cubicBezTo>
                    <a:pt x="120" y="30"/>
                    <a:pt x="1" y="149"/>
                    <a:pt x="1" y="304"/>
                  </a:cubicBezTo>
                  <a:lnTo>
                    <a:pt x="1" y="1518"/>
                  </a:lnTo>
                  <a:cubicBezTo>
                    <a:pt x="1" y="1673"/>
                    <a:pt x="120" y="1792"/>
                    <a:pt x="263" y="1792"/>
                  </a:cubicBezTo>
                  <a:lnTo>
                    <a:pt x="1489" y="1792"/>
                  </a:lnTo>
                  <a:cubicBezTo>
                    <a:pt x="1632" y="1792"/>
                    <a:pt x="1751" y="1673"/>
                    <a:pt x="1751" y="1518"/>
                  </a:cubicBezTo>
                  <a:lnTo>
                    <a:pt x="1751" y="613"/>
                  </a:lnTo>
                  <a:lnTo>
                    <a:pt x="2108" y="304"/>
                  </a:lnTo>
                  <a:cubicBezTo>
                    <a:pt x="2203" y="256"/>
                    <a:pt x="2203" y="137"/>
                    <a:pt x="2144" y="65"/>
                  </a:cubicBezTo>
                  <a:cubicBezTo>
                    <a:pt x="2111" y="26"/>
                    <a:pt x="2059" y="1"/>
                    <a:pt x="20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7"/>
            <p:cNvSpPr/>
            <p:nvPr/>
          </p:nvSpPr>
          <p:spPr>
            <a:xfrm>
              <a:off x="1371622" y="3532434"/>
              <a:ext cx="70208" cy="56543"/>
            </a:xfrm>
            <a:custGeom>
              <a:avLst/>
              <a:gdLst/>
              <a:ahLst/>
              <a:cxnLst/>
              <a:rect l="l" t="t" r="r" b="b"/>
              <a:pathLst>
                <a:path w="2204" h="1775" extrusionOk="0">
                  <a:moveTo>
                    <a:pt x="1417" y="382"/>
                  </a:moveTo>
                  <a:lnTo>
                    <a:pt x="1417" y="465"/>
                  </a:lnTo>
                  <a:lnTo>
                    <a:pt x="1072" y="763"/>
                  </a:lnTo>
                  <a:lnTo>
                    <a:pt x="905" y="584"/>
                  </a:lnTo>
                  <a:cubicBezTo>
                    <a:pt x="874" y="547"/>
                    <a:pt x="827" y="529"/>
                    <a:pt x="779" y="529"/>
                  </a:cubicBezTo>
                  <a:cubicBezTo>
                    <a:pt x="734" y="529"/>
                    <a:pt x="690" y="544"/>
                    <a:pt x="655" y="572"/>
                  </a:cubicBezTo>
                  <a:cubicBezTo>
                    <a:pt x="584" y="632"/>
                    <a:pt x="584" y="751"/>
                    <a:pt x="632" y="822"/>
                  </a:cubicBezTo>
                  <a:lnTo>
                    <a:pt x="917" y="1120"/>
                  </a:lnTo>
                  <a:cubicBezTo>
                    <a:pt x="953" y="1168"/>
                    <a:pt x="989" y="1180"/>
                    <a:pt x="1048" y="1180"/>
                  </a:cubicBezTo>
                  <a:cubicBezTo>
                    <a:pt x="1096" y="1180"/>
                    <a:pt x="1132" y="1168"/>
                    <a:pt x="1167" y="1132"/>
                  </a:cubicBezTo>
                  <a:lnTo>
                    <a:pt x="1429" y="930"/>
                  </a:lnTo>
                  <a:lnTo>
                    <a:pt x="1417" y="1430"/>
                  </a:lnTo>
                  <a:lnTo>
                    <a:pt x="358" y="1430"/>
                  </a:lnTo>
                  <a:lnTo>
                    <a:pt x="358" y="382"/>
                  </a:lnTo>
                  <a:close/>
                  <a:moveTo>
                    <a:pt x="2012" y="1"/>
                  </a:moveTo>
                  <a:cubicBezTo>
                    <a:pt x="1969" y="1"/>
                    <a:pt x="1926" y="16"/>
                    <a:pt x="1894" y="49"/>
                  </a:cubicBezTo>
                  <a:lnTo>
                    <a:pt x="1727" y="180"/>
                  </a:lnTo>
                  <a:cubicBezTo>
                    <a:pt x="1679" y="96"/>
                    <a:pt x="1596" y="13"/>
                    <a:pt x="1489" y="13"/>
                  </a:cubicBezTo>
                  <a:lnTo>
                    <a:pt x="263" y="13"/>
                  </a:lnTo>
                  <a:cubicBezTo>
                    <a:pt x="120" y="13"/>
                    <a:pt x="1" y="132"/>
                    <a:pt x="1" y="287"/>
                  </a:cubicBezTo>
                  <a:lnTo>
                    <a:pt x="1" y="1501"/>
                  </a:lnTo>
                  <a:cubicBezTo>
                    <a:pt x="1" y="1656"/>
                    <a:pt x="120" y="1775"/>
                    <a:pt x="263" y="1775"/>
                  </a:cubicBezTo>
                  <a:lnTo>
                    <a:pt x="1489" y="1775"/>
                  </a:lnTo>
                  <a:cubicBezTo>
                    <a:pt x="1632" y="1775"/>
                    <a:pt x="1751" y="1656"/>
                    <a:pt x="1751" y="1501"/>
                  </a:cubicBezTo>
                  <a:lnTo>
                    <a:pt x="1751" y="608"/>
                  </a:lnTo>
                  <a:lnTo>
                    <a:pt x="2108" y="299"/>
                  </a:lnTo>
                  <a:cubicBezTo>
                    <a:pt x="2203" y="239"/>
                    <a:pt x="2203" y="144"/>
                    <a:pt x="2144" y="60"/>
                  </a:cubicBezTo>
                  <a:cubicBezTo>
                    <a:pt x="2111" y="22"/>
                    <a:pt x="2062" y="1"/>
                    <a:pt x="20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7"/>
            <p:cNvSpPr/>
            <p:nvPr/>
          </p:nvSpPr>
          <p:spPr>
            <a:xfrm>
              <a:off x="1371622" y="3605254"/>
              <a:ext cx="70208" cy="55810"/>
            </a:xfrm>
            <a:custGeom>
              <a:avLst/>
              <a:gdLst/>
              <a:ahLst/>
              <a:cxnLst/>
              <a:rect l="l" t="t" r="r" b="b"/>
              <a:pathLst>
                <a:path w="2204" h="1752" extrusionOk="0">
                  <a:moveTo>
                    <a:pt x="1417" y="358"/>
                  </a:moveTo>
                  <a:lnTo>
                    <a:pt x="1417" y="489"/>
                  </a:lnTo>
                  <a:lnTo>
                    <a:pt x="1072" y="787"/>
                  </a:lnTo>
                  <a:lnTo>
                    <a:pt x="905" y="608"/>
                  </a:lnTo>
                  <a:cubicBezTo>
                    <a:pt x="874" y="571"/>
                    <a:pt x="827" y="553"/>
                    <a:pt x="779" y="553"/>
                  </a:cubicBezTo>
                  <a:cubicBezTo>
                    <a:pt x="734" y="553"/>
                    <a:pt x="690" y="568"/>
                    <a:pt x="655" y="596"/>
                  </a:cubicBezTo>
                  <a:cubicBezTo>
                    <a:pt x="584" y="644"/>
                    <a:pt x="584" y="775"/>
                    <a:pt x="632" y="846"/>
                  </a:cubicBezTo>
                  <a:lnTo>
                    <a:pt x="917" y="1144"/>
                  </a:lnTo>
                  <a:cubicBezTo>
                    <a:pt x="953" y="1192"/>
                    <a:pt x="989" y="1203"/>
                    <a:pt x="1048" y="1203"/>
                  </a:cubicBezTo>
                  <a:cubicBezTo>
                    <a:pt x="1096" y="1203"/>
                    <a:pt x="1132" y="1192"/>
                    <a:pt x="1167" y="1156"/>
                  </a:cubicBezTo>
                  <a:lnTo>
                    <a:pt x="1429" y="953"/>
                  </a:lnTo>
                  <a:lnTo>
                    <a:pt x="1417" y="1406"/>
                  </a:lnTo>
                  <a:lnTo>
                    <a:pt x="358" y="1406"/>
                  </a:lnTo>
                  <a:lnTo>
                    <a:pt x="358" y="358"/>
                  </a:lnTo>
                  <a:close/>
                  <a:moveTo>
                    <a:pt x="263" y="1"/>
                  </a:moveTo>
                  <a:cubicBezTo>
                    <a:pt x="120" y="1"/>
                    <a:pt x="1" y="120"/>
                    <a:pt x="1" y="263"/>
                  </a:cubicBezTo>
                  <a:lnTo>
                    <a:pt x="1" y="1489"/>
                  </a:lnTo>
                  <a:cubicBezTo>
                    <a:pt x="1" y="1632"/>
                    <a:pt x="120" y="1751"/>
                    <a:pt x="263" y="1751"/>
                  </a:cubicBezTo>
                  <a:lnTo>
                    <a:pt x="1489" y="1751"/>
                  </a:lnTo>
                  <a:cubicBezTo>
                    <a:pt x="1632" y="1751"/>
                    <a:pt x="1751" y="1632"/>
                    <a:pt x="1751" y="1489"/>
                  </a:cubicBezTo>
                  <a:lnTo>
                    <a:pt x="1751" y="632"/>
                  </a:lnTo>
                  <a:lnTo>
                    <a:pt x="2108" y="322"/>
                  </a:lnTo>
                  <a:cubicBezTo>
                    <a:pt x="2191" y="263"/>
                    <a:pt x="2203" y="144"/>
                    <a:pt x="2132" y="72"/>
                  </a:cubicBezTo>
                  <a:cubicBezTo>
                    <a:pt x="2107" y="47"/>
                    <a:pt x="2062" y="32"/>
                    <a:pt x="2014" y="32"/>
                  </a:cubicBezTo>
                  <a:cubicBezTo>
                    <a:pt x="1972" y="32"/>
                    <a:pt x="1927" y="44"/>
                    <a:pt x="1894" y="72"/>
                  </a:cubicBezTo>
                  <a:lnTo>
                    <a:pt x="1739" y="191"/>
                  </a:lnTo>
                  <a:cubicBezTo>
                    <a:pt x="1715" y="84"/>
                    <a:pt x="1608" y="1"/>
                    <a:pt x="1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 name="Google Shape;584;p47"/>
          <p:cNvGrpSpPr/>
          <p:nvPr/>
        </p:nvGrpSpPr>
        <p:grpSpPr>
          <a:xfrm>
            <a:off x="2515949" y="2209887"/>
            <a:ext cx="320143" cy="392581"/>
            <a:chOff x="3086313" y="2877049"/>
            <a:chExt cx="320143" cy="392581"/>
          </a:xfrm>
        </p:grpSpPr>
        <p:sp>
          <p:nvSpPr>
            <p:cNvPr id="585" name="Google Shape;585;p47"/>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47"/>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7"/>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7"/>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7"/>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7"/>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7"/>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7"/>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7"/>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7"/>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7"/>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7"/>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 name="Google Shape;597;p47"/>
          <p:cNvGrpSpPr/>
          <p:nvPr/>
        </p:nvGrpSpPr>
        <p:grpSpPr>
          <a:xfrm>
            <a:off x="2494909" y="4066347"/>
            <a:ext cx="362223" cy="361108"/>
            <a:chOff x="3513010" y="3816134"/>
            <a:chExt cx="362223" cy="361108"/>
          </a:xfrm>
        </p:grpSpPr>
        <p:sp>
          <p:nvSpPr>
            <p:cNvPr id="598" name="Google Shape;598;p47"/>
            <p:cNvSpPr/>
            <p:nvPr/>
          </p:nvSpPr>
          <p:spPr>
            <a:xfrm>
              <a:off x="3513010" y="3816134"/>
              <a:ext cx="362223" cy="361108"/>
            </a:xfrm>
            <a:custGeom>
              <a:avLst/>
              <a:gdLst/>
              <a:ahLst/>
              <a:cxnLst/>
              <a:rect l="l" t="t" r="r" b="b"/>
              <a:pathLst>
                <a:path w="11371" h="11336" extrusionOk="0">
                  <a:moveTo>
                    <a:pt x="1381" y="346"/>
                  </a:moveTo>
                  <a:cubicBezTo>
                    <a:pt x="1846" y="358"/>
                    <a:pt x="2262" y="715"/>
                    <a:pt x="2358" y="1191"/>
                  </a:cubicBezTo>
                  <a:lnTo>
                    <a:pt x="1881" y="1191"/>
                  </a:lnTo>
                  <a:cubicBezTo>
                    <a:pt x="1786" y="1191"/>
                    <a:pt x="1715" y="1263"/>
                    <a:pt x="1715" y="1358"/>
                  </a:cubicBezTo>
                  <a:cubicBezTo>
                    <a:pt x="1715" y="1727"/>
                    <a:pt x="1417" y="2025"/>
                    <a:pt x="1048" y="2025"/>
                  </a:cubicBezTo>
                  <a:cubicBezTo>
                    <a:pt x="667" y="2025"/>
                    <a:pt x="369" y="1727"/>
                    <a:pt x="369" y="1358"/>
                  </a:cubicBezTo>
                  <a:cubicBezTo>
                    <a:pt x="369" y="798"/>
                    <a:pt x="822" y="346"/>
                    <a:pt x="1381" y="346"/>
                  </a:cubicBezTo>
                  <a:close/>
                  <a:moveTo>
                    <a:pt x="2358" y="1537"/>
                  </a:moveTo>
                  <a:lnTo>
                    <a:pt x="2358" y="2037"/>
                  </a:lnTo>
                  <a:lnTo>
                    <a:pt x="1774" y="2037"/>
                  </a:lnTo>
                  <a:cubicBezTo>
                    <a:pt x="1893" y="1906"/>
                    <a:pt x="1977" y="1727"/>
                    <a:pt x="2012" y="1537"/>
                  </a:cubicBezTo>
                  <a:close/>
                  <a:moveTo>
                    <a:pt x="9109" y="4489"/>
                  </a:moveTo>
                  <a:lnTo>
                    <a:pt x="9109" y="4489"/>
                  </a:lnTo>
                  <a:cubicBezTo>
                    <a:pt x="8739" y="5049"/>
                    <a:pt x="8287" y="5585"/>
                    <a:pt x="7787" y="6085"/>
                  </a:cubicBezTo>
                  <a:cubicBezTo>
                    <a:pt x="7275" y="6597"/>
                    <a:pt x="6739" y="7037"/>
                    <a:pt x="6192" y="7406"/>
                  </a:cubicBezTo>
                  <a:cubicBezTo>
                    <a:pt x="6584" y="6859"/>
                    <a:pt x="7013" y="6323"/>
                    <a:pt x="7513" y="5823"/>
                  </a:cubicBezTo>
                  <a:cubicBezTo>
                    <a:pt x="8025" y="5311"/>
                    <a:pt x="8561" y="4870"/>
                    <a:pt x="9109" y="4489"/>
                  </a:cubicBezTo>
                  <a:close/>
                  <a:moveTo>
                    <a:pt x="4036" y="9359"/>
                  </a:moveTo>
                  <a:cubicBezTo>
                    <a:pt x="4346" y="9359"/>
                    <a:pt x="4620" y="9573"/>
                    <a:pt x="4691" y="9871"/>
                  </a:cubicBezTo>
                  <a:lnTo>
                    <a:pt x="3382" y="9871"/>
                  </a:lnTo>
                  <a:cubicBezTo>
                    <a:pt x="3453" y="9573"/>
                    <a:pt x="3727" y="9359"/>
                    <a:pt x="4036" y="9359"/>
                  </a:cubicBezTo>
                  <a:close/>
                  <a:moveTo>
                    <a:pt x="10359" y="9359"/>
                  </a:moveTo>
                  <a:cubicBezTo>
                    <a:pt x="10728" y="9359"/>
                    <a:pt x="11025" y="9657"/>
                    <a:pt x="11025" y="10026"/>
                  </a:cubicBezTo>
                  <a:cubicBezTo>
                    <a:pt x="11025" y="10597"/>
                    <a:pt x="10585" y="11038"/>
                    <a:pt x="10037" y="11038"/>
                  </a:cubicBezTo>
                  <a:lnTo>
                    <a:pt x="4584" y="11038"/>
                  </a:lnTo>
                  <a:cubicBezTo>
                    <a:pt x="4870" y="10788"/>
                    <a:pt x="5037" y="10431"/>
                    <a:pt x="5037" y="10026"/>
                  </a:cubicBezTo>
                  <a:cubicBezTo>
                    <a:pt x="5037" y="9776"/>
                    <a:pt x="4929" y="9538"/>
                    <a:pt x="4775" y="9359"/>
                  </a:cubicBezTo>
                  <a:close/>
                  <a:moveTo>
                    <a:pt x="1346" y="1"/>
                  </a:moveTo>
                  <a:cubicBezTo>
                    <a:pt x="596" y="1"/>
                    <a:pt x="0" y="596"/>
                    <a:pt x="0" y="1334"/>
                  </a:cubicBezTo>
                  <a:cubicBezTo>
                    <a:pt x="0" y="1906"/>
                    <a:pt x="465" y="2346"/>
                    <a:pt x="1012" y="2346"/>
                  </a:cubicBezTo>
                  <a:lnTo>
                    <a:pt x="2358" y="2346"/>
                  </a:lnTo>
                  <a:lnTo>
                    <a:pt x="2358" y="7514"/>
                  </a:lnTo>
                  <a:cubicBezTo>
                    <a:pt x="2358" y="7609"/>
                    <a:pt x="2429" y="7680"/>
                    <a:pt x="2512" y="7680"/>
                  </a:cubicBezTo>
                  <a:cubicBezTo>
                    <a:pt x="2608" y="7680"/>
                    <a:pt x="2679" y="7609"/>
                    <a:pt x="2679" y="7514"/>
                  </a:cubicBezTo>
                  <a:lnTo>
                    <a:pt x="2679" y="1334"/>
                  </a:lnTo>
                  <a:cubicBezTo>
                    <a:pt x="2679" y="929"/>
                    <a:pt x="2501" y="572"/>
                    <a:pt x="2239" y="322"/>
                  </a:cubicBezTo>
                  <a:lnTo>
                    <a:pt x="7680" y="322"/>
                  </a:lnTo>
                  <a:cubicBezTo>
                    <a:pt x="8227" y="322"/>
                    <a:pt x="8680" y="775"/>
                    <a:pt x="8680" y="1334"/>
                  </a:cubicBezTo>
                  <a:lnTo>
                    <a:pt x="8680" y="2870"/>
                  </a:lnTo>
                  <a:cubicBezTo>
                    <a:pt x="8192" y="3108"/>
                    <a:pt x="7739" y="3430"/>
                    <a:pt x="7358" y="3811"/>
                  </a:cubicBezTo>
                  <a:cubicBezTo>
                    <a:pt x="6549" y="4608"/>
                    <a:pt x="6537" y="5192"/>
                    <a:pt x="6525" y="6144"/>
                  </a:cubicBezTo>
                  <a:lnTo>
                    <a:pt x="6525" y="6394"/>
                  </a:lnTo>
                  <a:cubicBezTo>
                    <a:pt x="6132" y="6859"/>
                    <a:pt x="5811" y="7347"/>
                    <a:pt x="5513" y="7847"/>
                  </a:cubicBezTo>
                  <a:cubicBezTo>
                    <a:pt x="5465" y="7907"/>
                    <a:pt x="5477" y="7990"/>
                    <a:pt x="5537" y="8049"/>
                  </a:cubicBezTo>
                  <a:cubicBezTo>
                    <a:pt x="5572" y="8085"/>
                    <a:pt x="5608" y="8097"/>
                    <a:pt x="5656" y="8097"/>
                  </a:cubicBezTo>
                  <a:cubicBezTo>
                    <a:pt x="5691" y="8097"/>
                    <a:pt x="5715" y="8097"/>
                    <a:pt x="5751" y="8061"/>
                  </a:cubicBezTo>
                  <a:cubicBezTo>
                    <a:pt x="6251" y="7776"/>
                    <a:pt x="6727" y="7442"/>
                    <a:pt x="7192" y="7049"/>
                  </a:cubicBezTo>
                  <a:lnTo>
                    <a:pt x="7442" y="7049"/>
                  </a:lnTo>
                  <a:cubicBezTo>
                    <a:pt x="7930" y="7037"/>
                    <a:pt x="8323" y="7037"/>
                    <a:pt x="8692" y="6918"/>
                  </a:cubicBezTo>
                  <a:lnTo>
                    <a:pt x="8692" y="9002"/>
                  </a:lnTo>
                  <a:lnTo>
                    <a:pt x="4036" y="9002"/>
                  </a:lnTo>
                  <a:cubicBezTo>
                    <a:pt x="3465" y="9002"/>
                    <a:pt x="3024" y="9466"/>
                    <a:pt x="3024" y="10014"/>
                  </a:cubicBezTo>
                  <a:cubicBezTo>
                    <a:pt x="3024" y="10097"/>
                    <a:pt x="3096" y="10181"/>
                    <a:pt x="3191" y="10181"/>
                  </a:cubicBezTo>
                  <a:lnTo>
                    <a:pt x="4691" y="10181"/>
                  </a:lnTo>
                  <a:cubicBezTo>
                    <a:pt x="4620" y="10657"/>
                    <a:pt x="4203" y="11014"/>
                    <a:pt x="3691" y="11014"/>
                  </a:cubicBezTo>
                  <a:cubicBezTo>
                    <a:pt x="3144" y="11014"/>
                    <a:pt x="2679" y="10562"/>
                    <a:pt x="2679" y="10002"/>
                  </a:cubicBezTo>
                  <a:lnTo>
                    <a:pt x="2679" y="8168"/>
                  </a:lnTo>
                  <a:cubicBezTo>
                    <a:pt x="2679" y="8085"/>
                    <a:pt x="2608" y="8002"/>
                    <a:pt x="2512" y="8002"/>
                  </a:cubicBezTo>
                  <a:cubicBezTo>
                    <a:pt x="2429" y="8002"/>
                    <a:pt x="2358" y="8085"/>
                    <a:pt x="2358" y="8168"/>
                  </a:cubicBezTo>
                  <a:lnTo>
                    <a:pt x="2358" y="10002"/>
                  </a:lnTo>
                  <a:cubicBezTo>
                    <a:pt x="2358" y="10740"/>
                    <a:pt x="2953" y="11335"/>
                    <a:pt x="3691" y="11335"/>
                  </a:cubicBezTo>
                  <a:lnTo>
                    <a:pt x="10013" y="11335"/>
                  </a:lnTo>
                  <a:cubicBezTo>
                    <a:pt x="10764" y="11335"/>
                    <a:pt x="11359" y="10740"/>
                    <a:pt x="11359" y="10002"/>
                  </a:cubicBezTo>
                  <a:cubicBezTo>
                    <a:pt x="11371" y="9478"/>
                    <a:pt x="10930" y="9038"/>
                    <a:pt x="10359" y="9038"/>
                  </a:cubicBezTo>
                  <a:lnTo>
                    <a:pt x="9025" y="9038"/>
                  </a:lnTo>
                  <a:lnTo>
                    <a:pt x="9025" y="6811"/>
                  </a:lnTo>
                  <a:cubicBezTo>
                    <a:pt x="9263" y="6692"/>
                    <a:pt x="9513" y="6513"/>
                    <a:pt x="9775" y="6252"/>
                  </a:cubicBezTo>
                  <a:cubicBezTo>
                    <a:pt x="10013" y="6013"/>
                    <a:pt x="10228" y="5763"/>
                    <a:pt x="10406" y="5478"/>
                  </a:cubicBezTo>
                  <a:cubicBezTo>
                    <a:pt x="10430" y="5430"/>
                    <a:pt x="10430" y="5370"/>
                    <a:pt x="10418" y="5311"/>
                  </a:cubicBezTo>
                  <a:cubicBezTo>
                    <a:pt x="10394" y="5251"/>
                    <a:pt x="10347" y="5228"/>
                    <a:pt x="10299" y="5204"/>
                  </a:cubicBezTo>
                  <a:lnTo>
                    <a:pt x="9894" y="5132"/>
                  </a:lnTo>
                  <a:cubicBezTo>
                    <a:pt x="10728" y="4489"/>
                    <a:pt x="11264" y="3525"/>
                    <a:pt x="11323" y="2465"/>
                  </a:cubicBezTo>
                  <a:lnTo>
                    <a:pt x="11323" y="2453"/>
                  </a:lnTo>
                  <a:cubicBezTo>
                    <a:pt x="11323" y="2406"/>
                    <a:pt x="11311" y="2358"/>
                    <a:pt x="11287" y="2322"/>
                  </a:cubicBezTo>
                  <a:cubicBezTo>
                    <a:pt x="11252" y="2287"/>
                    <a:pt x="11204" y="2275"/>
                    <a:pt x="11145" y="2275"/>
                  </a:cubicBezTo>
                  <a:cubicBezTo>
                    <a:pt x="10764" y="2311"/>
                    <a:pt x="10394" y="2346"/>
                    <a:pt x="10037" y="2430"/>
                  </a:cubicBezTo>
                  <a:cubicBezTo>
                    <a:pt x="9942" y="2442"/>
                    <a:pt x="9882" y="2525"/>
                    <a:pt x="9894" y="2620"/>
                  </a:cubicBezTo>
                  <a:cubicBezTo>
                    <a:pt x="9916" y="2696"/>
                    <a:pt x="9988" y="2753"/>
                    <a:pt x="10073" y="2753"/>
                  </a:cubicBezTo>
                  <a:cubicBezTo>
                    <a:pt x="10080" y="2753"/>
                    <a:pt x="10089" y="2752"/>
                    <a:pt x="10097" y="2751"/>
                  </a:cubicBezTo>
                  <a:cubicBezTo>
                    <a:pt x="10371" y="2692"/>
                    <a:pt x="10656" y="2644"/>
                    <a:pt x="10966" y="2620"/>
                  </a:cubicBezTo>
                  <a:lnTo>
                    <a:pt x="10966" y="2620"/>
                  </a:lnTo>
                  <a:cubicBezTo>
                    <a:pt x="10847" y="3632"/>
                    <a:pt x="10275" y="4537"/>
                    <a:pt x="9382" y="5073"/>
                  </a:cubicBezTo>
                  <a:lnTo>
                    <a:pt x="9359" y="5085"/>
                  </a:lnTo>
                  <a:cubicBezTo>
                    <a:pt x="9299" y="5120"/>
                    <a:pt x="9275" y="5192"/>
                    <a:pt x="9287" y="5263"/>
                  </a:cubicBezTo>
                  <a:cubicBezTo>
                    <a:pt x="9299" y="5347"/>
                    <a:pt x="9359" y="5382"/>
                    <a:pt x="9418" y="5406"/>
                  </a:cubicBezTo>
                  <a:lnTo>
                    <a:pt x="9978" y="5490"/>
                  </a:lnTo>
                  <a:cubicBezTo>
                    <a:pt x="9835" y="5668"/>
                    <a:pt x="9692" y="5847"/>
                    <a:pt x="9525" y="6002"/>
                  </a:cubicBezTo>
                  <a:cubicBezTo>
                    <a:pt x="8870" y="6656"/>
                    <a:pt x="8406" y="6716"/>
                    <a:pt x="7573" y="6728"/>
                  </a:cubicBezTo>
                  <a:cubicBezTo>
                    <a:pt x="7727" y="6597"/>
                    <a:pt x="7870" y="6454"/>
                    <a:pt x="8013" y="6311"/>
                  </a:cubicBezTo>
                  <a:cubicBezTo>
                    <a:pt x="8728" y="5597"/>
                    <a:pt x="9299" y="4835"/>
                    <a:pt x="9775" y="4037"/>
                  </a:cubicBezTo>
                  <a:cubicBezTo>
                    <a:pt x="9823" y="3977"/>
                    <a:pt x="9811" y="3882"/>
                    <a:pt x="9751" y="3823"/>
                  </a:cubicBezTo>
                  <a:cubicBezTo>
                    <a:pt x="9718" y="3789"/>
                    <a:pt x="9681" y="3774"/>
                    <a:pt x="9639" y="3774"/>
                  </a:cubicBezTo>
                  <a:cubicBezTo>
                    <a:pt x="9608" y="3774"/>
                    <a:pt x="9574" y="3783"/>
                    <a:pt x="9537" y="3799"/>
                  </a:cubicBezTo>
                  <a:cubicBezTo>
                    <a:pt x="8739" y="4251"/>
                    <a:pt x="7966" y="4847"/>
                    <a:pt x="7263" y="5561"/>
                  </a:cubicBezTo>
                  <a:cubicBezTo>
                    <a:pt x="7120" y="5716"/>
                    <a:pt x="6977" y="5847"/>
                    <a:pt x="6846" y="6002"/>
                  </a:cubicBezTo>
                  <a:cubicBezTo>
                    <a:pt x="6882" y="5168"/>
                    <a:pt x="6918" y="4704"/>
                    <a:pt x="7573" y="4049"/>
                  </a:cubicBezTo>
                  <a:cubicBezTo>
                    <a:pt x="8085" y="3537"/>
                    <a:pt x="8728" y="3156"/>
                    <a:pt x="9454" y="2906"/>
                  </a:cubicBezTo>
                  <a:cubicBezTo>
                    <a:pt x="9537" y="2870"/>
                    <a:pt x="9585" y="2787"/>
                    <a:pt x="9561" y="2692"/>
                  </a:cubicBezTo>
                  <a:cubicBezTo>
                    <a:pt x="9531" y="2623"/>
                    <a:pt x="9470" y="2578"/>
                    <a:pt x="9395" y="2578"/>
                  </a:cubicBezTo>
                  <a:cubicBezTo>
                    <a:pt x="9379" y="2578"/>
                    <a:pt x="9363" y="2580"/>
                    <a:pt x="9347" y="2584"/>
                  </a:cubicBezTo>
                  <a:cubicBezTo>
                    <a:pt x="9228" y="2632"/>
                    <a:pt x="9109" y="2680"/>
                    <a:pt x="9001" y="2715"/>
                  </a:cubicBezTo>
                  <a:lnTo>
                    <a:pt x="9001" y="1334"/>
                  </a:lnTo>
                  <a:cubicBezTo>
                    <a:pt x="9001" y="596"/>
                    <a:pt x="8406" y="1"/>
                    <a:pt x="76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7"/>
            <p:cNvSpPr/>
            <p:nvPr/>
          </p:nvSpPr>
          <p:spPr>
            <a:xfrm>
              <a:off x="3618450" y="3879112"/>
              <a:ext cx="157045" cy="24688"/>
            </a:xfrm>
            <a:custGeom>
              <a:avLst/>
              <a:gdLst/>
              <a:ahLst/>
              <a:cxnLst/>
              <a:rect l="l" t="t" r="r" b="b"/>
              <a:pathLst>
                <a:path w="4930" h="775" extrusionOk="0">
                  <a:moveTo>
                    <a:pt x="155" y="0"/>
                  </a:moveTo>
                  <a:cubicBezTo>
                    <a:pt x="72" y="0"/>
                    <a:pt x="0" y="72"/>
                    <a:pt x="0" y="167"/>
                  </a:cubicBezTo>
                  <a:cubicBezTo>
                    <a:pt x="0" y="250"/>
                    <a:pt x="72" y="334"/>
                    <a:pt x="155" y="334"/>
                  </a:cubicBezTo>
                  <a:cubicBezTo>
                    <a:pt x="322" y="334"/>
                    <a:pt x="381" y="405"/>
                    <a:pt x="500" y="512"/>
                  </a:cubicBezTo>
                  <a:cubicBezTo>
                    <a:pt x="619" y="631"/>
                    <a:pt x="786" y="774"/>
                    <a:pt x="1084" y="774"/>
                  </a:cubicBezTo>
                  <a:cubicBezTo>
                    <a:pt x="1381" y="774"/>
                    <a:pt x="1524" y="631"/>
                    <a:pt x="1667" y="512"/>
                  </a:cubicBezTo>
                  <a:cubicBezTo>
                    <a:pt x="1762" y="405"/>
                    <a:pt x="1846" y="334"/>
                    <a:pt x="2000" y="334"/>
                  </a:cubicBezTo>
                  <a:cubicBezTo>
                    <a:pt x="2167" y="334"/>
                    <a:pt x="2227" y="405"/>
                    <a:pt x="2346" y="512"/>
                  </a:cubicBezTo>
                  <a:cubicBezTo>
                    <a:pt x="2465" y="631"/>
                    <a:pt x="2631" y="774"/>
                    <a:pt x="2929" y="774"/>
                  </a:cubicBezTo>
                  <a:cubicBezTo>
                    <a:pt x="3227" y="774"/>
                    <a:pt x="3370" y="631"/>
                    <a:pt x="3501" y="512"/>
                  </a:cubicBezTo>
                  <a:cubicBezTo>
                    <a:pt x="3608" y="405"/>
                    <a:pt x="3679" y="334"/>
                    <a:pt x="3846" y="334"/>
                  </a:cubicBezTo>
                  <a:cubicBezTo>
                    <a:pt x="4013" y="334"/>
                    <a:pt x="4072" y="405"/>
                    <a:pt x="4191" y="512"/>
                  </a:cubicBezTo>
                  <a:cubicBezTo>
                    <a:pt x="4310" y="631"/>
                    <a:pt x="4477" y="774"/>
                    <a:pt x="4775" y="774"/>
                  </a:cubicBezTo>
                  <a:cubicBezTo>
                    <a:pt x="4858" y="774"/>
                    <a:pt x="4929" y="703"/>
                    <a:pt x="4929" y="607"/>
                  </a:cubicBezTo>
                  <a:cubicBezTo>
                    <a:pt x="4929" y="524"/>
                    <a:pt x="4858" y="453"/>
                    <a:pt x="4775" y="453"/>
                  </a:cubicBezTo>
                  <a:cubicBezTo>
                    <a:pt x="4608" y="453"/>
                    <a:pt x="4548" y="369"/>
                    <a:pt x="4429" y="274"/>
                  </a:cubicBezTo>
                  <a:cubicBezTo>
                    <a:pt x="4310" y="155"/>
                    <a:pt x="4144" y="0"/>
                    <a:pt x="3846" y="0"/>
                  </a:cubicBezTo>
                  <a:cubicBezTo>
                    <a:pt x="3548" y="0"/>
                    <a:pt x="3405" y="155"/>
                    <a:pt x="3263" y="274"/>
                  </a:cubicBezTo>
                  <a:cubicBezTo>
                    <a:pt x="3167" y="369"/>
                    <a:pt x="3084" y="453"/>
                    <a:pt x="2929" y="453"/>
                  </a:cubicBezTo>
                  <a:cubicBezTo>
                    <a:pt x="2762" y="453"/>
                    <a:pt x="2703" y="369"/>
                    <a:pt x="2584" y="274"/>
                  </a:cubicBezTo>
                  <a:cubicBezTo>
                    <a:pt x="2465" y="155"/>
                    <a:pt x="2298" y="0"/>
                    <a:pt x="2000" y="0"/>
                  </a:cubicBezTo>
                  <a:cubicBezTo>
                    <a:pt x="1703" y="0"/>
                    <a:pt x="1560" y="155"/>
                    <a:pt x="1417" y="274"/>
                  </a:cubicBezTo>
                  <a:cubicBezTo>
                    <a:pt x="1322" y="369"/>
                    <a:pt x="1238" y="453"/>
                    <a:pt x="1084" y="453"/>
                  </a:cubicBezTo>
                  <a:cubicBezTo>
                    <a:pt x="917" y="453"/>
                    <a:pt x="857" y="369"/>
                    <a:pt x="738" y="274"/>
                  </a:cubicBezTo>
                  <a:cubicBezTo>
                    <a:pt x="619" y="155"/>
                    <a:pt x="453" y="0"/>
                    <a:pt x="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7"/>
            <p:cNvSpPr/>
            <p:nvPr/>
          </p:nvSpPr>
          <p:spPr>
            <a:xfrm>
              <a:off x="3618450" y="3921192"/>
              <a:ext cx="127834" cy="24688"/>
            </a:xfrm>
            <a:custGeom>
              <a:avLst/>
              <a:gdLst/>
              <a:ahLst/>
              <a:cxnLst/>
              <a:rect l="l" t="t" r="r" b="b"/>
              <a:pathLst>
                <a:path w="4013" h="775" extrusionOk="0">
                  <a:moveTo>
                    <a:pt x="155" y="1"/>
                  </a:moveTo>
                  <a:cubicBezTo>
                    <a:pt x="72" y="1"/>
                    <a:pt x="0" y="84"/>
                    <a:pt x="0" y="167"/>
                  </a:cubicBezTo>
                  <a:cubicBezTo>
                    <a:pt x="0" y="263"/>
                    <a:pt x="72" y="334"/>
                    <a:pt x="155" y="334"/>
                  </a:cubicBezTo>
                  <a:cubicBezTo>
                    <a:pt x="322" y="334"/>
                    <a:pt x="381" y="406"/>
                    <a:pt x="500" y="513"/>
                  </a:cubicBezTo>
                  <a:cubicBezTo>
                    <a:pt x="619" y="632"/>
                    <a:pt x="786" y="775"/>
                    <a:pt x="1084" y="775"/>
                  </a:cubicBezTo>
                  <a:cubicBezTo>
                    <a:pt x="1381" y="775"/>
                    <a:pt x="1524" y="632"/>
                    <a:pt x="1667" y="513"/>
                  </a:cubicBezTo>
                  <a:cubicBezTo>
                    <a:pt x="1762" y="406"/>
                    <a:pt x="1846" y="334"/>
                    <a:pt x="2000" y="334"/>
                  </a:cubicBezTo>
                  <a:cubicBezTo>
                    <a:pt x="2167" y="334"/>
                    <a:pt x="2227" y="406"/>
                    <a:pt x="2346" y="513"/>
                  </a:cubicBezTo>
                  <a:cubicBezTo>
                    <a:pt x="2465" y="632"/>
                    <a:pt x="2631" y="775"/>
                    <a:pt x="2929" y="775"/>
                  </a:cubicBezTo>
                  <a:cubicBezTo>
                    <a:pt x="3227" y="775"/>
                    <a:pt x="3370" y="632"/>
                    <a:pt x="3501" y="513"/>
                  </a:cubicBezTo>
                  <a:cubicBezTo>
                    <a:pt x="3608" y="406"/>
                    <a:pt x="3679" y="334"/>
                    <a:pt x="3846" y="334"/>
                  </a:cubicBezTo>
                  <a:cubicBezTo>
                    <a:pt x="3941" y="334"/>
                    <a:pt x="4013" y="263"/>
                    <a:pt x="4013" y="167"/>
                  </a:cubicBezTo>
                  <a:cubicBezTo>
                    <a:pt x="4013" y="84"/>
                    <a:pt x="3941" y="1"/>
                    <a:pt x="3846" y="1"/>
                  </a:cubicBezTo>
                  <a:cubicBezTo>
                    <a:pt x="3548" y="1"/>
                    <a:pt x="3405" y="156"/>
                    <a:pt x="3263" y="275"/>
                  </a:cubicBezTo>
                  <a:cubicBezTo>
                    <a:pt x="3167" y="382"/>
                    <a:pt x="3084" y="453"/>
                    <a:pt x="2929" y="453"/>
                  </a:cubicBezTo>
                  <a:cubicBezTo>
                    <a:pt x="2762" y="453"/>
                    <a:pt x="2703" y="382"/>
                    <a:pt x="2584" y="275"/>
                  </a:cubicBezTo>
                  <a:cubicBezTo>
                    <a:pt x="2465" y="156"/>
                    <a:pt x="2298" y="1"/>
                    <a:pt x="2000" y="1"/>
                  </a:cubicBezTo>
                  <a:cubicBezTo>
                    <a:pt x="1703" y="1"/>
                    <a:pt x="1560" y="156"/>
                    <a:pt x="1417" y="275"/>
                  </a:cubicBezTo>
                  <a:cubicBezTo>
                    <a:pt x="1322" y="382"/>
                    <a:pt x="1238" y="453"/>
                    <a:pt x="1084" y="453"/>
                  </a:cubicBezTo>
                  <a:cubicBezTo>
                    <a:pt x="917" y="453"/>
                    <a:pt x="857" y="382"/>
                    <a:pt x="738" y="275"/>
                  </a:cubicBezTo>
                  <a:cubicBezTo>
                    <a:pt x="619" y="156"/>
                    <a:pt x="453" y="1"/>
                    <a:pt x="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7"/>
            <p:cNvSpPr/>
            <p:nvPr/>
          </p:nvSpPr>
          <p:spPr>
            <a:xfrm>
              <a:off x="3617304" y="3962922"/>
              <a:ext cx="98655" cy="24688"/>
            </a:xfrm>
            <a:custGeom>
              <a:avLst/>
              <a:gdLst/>
              <a:ahLst/>
              <a:cxnLst/>
              <a:rect l="l" t="t" r="r" b="b"/>
              <a:pathLst>
                <a:path w="3097" h="775" extrusionOk="0">
                  <a:moveTo>
                    <a:pt x="167" y="0"/>
                  </a:moveTo>
                  <a:cubicBezTo>
                    <a:pt x="72" y="0"/>
                    <a:pt x="0" y="84"/>
                    <a:pt x="0" y="167"/>
                  </a:cubicBezTo>
                  <a:cubicBezTo>
                    <a:pt x="0" y="262"/>
                    <a:pt x="72" y="334"/>
                    <a:pt x="167" y="334"/>
                  </a:cubicBezTo>
                  <a:cubicBezTo>
                    <a:pt x="334" y="334"/>
                    <a:pt x="393" y="405"/>
                    <a:pt x="512" y="512"/>
                  </a:cubicBezTo>
                  <a:cubicBezTo>
                    <a:pt x="632" y="632"/>
                    <a:pt x="786" y="774"/>
                    <a:pt x="1084" y="774"/>
                  </a:cubicBezTo>
                  <a:cubicBezTo>
                    <a:pt x="1382" y="774"/>
                    <a:pt x="1536" y="632"/>
                    <a:pt x="1667" y="512"/>
                  </a:cubicBezTo>
                  <a:cubicBezTo>
                    <a:pt x="1775" y="405"/>
                    <a:pt x="1846" y="334"/>
                    <a:pt x="2013" y="334"/>
                  </a:cubicBezTo>
                  <a:cubicBezTo>
                    <a:pt x="2179" y="334"/>
                    <a:pt x="2239" y="405"/>
                    <a:pt x="2358" y="512"/>
                  </a:cubicBezTo>
                  <a:cubicBezTo>
                    <a:pt x="2477" y="632"/>
                    <a:pt x="2632" y="774"/>
                    <a:pt x="2929" y="774"/>
                  </a:cubicBezTo>
                  <a:cubicBezTo>
                    <a:pt x="3025" y="774"/>
                    <a:pt x="3096" y="703"/>
                    <a:pt x="3096" y="620"/>
                  </a:cubicBezTo>
                  <a:cubicBezTo>
                    <a:pt x="3096" y="524"/>
                    <a:pt x="3025" y="453"/>
                    <a:pt x="2929" y="453"/>
                  </a:cubicBezTo>
                  <a:cubicBezTo>
                    <a:pt x="2775" y="441"/>
                    <a:pt x="2691" y="381"/>
                    <a:pt x="2596" y="274"/>
                  </a:cubicBezTo>
                  <a:cubicBezTo>
                    <a:pt x="2477" y="155"/>
                    <a:pt x="2310" y="0"/>
                    <a:pt x="2013" y="0"/>
                  </a:cubicBezTo>
                  <a:cubicBezTo>
                    <a:pt x="1715" y="0"/>
                    <a:pt x="1560" y="155"/>
                    <a:pt x="1429" y="274"/>
                  </a:cubicBezTo>
                  <a:cubicBezTo>
                    <a:pt x="1322" y="381"/>
                    <a:pt x="1251" y="453"/>
                    <a:pt x="1084" y="453"/>
                  </a:cubicBezTo>
                  <a:cubicBezTo>
                    <a:pt x="929" y="453"/>
                    <a:pt x="870" y="381"/>
                    <a:pt x="751" y="274"/>
                  </a:cubicBezTo>
                  <a:cubicBezTo>
                    <a:pt x="632" y="155"/>
                    <a:pt x="465" y="0"/>
                    <a:pt x="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Datos Simulados: Variables Principales</a:t>
            </a:r>
            <a:endParaRPr dirty="0"/>
          </a:p>
        </p:txBody>
      </p:sp>
      <p:sp>
        <p:nvSpPr>
          <p:cNvPr id="487" name="Google Shape;487;p43"/>
          <p:cNvSpPr txBox="1">
            <a:spLocks noGrp="1"/>
          </p:cNvSpPr>
          <p:nvPr>
            <p:ph type="subTitle" idx="2"/>
          </p:nvPr>
        </p:nvSpPr>
        <p:spPr>
          <a:xfrm>
            <a:off x="5337773" y="3287322"/>
            <a:ext cx="3048435" cy="85518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a:t>Probabilidad modelada a partir de la exposición (X) y covariables (C)</a:t>
            </a:r>
            <a:endParaRPr dirty="0"/>
          </a:p>
        </p:txBody>
      </p:sp>
      <p:sp>
        <p:nvSpPr>
          <p:cNvPr id="489" name="Google Shape;489;p43"/>
          <p:cNvSpPr txBox="1">
            <a:spLocks noGrp="1"/>
          </p:cNvSpPr>
          <p:nvPr>
            <p:ph type="subTitle" idx="8"/>
          </p:nvPr>
        </p:nvSpPr>
        <p:spPr>
          <a:xfrm>
            <a:off x="5637807" y="1656600"/>
            <a:ext cx="2173800" cy="44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Resultado (Y)</a:t>
            </a:r>
            <a:endParaRPr dirty="0"/>
          </a:p>
        </p:txBody>
      </p:sp>
      <p:sp>
        <p:nvSpPr>
          <p:cNvPr id="498" name="Google Shape;498;p4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11</a:t>
            </a:fld>
            <a:endParaRPr/>
          </a:p>
        </p:txBody>
      </p:sp>
      <p:cxnSp>
        <p:nvCxnSpPr>
          <p:cNvPr id="21" name="Conector recto de flecha 20">
            <a:extLst>
              <a:ext uri="{FF2B5EF4-FFF2-40B4-BE49-F238E27FC236}">
                <a16:creationId xmlns:a16="http://schemas.microsoft.com/office/drawing/2014/main" id="{03A41DDD-C0EE-2AF6-D648-D994714CEA27}"/>
              </a:ext>
            </a:extLst>
          </p:cNvPr>
          <p:cNvCxnSpPr/>
          <p:nvPr/>
        </p:nvCxnSpPr>
        <p:spPr>
          <a:xfrm flipH="1">
            <a:off x="5936776" y="2099100"/>
            <a:ext cx="395785" cy="367801"/>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18F37828-6AA9-C5D5-6EF5-EC520330D5E7}"/>
              </a:ext>
            </a:extLst>
          </p:cNvPr>
          <p:cNvCxnSpPr>
            <a:cxnSpLocks/>
          </p:cNvCxnSpPr>
          <p:nvPr/>
        </p:nvCxnSpPr>
        <p:spPr>
          <a:xfrm rot="-5400000" flipH="1">
            <a:off x="7137429" y="2113092"/>
            <a:ext cx="395785" cy="367801"/>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Google Shape;487;p43">
            <a:extLst>
              <a:ext uri="{FF2B5EF4-FFF2-40B4-BE49-F238E27FC236}">
                <a16:creationId xmlns:a16="http://schemas.microsoft.com/office/drawing/2014/main" id="{E09ABD63-B5D7-ADFD-3BAE-C0F628E81A8C}"/>
              </a:ext>
            </a:extLst>
          </p:cNvPr>
          <p:cNvSpPr txBox="1">
            <a:spLocks/>
          </p:cNvSpPr>
          <p:nvPr/>
        </p:nvSpPr>
        <p:spPr>
          <a:xfrm>
            <a:off x="4845526" y="2421738"/>
            <a:ext cx="21825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1600"/>
              </a:spcBef>
              <a:spcAft>
                <a:spcPts val="160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r>
              <a:rPr lang="es-ES" dirty="0">
                <a:solidFill>
                  <a:schemeClr val="bg1">
                    <a:lumMod val="50000"/>
                  </a:schemeClr>
                </a:solidFill>
              </a:rPr>
              <a:t>No mejora (0)</a:t>
            </a:r>
          </a:p>
        </p:txBody>
      </p:sp>
      <p:sp>
        <p:nvSpPr>
          <p:cNvPr id="24" name="Google Shape;487;p43">
            <a:extLst>
              <a:ext uri="{FF2B5EF4-FFF2-40B4-BE49-F238E27FC236}">
                <a16:creationId xmlns:a16="http://schemas.microsoft.com/office/drawing/2014/main" id="{BD4998E3-9F96-0FC0-A521-DC36D7106785}"/>
              </a:ext>
            </a:extLst>
          </p:cNvPr>
          <p:cNvSpPr txBox="1">
            <a:spLocks/>
          </p:cNvSpPr>
          <p:nvPr/>
        </p:nvSpPr>
        <p:spPr>
          <a:xfrm>
            <a:off x="6476463" y="2422530"/>
            <a:ext cx="21825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1600"/>
              </a:spcBef>
              <a:spcAft>
                <a:spcPts val="160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r>
              <a:rPr lang="es-ES" dirty="0">
                <a:solidFill>
                  <a:schemeClr val="bg1">
                    <a:lumMod val="50000"/>
                  </a:schemeClr>
                </a:solidFill>
              </a:rPr>
              <a:t>Mejora (1)</a:t>
            </a:r>
          </a:p>
        </p:txBody>
      </p:sp>
      <p:sp>
        <p:nvSpPr>
          <p:cNvPr id="26" name="Abrir llave 25">
            <a:extLst>
              <a:ext uri="{FF2B5EF4-FFF2-40B4-BE49-F238E27FC236}">
                <a16:creationId xmlns:a16="http://schemas.microsoft.com/office/drawing/2014/main" id="{78382F7B-0C28-778D-019F-1BDC0B64AB8B}"/>
              </a:ext>
            </a:extLst>
          </p:cNvPr>
          <p:cNvSpPr/>
          <p:nvPr/>
        </p:nvSpPr>
        <p:spPr>
          <a:xfrm>
            <a:off x="5315577" y="3105316"/>
            <a:ext cx="45719" cy="1219200"/>
          </a:xfrm>
          <a:prstGeom prst="lef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7" name="Abrir llave 26">
            <a:extLst>
              <a:ext uri="{FF2B5EF4-FFF2-40B4-BE49-F238E27FC236}">
                <a16:creationId xmlns:a16="http://schemas.microsoft.com/office/drawing/2014/main" id="{224FD9C5-EB00-ADC2-37E3-50D094D80713}"/>
              </a:ext>
            </a:extLst>
          </p:cNvPr>
          <p:cNvSpPr/>
          <p:nvPr/>
        </p:nvSpPr>
        <p:spPr>
          <a:xfrm rot="10800000">
            <a:off x="8363348" y="3105316"/>
            <a:ext cx="45719" cy="1219200"/>
          </a:xfrm>
          <a:prstGeom prst="lef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38" name="Google Shape;487;p43">
            <a:extLst>
              <a:ext uri="{FF2B5EF4-FFF2-40B4-BE49-F238E27FC236}">
                <a16:creationId xmlns:a16="http://schemas.microsoft.com/office/drawing/2014/main" id="{6BB8A670-D9A2-7E4A-7C48-CA8B43BCDE24}"/>
              </a:ext>
            </a:extLst>
          </p:cNvPr>
          <p:cNvSpPr txBox="1">
            <a:spLocks/>
          </p:cNvSpPr>
          <p:nvPr/>
        </p:nvSpPr>
        <p:spPr>
          <a:xfrm>
            <a:off x="740755" y="3287322"/>
            <a:ext cx="3048435" cy="8551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1600"/>
              </a:spcBef>
              <a:spcAft>
                <a:spcPts val="160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r>
              <a:rPr lang="es-ES" dirty="0"/>
              <a:t>Probabilidad calculada mediante una función logística basada en covariables (C)</a:t>
            </a:r>
          </a:p>
        </p:txBody>
      </p:sp>
      <p:sp>
        <p:nvSpPr>
          <p:cNvPr id="39" name="Google Shape;489;p43">
            <a:extLst>
              <a:ext uri="{FF2B5EF4-FFF2-40B4-BE49-F238E27FC236}">
                <a16:creationId xmlns:a16="http://schemas.microsoft.com/office/drawing/2014/main" id="{C6CCD17D-30F3-5CFA-1DC9-3F1EFABFAC7D}"/>
              </a:ext>
            </a:extLst>
          </p:cNvPr>
          <p:cNvSpPr txBox="1">
            <a:spLocks/>
          </p:cNvSpPr>
          <p:nvPr/>
        </p:nvSpPr>
        <p:spPr>
          <a:xfrm>
            <a:off x="1040789" y="1656600"/>
            <a:ext cx="2173800" cy="4425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Bebas Neue"/>
              <a:buNone/>
              <a:defRPr sz="2000" b="1" i="0" u="none" strike="noStrike" cap="none">
                <a:solidFill>
                  <a:schemeClr val="dk2"/>
                </a:solidFill>
                <a:latin typeface="Quicksand"/>
                <a:ea typeface="Quicksand"/>
                <a:cs typeface="Quicksand"/>
                <a:sym typeface="Quicksand"/>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s-ES" dirty="0"/>
              <a:t>Exposición (X)</a:t>
            </a:r>
          </a:p>
        </p:txBody>
      </p:sp>
      <p:cxnSp>
        <p:nvCxnSpPr>
          <p:cNvPr id="40" name="Conector recto de flecha 39">
            <a:extLst>
              <a:ext uri="{FF2B5EF4-FFF2-40B4-BE49-F238E27FC236}">
                <a16:creationId xmlns:a16="http://schemas.microsoft.com/office/drawing/2014/main" id="{3065143C-3617-1824-50FF-16854E6544A1}"/>
              </a:ext>
            </a:extLst>
          </p:cNvPr>
          <p:cNvCxnSpPr/>
          <p:nvPr/>
        </p:nvCxnSpPr>
        <p:spPr>
          <a:xfrm flipH="1">
            <a:off x="1339758" y="2099100"/>
            <a:ext cx="395785" cy="367801"/>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21EEFDC8-A4AE-7281-4126-5B37449EEE1B}"/>
              </a:ext>
            </a:extLst>
          </p:cNvPr>
          <p:cNvCxnSpPr>
            <a:cxnSpLocks/>
          </p:cNvCxnSpPr>
          <p:nvPr/>
        </p:nvCxnSpPr>
        <p:spPr>
          <a:xfrm rot="-5400000" flipH="1">
            <a:off x="2540411" y="2113092"/>
            <a:ext cx="395785" cy="367801"/>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Google Shape;487;p43">
            <a:extLst>
              <a:ext uri="{FF2B5EF4-FFF2-40B4-BE49-F238E27FC236}">
                <a16:creationId xmlns:a16="http://schemas.microsoft.com/office/drawing/2014/main" id="{9422D347-9D90-1A78-37D4-DED70DB7AA40}"/>
              </a:ext>
            </a:extLst>
          </p:cNvPr>
          <p:cNvSpPr txBox="1">
            <a:spLocks/>
          </p:cNvSpPr>
          <p:nvPr/>
        </p:nvSpPr>
        <p:spPr>
          <a:xfrm>
            <a:off x="60298" y="2430575"/>
            <a:ext cx="21825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1600"/>
              </a:spcBef>
              <a:spcAft>
                <a:spcPts val="160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r>
              <a:rPr lang="es-ES" dirty="0">
                <a:solidFill>
                  <a:schemeClr val="bg1">
                    <a:lumMod val="50000"/>
                  </a:schemeClr>
                </a:solidFill>
              </a:rPr>
              <a:t>No tratado/expuesto (0)</a:t>
            </a:r>
          </a:p>
        </p:txBody>
      </p:sp>
      <p:sp>
        <p:nvSpPr>
          <p:cNvPr id="43" name="Google Shape;487;p43">
            <a:extLst>
              <a:ext uri="{FF2B5EF4-FFF2-40B4-BE49-F238E27FC236}">
                <a16:creationId xmlns:a16="http://schemas.microsoft.com/office/drawing/2014/main" id="{A95572B0-CF0A-B8D1-25BD-2A8288CA8D9A}"/>
              </a:ext>
            </a:extLst>
          </p:cNvPr>
          <p:cNvSpPr txBox="1">
            <a:spLocks/>
          </p:cNvSpPr>
          <p:nvPr/>
        </p:nvSpPr>
        <p:spPr>
          <a:xfrm>
            <a:off x="2127689" y="2445221"/>
            <a:ext cx="21825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1600"/>
              </a:spcBef>
              <a:spcAft>
                <a:spcPts val="160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r>
              <a:rPr lang="es-ES" dirty="0">
                <a:solidFill>
                  <a:schemeClr val="bg1">
                    <a:lumMod val="50000"/>
                  </a:schemeClr>
                </a:solidFill>
              </a:rPr>
              <a:t>Tratado/expuesto (1)</a:t>
            </a:r>
          </a:p>
        </p:txBody>
      </p:sp>
      <p:sp>
        <p:nvSpPr>
          <p:cNvPr id="44" name="Abrir llave 43">
            <a:extLst>
              <a:ext uri="{FF2B5EF4-FFF2-40B4-BE49-F238E27FC236}">
                <a16:creationId xmlns:a16="http://schemas.microsoft.com/office/drawing/2014/main" id="{EF9E7B2F-21BA-EDDE-4EA5-3C58E79CE4FF}"/>
              </a:ext>
            </a:extLst>
          </p:cNvPr>
          <p:cNvSpPr/>
          <p:nvPr/>
        </p:nvSpPr>
        <p:spPr>
          <a:xfrm>
            <a:off x="718559" y="3105316"/>
            <a:ext cx="45719" cy="1219200"/>
          </a:xfrm>
          <a:prstGeom prst="lef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45" name="Abrir llave 44">
            <a:extLst>
              <a:ext uri="{FF2B5EF4-FFF2-40B4-BE49-F238E27FC236}">
                <a16:creationId xmlns:a16="http://schemas.microsoft.com/office/drawing/2014/main" id="{9267C58A-CD42-2926-0B46-DFC9F7B16D02}"/>
              </a:ext>
            </a:extLst>
          </p:cNvPr>
          <p:cNvSpPr/>
          <p:nvPr/>
        </p:nvSpPr>
        <p:spPr>
          <a:xfrm rot="10800000">
            <a:off x="3766330" y="3105316"/>
            <a:ext cx="45719" cy="1219200"/>
          </a:xfrm>
          <a:prstGeom prst="lef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275661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4">
          <a:extLst>
            <a:ext uri="{FF2B5EF4-FFF2-40B4-BE49-F238E27FC236}">
              <a16:creationId xmlns:a16="http://schemas.microsoft.com/office/drawing/2014/main" id="{BC1675B6-8E44-B24D-6F2E-790D5C80BB8B}"/>
            </a:ext>
          </a:extLst>
        </p:cNvPr>
        <p:cNvGrpSpPr/>
        <p:nvPr/>
      </p:nvGrpSpPr>
      <p:grpSpPr>
        <a:xfrm>
          <a:off x="0" y="0"/>
          <a:ext cx="0" cy="0"/>
          <a:chOff x="0" y="0"/>
          <a:chExt cx="0" cy="0"/>
        </a:xfrm>
      </p:grpSpPr>
      <p:sp>
        <p:nvSpPr>
          <p:cNvPr id="485" name="Google Shape;485;p43">
            <a:extLst>
              <a:ext uri="{FF2B5EF4-FFF2-40B4-BE49-F238E27FC236}">
                <a16:creationId xmlns:a16="http://schemas.microsoft.com/office/drawing/2014/main" id="{767FF618-C9E1-C76C-7852-E462097B6F8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Datos Simulados: Covariables (C)</a:t>
            </a:r>
            <a:endParaRPr sz="1600" dirty="0"/>
          </a:p>
        </p:txBody>
      </p:sp>
      <p:sp>
        <p:nvSpPr>
          <p:cNvPr id="486" name="Google Shape;486;p43">
            <a:extLst>
              <a:ext uri="{FF2B5EF4-FFF2-40B4-BE49-F238E27FC236}">
                <a16:creationId xmlns:a16="http://schemas.microsoft.com/office/drawing/2014/main" id="{A85DC924-CF49-E572-48FE-28275D8E51C3}"/>
              </a:ext>
            </a:extLst>
          </p:cNvPr>
          <p:cNvSpPr txBox="1">
            <a:spLocks noGrp="1"/>
          </p:cNvSpPr>
          <p:nvPr>
            <p:ph type="subTitle" idx="1"/>
          </p:nvPr>
        </p:nvSpPr>
        <p:spPr>
          <a:xfrm>
            <a:off x="-375600" y="1583031"/>
            <a:ext cx="21912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b="1" dirty="0"/>
              <a:t>Binarias</a:t>
            </a:r>
            <a:endParaRPr b="1" dirty="0"/>
          </a:p>
        </p:txBody>
      </p:sp>
      <p:sp>
        <p:nvSpPr>
          <p:cNvPr id="488" name="Google Shape;488;p43">
            <a:extLst>
              <a:ext uri="{FF2B5EF4-FFF2-40B4-BE49-F238E27FC236}">
                <a16:creationId xmlns:a16="http://schemas.microsoft.com/office/drawing/2014/main" id="{7358D243-91C7-4693-5C6B-F1693DA31CC2}"/>
              </a:ext>
            </a:extLst>
          </p:cNvPr>
          <p:cNvSpPr txBox="1">
            <a:spLocks noGrp="1"/>
          </p:cNvSpPr>
          <p:nvPr>
            <p:ph type="subTitle" idx="13"/>
          </p:nvPr>
        </p:nvSpPr>
        <p:spPr>
          <a:xfrm>
            <a:off x="5906513" y="2218431"/>
            <a:ext cx="2182500" cy="44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Nivel Socioeconómico</a:t>
            </a:r>
            <a:endParaRPr sz="1400" dirty="0"/>
          </a:p>
        </p:txBody>
      </p:sp>
      <p:sp>
        <p:nvSpPr>
          <p:cNvPr id="489" name="Google Shape;489;p43">
            <a:extLst>
              <a:ext uri="{FF2B5EF4-FFF2-40B4-BE49-F238E27FC236}">
                <a16:creationId xmlns:a16="http://schemas.microsoft.com/office/drawing/2014/main" id="{EA1EB960-759C-B4F7-5950-F4A1FAF65D2B}"/>
              </a:ext>
            </a:extLst>
          </p:cNvPr>
          <p:cNvSpPr txBox="1">
            <a:spLocks noGrp="1"/>
          </p:cNvSpPr>
          <p:nvPr>
            <p:ph type="subTitle" idx="8"/>
          </p:nvPr>
        </p:nvSpPr>
        <p:spPr>
          <a:xfrm>
            <a:off x="737400" y="3315621"/>
            <a:ext cx="2173800" cy="44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t>Edad</a:t>
            </a:r>
            <a:endParaRPr sz="1600" dirty="0"/>
          </a:p>
        </p:txBody>
      </p:sp>
      <p:sp>
        <p:nvSpPr>
          <p:cNvPr id="490" name="Google Shape;490;p43">
            <a:extLst>
              <a:ext uri="{FF2B5EF4-FFF2-40B4-BE49-F238E27FC236}">
                <a16:creationId xmlns:a16="http://schemas.microsoft.com/office/drawing/2014/main" id="{709771A4-56CD-4D25-4D78-5EC0D343D6FB}"/>
              </a:ext>
            </a:extLst>
          </p:cNvPr>
          <p:cNvSpPr txBox="1">
            <a:spLocks noGrp="1"/>
          </p:cNvSpPr>
          <p:nvPr>
            <p:ph type="subTitle" idx="7"/>
          </p:nvPr>
        </p:nvSpPr>
        <p:spPr>
          <a:xfrm>
            <a:off x="1579806" y="996441"/>
            <a:ext cx="2182500" cy="44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t>Sexo</a:t>
            </a:r>
            <a:endParaRPr sz="1600" dirty="0"/>
          </a:p>
        </p:txBody>
      </p:sp>
      <p:sp>
        <p:nvSpPr>
          <p:cNvPr id="495" name="Google Shape;495;p43">
            <a:extLst>
              <a:ext uri="{FF2B5EF4-FFF2-40B4-BE49-F238E27FC236}">
                <a16:creationId xmlns:a16="http://schemas.microsoft.com/office/drawing/2014/main" id="{6C99E3BE-0640-2CCA-69FC-0C971FAACEF4}"/>
              </a:ext>
            </a:extLst>
          </p:cNvPr>
          <p:cNvSpPr txBox="1">
            <a:spLocks noGrp="1"/>
          </p:cNvSpPr>
          <p:nvPr>
            <p:ph type="subTitle" idx="9"/>
          </p:nvPr>
        </p:nvSpPr>
        <p:spPr>
          <a:xfrm>
            <a:off x="1588506" y="1614408"/>
            <a:ext cx="2191200" cy="44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t>Tabaquismo</a:t>
            </a:r>
            <a:endParaRPr sz="1600" dirty="0"/>
          </a:p>
        </p:txBody>
      </p:sp>
      <p:sp>
        <p:nvSpPr>
          <p:cNvPr id="496" name="Google Shape;496;p43">
            <a:extLst>
              <a:ext uri="{FF2B5EF4-FFF2-40B4-BE49-F238E27FC236}">
                <a16:creationId xmlns:a16="http://schemas.microsoft.com/office/drawing/2014/main" id="{2E501513-6591-2CB5-5905-247933116D89}"/>
              </a:ext>
            </a:extLst>
          </p:cNvPr>
          <p:cNvSpPr txBox="1">
            <a:spLocks noGrp="1"/>
          </p:cNvSpPr>
          <p:nvPr>
            <p:ph type="subTitle" idx="14"/>
          </p:nvPr>
        </p:nvSpPr>
        <p:spPr>
          <a:xfrm>
            <a:off x="6232800" y="3315621"/>
            <a:ext cx="2173800" cy="44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t>Estado Funcional</a:t>
            </a:r>
            <a:endParaRPr sz="1600" dirty="0"/>
          </a:p>
        </p:txBody>
      </p:sp>
      <p:sp>
        <p:nvSpPr>
          <p:cNvPr id="497" name="Google Shape;497;p43">
            <a:extLst>
              <a:ext uri="{FF2B5EF4-FFF2-40B4-BE49-F238E27FC236}">
                <a16:creationId xmlns:a16="http://schemas.microsoft.com/office/drawing/2014/main" id="{44578F0B-F972-20E3-BBDF-CD431E0DAF97}"/>
              </a:ext>
            </a:extLst>
          </p:cNvPr>
          <p:cNvSpPr txBox="1">
            <a:spLocks noGrp="1"/>
          </p:cNvSpPr>
          <p:nvPr>
            <p:ph type="subTitle" idx="15"/>
          </p:nvPr>
        </p:nvSpPr>
        <p:spPr>
          <a:xfrm>
            <a:off x="3476400" y="3315621"/>
            <a:ext cx="2191200" cy="44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t>Comorbilidades</a:t>
            </a:r>
            <a:endParaRPr sz="1600" dirty="0"/>
          </a:p>
        </p:txBody>
      </p:sp>
      <p:sp>
        <p:nvSpPr>
          <p:cNvPr id="498" name="Google Shape;498;p43">
            <a:extLst>
              <a:ext uri="{FF2B5EF4-FFF2-40B4-BE49-F238E27FC236}">
                <a16:creationId xmlns:a16="http://schemas.microsoft.com/office/drawing/2014/main" id="{BA8BD40A-F19C-D543-42AD-265C92B42EEA}"/>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12</a:t>
            </a:fld>
            <a:endParaRPr/>
          </a:p>
        </p:txBody>
      </p:sp>
      <p:sp>
        <p:nvSpPr>
          <p:cNvPr id="5" name="Google Shape;497;p43">
            <a:extLst>
              <a:ext uri="{FF2B5EF4-FFF2-40B4-BE49-F238E27FC236}">
                <a16:creationId xmlns:a16="http://schemas.microsoft.com/office/drawing/2014/main" id="{7B3B6905-B51F-12B2-04ED-7512DDB15321}"/>
              </a:ext>
            </a:extLst>
          </p:cNvPr>
          <p:cNvSpPr txBox="1">
            <a:spLocks/>
          </p:cNvSpPr>
          <p:nvPr/>
        </p:nvSpPr>
        <p:spPr>
          <a:xfrm>
            <a:off x="1588506" y="2218431"/>
            <a:ext cx="2191200" cy="4425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Bebas Neue"/>
              <a:buNone/>
              <a:defRPr sz="2000" b="1" i="0" u="none" strike="noStrike" cap="none">
                <a:solidFill>
                  <a:schemeClr val="dk2"/>
                </a:solidFill>
                <a:latin typeface="Quicksand"/>
                <a:ea typeface="Quicksand"/>
                <a:cs typeface="Quicksand"/>
                <a:sym typeface="Quicksand"/>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s-ES" sz="1400" dirty="0"/>
              <a:t>Cuidado Dependientes</a:t>
            </a:r>
          </a:p>
        </p:txBody>
      </p:sp>
      <p:sp>
        <p:nvSpPr>
          <p:cNvPr id="9" name="Google Shape;497;p43">
            <a:extLst>
              <a:ext uri="{FF2B5EF4-FFF2-40B4-BE49-F238E27FC236}">
                <a16:creationId xmlns:a16="http://schemas.microsoft.com/office/drawing/2014/main" id="{2CDC0FB8-C717-86DE-0706-EC39570108C9}"/>
              </a:ext>
            </a:extLst>
          </p:cNvPr>
          <p:cNvSpPr txBox="1">
            <a:spLocks/>
          </p:cNvSpPr>
          <p:nvPr/>
        </p:nvSpPr>
        <p:spPr>
          <a:xfrm>
            <a:off x="5897813" y="996441"/>
            <a:ext cx="2191200" cy="4425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Bebas Neue"/>
              <a:buNone/>
              <a:defRPr sz="2000" b="1" i="0" u="none" strike="noStrike" cap="none">
                <a:solidFill>
                  <a:schemeClr val="dk2"/>
                </a:solidFill>
                <a:latin typeface="Quicksand"/>
                <a:ea typeface="Quicksand"/>
                <a:cs typeface="Quicksand"/>
                <a:sym typeface="Quicksand"/>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s-ES" sz="1600" dirty="0"/>
              <a:t>Apoyo Familiar</a:t>
            </a:r>
          </a:p>
        </p:txBody>
      </p:sp>
      <p:sp>
        <p:nvSpPr>
          <p:cNvPr id="11" name="Google Shape;497;p43">
            <a:extLst>
              <a:ext uri="{FF2B5EF4-FFF2-40B4-BE49-F238E27FC236}">
                <a16:creationId xmlns:a16="http://schemas.microsoft.com/office/drawing/2014/main" id="{EAD8665E-9E26-48D1-F432-4F1C405DA994}"/>
              </a:ext>
            </a:extLst>
          </p:cNvPr>
          <p:cNvSpPr txBox="1">
            <a:spLocks/>
          </p:cNvSpPr>
          <p:nvPr/>
        </p:nvSpPr>
        <p:spPr>
          <a:xfrm>
            <a:off x="5896584" y="1607436"/>
            <a:ext cx="2191200" cy="4425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Bebas Neue"/>
              <a:buNone/>
              <a:defRPr sz="2000" b="1" i="0" u="none" strike="noStrike" cap="none">
                <a:solidFill>
                  <a:schemeClr val="dk2"/>
                </a:solidFill>
                <a:latin typeface="Quicksand"/>
                <a:ea typeface="Quicksand"/>
                <a:cs typeface="Quicksand"/>
                <a:sym typeface="Quicksand"/>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s-ES" sz="1600" dirty="0"/>
              <a:t>Nivel de Educación</a:t>
            </a:r>
          </a:p>
        </p:txBody>
      </p:sp>
      <p:sp>
        <p:nvSpPr>
          <p:cNvPr id="25" name="Google Shape;486;p43">
            <a:extLst>
              <a:ext uri="{FF2B5EF4-FFF2-40B4-BE49-F238E27FC236}">
                <a16:creationId xmlns:a16="http://schemas.microsoft.com/office/drawing/2014/main" id="{81638A25-D873-9F36-D176-334EB300460D}"/>
              </a:ext>
            </a:extLst>
          </p:cNvPr>
          <p:cNvSpPr txBox="1">
            <a:spLocks/>
          </p:cNvSpPr>
          <p:nvPr/>
        </p:nvSpPr>
        <p:spPr>
          <a:xfrm>
            <a:off x="3993877" y="1597316"/>
            <a:ext cx="21912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1600"/>
              </a:spcBef>
              <a:spcAft>
                <a:spcPts val="160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r>
              <a:rPr lang="es-ES" b="1" dirty="0"/>
              <a:t>Ordinales</a:t>
            </a:r>
          </a:p>
        </p:txBody>
      </p:sp>
      <p:sp>
        <p:nvSpPr>
          <p:cNvPr id="26" name="Google Shape;486;p43">
            <a:extLst>
              <a:ext uri="{FF2B5EF4-FFF2-40B4-BE49-F238E27FC236}">
                <a16:creationId xmlns:a16="http://schemas.microsoft.com/office/drawing/2014/main" id="{9EE717A5-3015-1A6B-87C3-C5D96279E459}"/>
              </a:ext>
            </a:extLst>
          </p:cNvPr>
          <p:cNvSpPr txBox="1">
            <a:spLocks/>
          </p:cNvSpPr>
          <p:nvPr/>
        </p:nvSpPr>
        <p:spPr>
          <a:xfrm>
            <a:off x="737400" y="3840073"/>
            <a:ext cx="21912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1600"/>
              </a:spcBef>
              <a:spcAft>
                <a:spcPts val="160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r>
              <a:rPr lang="es-ES" b="1" dirty="0"/>
              <a:t>Normal Truncada</a:t>
            </a:r>
          </a:p>
        </p:txBody>
      </p:sp>
      <p:sp>
        <p:nvSpPr>
          <p:cNvPr id="27" name="Google Shape;486;p43">
            <a:extLst>
              <a:ext uri="{FF2B5EF4-FFF2-40B4-BE49-F238E27FC236}">
                <a16:creationId xmlns:a16="http://schemas.microsoft.com/office/drawing/2014/main" id="{B0FB081A-7C66-3401-C5B1-3DAE73535B45}"/>
              </a:ext>
            </a:extLst>
          </p:cNvPr>
          <p:cNvSpPr txBox="1">
            <a:spLocks/>
          </p:cNvSpPr>
          <p:nvPr/>
        </p:nvSpPr>
        <p:spPr>
          <a:xfrm>
            <a:off x="3476400" y="3856210"/>
            <a:ext cx="21912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1600"/>
              </a:spcBef>
              <a:spcAft>
                <a:spcPts val="160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r>
              <a:rPr lang="es-ES" b="1" dirty="0"/>
              <a:t>Numérica</a:t>
            </a:r>
          </a:p>
        </p:txBody>
      </p:sp>
      <p:sp>
        <p:nvSpPr>
          <p:cNvPr id="28" name="Google Shape;486;p43">
            <a:extLst>
              <a:ext uri="{FF2B5EF4-FFF2-40B4-BE49-F238E27FC236}">
                <a16:creationId xmlns:a16="http://schemas.microsoft.com/office/drawing/2014/main" id="{295629E1-27FC-9B1F-77B1-B91311DA57E0}"/>
              </a:ext>
            </a:extLst>
          </p:cNvPr>
          <p:cNvSpPr txBox="1">
            <a:spLocks/>
          </p:cNvSpPr>
          <p:nvPr/>
        </p:nvSpPr>
        <p:spPr>
          <a:xfrm>
            <a:off x="6232800" y="3829359"/>
            <a:ext cx="2191200"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1pPr>
            <a:lvl2pPr marL="914400" marR="0" lvl="1" indent="-317500" algn="ctr" rtl="0">
              <a:lnSpc>
                <a:spcPct val="100000"/>
              </a:lnSpc>
              <a:spcBef>
                <a:spcPts val="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2pPr>
            <a:lvl3pPr marL="1371600" marR="0" lvl="2"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3pPr>
            <a:lvl4pPr marL="1828800" marR="0" lvl="3"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4pPr>
            <a:lvl5pPr marL="2286000" marR="0" lvl="4"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5pPr>
            <a:lvl6pPr marL="2743200" marR="0" lvl="5"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6pPr>
            <a:lvl7pPr marL="3200400" marR="0" lvl="6"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7pPr>
            <a:lvl8pPr marL="3657600" marR="0" lvl="7" indent="-317500" algn="ctr" rtl="0">
              <a:lnSpc>
                <a:spcPct val="100000"/>
              </a:lnSpc>
              <a:spcBef>
                <a:spcPts val="1600"/>
              </a:spcBef>
              <a:spcAft>
                <a:spcPts val="0"/>
              </a:spcAft>
              <a:buClr>
                <a:schemeClr val="dk1"/>
              </a:buClr>
              <a:buSzPts val="1400"/>
              <a:buFont typeface="Mulish"/>
              <a:buNone/>
              <a:defRPr sz="1400" b="0" i="0" u="none" strike="noStrike" cap="none">
                <a:solidFill>
                  <a:schemeClr val="dk1"/>
                </a:solidFill>
                <a:latin typeface="Mulish"/>
                <a:ea typeface="Mulish"/>
                <a:cs typeface="Mulish"/>
                <a:sym typeface="Mulish"/>
              </a:defRPr>
            </a:lvl8pPr>
            <a:lvl9pPr marL="4114800" marR="0" lvl="8" indent="-317500" algn="ctr" rtl="0">
              <a:lnSpc>
                <a:spcPct val="100000"/>
              </a:lnSpc>
              <a:spcBef>
                <a:spcPts val="1600"/>
              </a:spcBef>
              <a:spcAft>
                <a:spcPts val="1600"/>
              </a:spcAft>
              <a:buClr>
                <a:schemeClr val="dk1"/>
              </a:buClr>
              <a:buSzPts val="1400"/>
              <a:buFont typeface="Mulish"/>
              <a:buNone/>
              <a:defRPr sz="1400" b="0" i="0" u="none" strike="noStrike" cap="none">
                <a:solidFill>
                  <a:schemeClr val="dk1"/>
                </a:solidFill>
                <a:latin typeface="Mulish"/>
                <a:ea typeface="Mulish"/>
                <a:cs typeface="Mulish"/>
                <a:sym typeface="Mulish"/>
              </a:defRPr>
            </a:lvl9pPr>
          </a:lstStyle>
          <a:p>
            <a:pPr marL="0" indent="0"/>
            <a:r>
              <a:rPr lang="es-ES" b="1" dirty="0"/>
              <a:t>Continua</a:t>
            </a:r>
          </a:p>
        </p:txBody>
      </p:sp>
      <p:sp>
        <p:nvSpPr>
          <p:cNvPr id="29" name="Abrir llave 28">
            <a:extLst>
              <a:ext uri="{FF2B5EF4-FFF2-40B4-BE49-F238E27FC236}">
                <a16:creationId xmlns:a16="http://schemas.microsoft.com/office/drawing/2014/main" id="{E0948005-C393-5020-0C70-73C31E192641}"/>
              </a:ext>
            </a:extLst>
          </p:cNvPr>
          <p:cNvSpPr/>
          <p:nvPr/>
        </p:nvSpPr>
        <p:spPr>
          <a:xfrm>
            <a:off x="1135030" y="923397"/>
            <a:ext cx="238836" cy="1801505"/>
          </a:xfrm>
          <a:prstGeom prst="lef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30" name="Abrir llave 29">
            <a:extLst>
              <a:ext uri="{FF2B5EF4-FFF2-40B4-BE49-F238E27FC236}">
                <a16:creationId xmlns:a16="http://schemas.microsoft.com/office/drawing/2014/main" id="{E904A059-FD41-C66B-3526-889F64FDAB57}"/>
              </a:ext>
            </a:extLst>
          </p:cNvPr>
          <p:cNvSpPr/>
          <p:nvPr/>
        </p:nvSpPr>
        <p:spPr>
          <a:xfrm>
            <a:off x="5603867" y="923396"/>
            <a:ext cx="238836" cy="1801505"/>
          </a:xfrm>
          <a:prstGeom prst="lef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909946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247852F-4D5B-F39A-AB61-FBEBEE80E93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ES" smtClean="0"/>
              <a:t>13</a:t>
            </a:fld>
            <a:endParaRPr lang="es-ES"/>
          </a:p>
        </p:txBody>
      </p:sp>
      <p:pic>
        <p:nvPicPr>
          <p:cNvPr id="5" name="Imagen 4" descr="Interfaz de usuario gráfica, Gráfico, Histograma&#10;&#10;Descripción generada automáticamente">
            <a:extLst>
              <a:ext uri="{FF2B5EF4-FFF2-40B4-BE49-F238E27FC236}">
                <a16:creationId xmlns:a16="http://schemas.microsoft.com/office/drawing/2014/main" id="{97504F23-DA89-F883-FC6B-2C06CB2A66F4}"/>
              </a:ext>
            </a:extLst>
          </p:cNvPr>
          <p:cNvPicPr>
            <a:picLocks noChangeAspect="1"/>
          </p:cNvPicPr>
          <p:nvPr/>
        </p:nvPicPr>
        <p:blipFill>
          <a:blip r:embed="rId2"/>
          <a:stretch>
            <a:fillRect/>
          </a:stretch>
        </p:blipFill>
        <p:spPr>
          <a:xfrm>
            <a:off x="1189307" y="669029"/>
            <a:ext cx="6765385" cy="4033934"/>
          </a:xfrm>
          <a:prstGeom prst="rect">
            <a:avLst/>
          </a:prstGeom>
        </p:spPr>
      </p:pic>
    </p:spTree>
    <p:extLst>
      <p:ext uri="{BB962C8B-B14F-4D97-AF65-F5344CB8AC3E}">
        <p14:creationId xmlns:p14="http://schemas.microsoft.com/office/powerpoint/2010/main" val="749476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8">
          <a:extLst>
            <a:ext uri="{FF2B5EF4-FFF2-40B4-BE49-F238E27FC236}">
              <a16:creationId xmlns:a16="http://schemas.microsoft.com/office/drawing/2014/main" id="{8ED13EFF-3AFA-EC0E-303C-C665A7F39220}"/>
            </a:ext>
          </a:extLst>
        </p:cNvPr>
        <p:cNvGrpSpPr/>
        <p:nvPr/>
      </p:nvGrpSpPr>
      <p:grpSpPr>
        <a:xfrm>
          <a:off x="0" y="0"/>
          <a:ext cx="0" cy="0"/>
          <a:chOff x="0" y="0"/>
          <a:chExt cx="0" cy="0"/>
        </a:xfrm>
      </p:grpSpPr>
      <p:sp>
        <p:nvSpPr>
          <p:cNvPr id="329" name="Google Shape;329;p32">
            <a:extLst>
              <a:ext uri="{FF2B5EF4-FFF2-40B4-BE49-F238E27FC236}">
                <a16:creationId xmlns:a16="http://schemas.microsoft.com/office/drawing/2014/main" id="{A759F2A8-7C60-318B-7148-75AC339F2F53}"/>
              </a:ext>
            </a:extLst>
          </p:cNvPr>
          <p:cNvSpPr txBox="1">
            <a:spLocks noGrp="1"/>
          </p:cNvSpPr>
          <p:nvPr>
            <p:ph type="title"/>
          </p:nvPr>
        </p:nvSpPr>
        <p:spPr>
          <a:xfrm>
            <a:off x="3579950" y="1854500"/>
            <a:ext cx="3604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Resultados</a:t>
            </a:r>
            <a:endParaRPr sz="4000" dirty="0"/>
          </a:p>
        </p:txBody>
      </p:sp>
      <p:sp>
        <p:nvSpPr>
          <p:cNvPr id="330" name="Google Shape;330;p32">
            <a:extLst>
              <a:ext uri="{FF2B5EF4-FFF2-40B4-BE49-F238E27FC236}">
                <a16:creationId xmlns:a16="http://schemas.microsoft.com/office/drawing/2014/main" id="{CF6A3BBC-0677-26DB-7200-F5A27BC00FBA}"/>
              </a:ext>
            </a:extLst>
          </p:cNvPr>
          <p:cNvSpPr txBox="1">
            <a:spLocks noGrp="1"/>
          </p:cNvSpPr>
          <p:nvPr>
            <p:ph type="subTitle" idx="1"/>
          </p:nvPr>
        </p:nvSpPr>
        <p:spPr>
          <a:xfrm>
            <a:off x="1959250" y="2939075"/>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Descripción de los datos obtenidos y resultados del análisis estadístico</a:t>
            </a:r>
            <a:endParaRPr dirty="0"/>
          </a:p>
        </p:txBody>
      </p:sp>
      <p:sp>
        <p:nvSpPr>
          <p:cNvPr id="331" name="Google Shape;331;p32">
            <a:extLst>
              <a:ext uri="{FF2B5EF4-FFF2-40B4-BE49-F238E27FC236}">
                <a16:creationId xmlns:a16="http://schemas.microsoft.com/office/drawing/2014/main" id="{EB98BD19-14A3-934B-0AD5-DEE55FA963B0}"/>
              </a:ext>
            </a:extLst>
          </p:cNvPr>
          <p:cNvSpPr txBox="1">
            <a:spLocks noGrp="1"/>
          </p:cNvSpPr>
          <p:nvPr>
            <p:ph type="title" idx="2"/>
          </p:nvPr>
        </p:nvSpPr>
        <p:spPr>
          <a:xfrm>
            <a:off x="1959250" y="1854500"/>
            <a:ext cx="1189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332" name="Google Shape;332;p32">
            <a:extLst>
              <a:ext uri="{FF2B5EF4-FFF2-40B4-BE49-F238E27FC236}">
                <a16:creationId xmlns:a16="http://schemas.microsoft.com/office/drawing/2014/main" id="{7D509586-CF94-8CB0-3E15-E5D79659989D}"/>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14</a:t>
            </a:fld>
            <a:endParaRPr/>
          </a:p>
        </p:txBody>
      </p:sp>
      <p:cxnSp>
        <p:nvCxnSpPr>
          <p:cNvPr id="333" name="Google Shape;333;p32">
            <a:extLst>
              <a:ext uri="{FF2B5EF4-FFF2-40B4-BE49-F238E27FC236}">
                <a16:creationId xmlns:a16="http://schemas.microsoft.com/office/drawing/2014/main" id="{D4A2EC76-5760-006F-BD58-102E0EBADE95}"/>
              </a:ext>
            </a:extLst>
          </p:cNvPr>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a:extLst>
              <a:ext uri="{FF2B5EF4-FFF2-40B4-BE49-F238E27FC236}">
                <a16:creationId xmlns:a16="http://schemas.microsoft.com/office/drawing/2014/main" id="{1FABB8C0-429E-4BC3-C0CB-FD545A9453EF}"/>
              </a:ext>
            </a:extLst>
          </p:cNvPr>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a:extLst>
              <a:ext uri="{FF2B5EF4-FFF2-40B4-BE49-F238E27FC236}">
                <a16:creationId xmlns:a16="http://schemas.microsoft.com/office/drawing/2014/main" id="{F6C168CC-D7D0-ACCA-CA81-9E37138747B7}"/>
              </a:ext>
            </a:extLst>
          </p:cNvPr>
          <p:cNvSpPr/>
          <p:nvPr/>
        </p:nvSpPr>
        <p:spPr>
          <a:xfrm>
            <a:off x="32448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a:extLst>
              <a:ext uri="{FF2B5EF4-FFF2-40B4-BE49-F238E27FC236}">
                <a16:creationId xmlns:a16="http://schemas.microsoft.com/office/drawing/2014/main" id="{09307C5D-12F1-4006-53DB-269101C49099}"/>
              </a:ext>
            </a:extLst>
          </p:cNvPr>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2883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1F5B233E-68FE-81A3-084A-C11836175FC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ES" smtClean="0"/>
              <a:t>15</a:t>
            </a:fld>
            <a:endParaRPr lang="es-ES"/>
          </a:p>
        </p:txBody>
      </p:sp>
      <p:pic>
        <p:nvPicPr>
          <p:cNvPr id="4098" name="Picture 2">
            <a:extLst>
              <a:ext uri="{FF2B5EF4-FFF2-40B4-BE49-F238E27FC236}">
                <a16:creationId xmlns:a16="http://schemas.microsoft.com/office/drawing/2014/main" id="{4643328E-E3D1-8859-4322-8AAAE252A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868" y="1349090"/>
            <a:ext cx="3719133" cy="2656523"/>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6D8D8766-F180-27F6-5CC3-C8402F82D8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86232"/>
            <a:ext cx="3895134" cy="2782238"/>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562;p47">
            <a:extLst>
              <a:ext uri="{FF2B5EF4-FFF2-40B4-BE49-F238E27FC236}">
                <a16:creationId xmlns:a16="http://schemas.microsoft.com/office/drawing/2014/main" id="{147DC865-A776-ADBF-D8B0-F9481815B376}"/>
              </a:ext>
            </a:extLst>
          </p:cNvPr>
          <p:cNvSpPr txBox="1"/>
          <p:nvPr/>
        </p:nvSpPr>
        <p:spPr>
          <a:xfrm>
            <a:off x="1176193" y="555807"/>
            <a:ext cx="2428481" cy="55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dirty="0">
                <a:solidFill>
                  <a:schemeClr val="dk2"/>
                </a:solidFill>
                <a:latin typeface="Quicksand"/>
                <a:ea typeface="Quicksand"/>
                <a:cs typeface="Quicksand"/>
                <a:sym typeface="Quicksand"/>
              </a:rPr>
              <a:t>Sesgo de Género</a:t>
            </a:r>
            <a:endParaRPr sz="1800" b="1" dirty="0">
              <a:solidFill>
                <a:schemeClr val="dk2"/>
              </a:solidFill>
              <a:latin typeface="Quicksand"/>
              <a:ea typeface="Quicksand"/>
              <a:cs typeface="Quicksand"/>
              <a:sym typeface="Quicksand"/>
            </a:endParaRPr>
          </a:p>
        </p:txBody>
      </p:sp>
      <p:sp>
        <p:nvSpPr>
          <p:cNvPr id="7" name="Google Shape;562;p47">
            <a:extLst>
              <a:ext uri="{FF2B5EF4-FFF2-40B4-BE49-F238E27FC236}">
                <a16:creationId xmlns:a16="http://schemas.microsoft.com/office/drawing/2014/main" id="{453CAC9C-118D-CE11-FA1F-A96BBE1CCEC0}"/>
              </a:ext>
            </a:extLst>
          </p:cNvPr>
          <p:cNvSpPr txBox="1"/>
          <p:nvPr/>
        </p:nvSpPr>
        <p:spPr>
          <a:xfrm>
            <a:off x="4250001" y="555807"/>
            <a:ext cx="4564355" cy="558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dirty="0">
                <a:solidFill>
                  <a:schemeClr val="dk2"/>
                </a:solidFill>
                <a:latin typeface="Quicksand"/>
                <a:ea typeface="Quicksand"/>
                <a:cs typeface="Quicksand"/>
                <a:sym typeface="Quicksand"/>
              </a:rPr>
              <a:t>Correlaciones con recibir el tratamiento o no</a:t>
            </a:r>
            <a:endParaRPr sz="1800" b="1" dirty="0">
              <a:solidFill>
                <a:schemeClr val="dk2"/>
              </a:solidFill>
              <a:latin typeface="Quicksand"/>
              <a:ea typeface="Quicksand"/>
              <a:cs typeface="Quicksand"/>
              <a:sym typeface="Quicksand"/>
            </a:endParaRPr>
          </a:p>
        </p:txBody>
      </p:sp>
    </p:spTree>
    <p:extLst>
      <p:ext uri="{BB962C8B-B14F-4D97-AF65-F5344CB8AC3E}">
        <p14:creationId xmlns:p14="http://schemas.microsoft.com/office/powerpoint/2010/main" val="187557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39FC2B98-5962-873F-7721-7CA1C041241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ES" smtClean="0"/>
              <a:t>16</a:t>
            </a:fld>
            <a:endParaRPr lang="es-ES" dirty="0"/>
          </a:p>
        </p:txBody>
      </p:sp>
      <p:pic>
        <p:nvPicPr>
          <p:cNvPr id="5122" name="Picture 2">
            <a:extLst>
              <a:ext uri="{FF2B5EF4-FFF2-40B4-BE49-F238E27FC236}">
                <a16:creationId xmlns:a16="http://schemas.microsoft.com/office/drawing/2014/main" id="{E31A8996-3838-2599-6364-ACA8947DC9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755" y="510939"/>
            <a:ext cx="3391469" cy="242247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6412DC86-CA0F-3430-844C-53AC8E5990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7650" y="1517506"/>
            <a:ext cx="4319516" cy="3085369"/>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562;p47">
            <a:extLst>
              <a:ext uri="{FF2B5EF4-FFF2-40B4-BE49-F238E27FC236}">
                <a16:creationId xmlns:a16="http://schemas.microsoft.com/office/drawing/2014/main" id="{25E39537-DEE9-9EE3-32F7-4A3984AE32B0}"/>
              </a:ext>
            </a:extLst>
          </p:cNvPr>
          <p:cNvSpPr txBox="1"/>
          <p:nvPr/>
        </p:nvSpPr>
        <p:spPr>
          <a:xfrm>
            <a:off x="893542" y="2755994"/>
            <a:ext cx="2829893" cy="1106321"/>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b="1" dirty="0">
                <a:solidFill>
                  <a:schemeClr val="tx1">
                    <a:lumMod val="60000"/>
                    <a:lumOff val="40000"/>
                  </a:schemeClr>
                </a:solidFill>
                <a:latin typeface="Quicksand"/>
                <a:ea typeface="Quicksand"/>
                <a:cs typeface="Quicksand"/>
                <a:sym typeface="Quicksand"/>
              </a:rPr>
              <a:t>Como se ha distribuido la probabilidad de ser expuesto al tratamiento</a:t>
            </a:r>
            <a:endParaRPr b="1" dirty="0">
              <a:solidFill>
                <a:schemeClr val="tx1">
                  <a:lumMod val="60000"/>
                  <a:lumOff val="40000"/>
                </a:schemeClr>
              </a:solidFill>
              <a:latin typeface="Quicksand"/>
              <a:ea typeface="Quicksand"/>
              <a:cs typeface="Quicksand"/>
              <a:sym typeface="Quicksand"/>
            </a:endParaRPr>
          </a:p>
        </p:txBody>
      </p:sp>
      <p:sp>
        <p:nvSpPr>
          <p:cNvPr id="7" name="Google Shape;562;p47">
            <a:extLst>
              <a:ext uri="{FF2B5EF4-FFF2-40B4-BE49-F238E27FC236}">
                <a16:creationId xmlns:a16="http://schemas.microsoft.com/office/drawing/2014/main" id="{317189D3-6866-732E-55CC-1B8FAA6F0CCA}"/>
              </a:ext>
            </a:extLst>
          </p:cNvPr>
          <p:cNvSpPr txBox="1"/>
          <p:nvPr/>
        </p:nvSpPr>
        <p:spPr>
          <a:xfrm>
            <a:off x="5042461" y="329298"/>
            <a:ext cx="2829893" cy="1106321"/>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b="1" dirty="0">
                <a:solidFill>
                  <a:schemeClr val="tx1">
                    <a:lumMod val="60000"/>
                    <a:lumOff val="40000"/>
                  </a:schemeClr>
                </a:solidFill>
                <a:latin typeface="Quicksand"/>
                <a:ea typeface="Quicksand"/>
                <a:cs typeface="Quicksand"/>
                <a:sym typeface="Quicksand"/>
              </a:rPr>
              <a:t>Matriz de correlación entre las variables numéricas</a:t>
            </a:r>
            <a:endParaRPr b="1" dirty="0">
              <a:solidFill>
                <a:schemeClr val="tx1">
                  <a:lumMod val="60000"/>
                  <a:lumOff val="40000"/>
                </a:schemeClr>
              </a:solidFill>
              <a:latin typeface="Quicksand"/>
              <a:ea typeface="Quicksand"/>
              <a:cs typeface="Quicksand"/>
              <a:sym typeface="Quicksand"/>
            </a:endParaRPr>
          </a:p>
        </p:txBody>
      </p:sp>
    </p:spTree>
    <p:extLst>
      <p:ext uri="{BB962C8B-B14F-4D97-AF65-F5344CB8AC3E}">
        <p14:creationId xmlns:p14="http://schemas.microsoft.com/office/powerpoint/2010/main" val="1756999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F4A69588-9ECD-E3E4-3460-4DEDE0809A1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ES" smtClean="0"/>
              <a:t>17</a:t>
            </a:fld>
            <a:endParaRPr lang="es-ES"/>
          </a:p>
        </p:txBody>
      </p:sp>
      <p:pic>
        <p:nvPicPr>
          <p:cNvPr id="6148" name="Picture 4">
            <a:extLst>
              <a:ext uri="{FF2B5EF4-FFF2-40B4-BE49-F238E27FC236}">
                <a16:creationId xmlns:a16="http://schemas.microsoft.com/office/drawing/2014/main" id="{0037CBCD-C2AD-FBF3-DBE9-9078127FB1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467" y="1937983"/>
            <a:ext cx="3730848" cy="2664892"/>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5891967C-BE96-BBF4-F1F9-D13808329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7792" y="1859497"/>
            <a:ext cx="3840729" cy="2743378"/>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485;p43">
            <a:extLst>
              <a:ext uri="{FF2B5EF4-FFF2-40B4-BE49-F238E27FC236}">
                <a16:creationId xmlns:a16="http://schemas.microsoft.com/office/drawing/2014/main" id="{4CA51E33-8AC9-AC3F-F750-AC4005DDBA2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Asociaciones Significativas (1)</a:t>
            </a:r>
            <a:endParaRPr sz="1600" dirty="0"/>
          </a:p>
        </p:txBody>
      </p:sp>
      <p:sp>
        <p:nvSpPr>
          <p:cNvPr id="8" name="Google Shape;562;p47">
            <a:extLst>
              <a:ext uri="{FF2B5EF4-FFF2-40B4-BE49-F238E27FC236}">
                <a16:creationId xmlns:a16="http://schemas.microsoft.com/office/drawing/2014/main" id="{867AF911-3E84-6E3E-E879-5FED81235307}"/>
              </a:ext>
            </a:extLst>
          </p:cNvPr>
          <p:cNvSpPr txBox="1"/>
          <p:nvPr/>
        </p:nvSpPr>
        <p:spPr>
          <a:xfrm>
            <a:off x="720000" y="831659"/>
            <a:ext cx="3241730" cy="1106321"/>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b="1" dirty="0">
                <a:solidFill>
                  <a:schemeClr val="tx1">
                    <a:lumMod val="60000"/>
                    <a:lumOff val="40000"/>
                  </a:schemeClr>
                </a:solidFill>
                <a:latin typeface="Quicksand"/>
                <a:ea typeface="Quicksand"/>
                <a:cs typeface="Quicksand"/>
                <a:sym typeface="Quicksand"/>
              </a:rPr>
              <a:t>Los hombres tenían más probabilidades de ser expuesto al tratamiento</a:t>
            </a:r>
            <a:endParaRPr b="1" dirty="0">
              <a:solidFill>
                <a:schemeClr val="tx1">
                  <a:lumMod val="60000"/>
                  <a:lumOff val="40000"/>
                </a:schemeClr>
              </a:solidFill>
              <a:latin typeface="Quicksand"/>
              <a:ea typeface="Quicksand"/>
              <a:cs typeface="Quicksand"/>
              <a:sym typeface="Quicksand"/>
            </a:endParaRPr>
          </a:p>
        </p:txBody>
      </p:sp>
      <p:sp>
        <p:nvSpPr>
          <p:cNvPr id="9" name="Google Shape;562;p47">
            <a:extLst>
              <a:ext uri="{FF2B5EF4-FFF2-40B4-BE49-F238E27FC236}">
                <a16:creationId xmlns:a16="http://schemas.microsoft.com/office/drawing/2014/main" id="{B5F784E9-96BF-B40F-0098-641C5863B1CB}"/>
              </a:ext>
            </a:extLst>
          </p:cNvPr>
          <p:cNvSpPr txBox="1"/>
          <p:nvPr/>
        </p:nvSpPr>
        <p:spPr>
          <a:xfrm>
            <a:off x="4957291" y="731375"/>
            <a:ext cx="3241730" cy="1106321"/>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b="1" dirty="0">
                <a:solidFill>
                  <a:schemeClr val="tx1">
                    <a:lumMod val="60000"/>
                    <a:lumOff val="40000"/>
                  </a:schemeClr>
                </a:solidFill>
                <a:latin typeface="Quicksand"/>
                <a:ea typeface="Quicksand"/>
                <a:cs typeface="Quicksand"/>
                <a:sym typeface="Quicksand"/>
              </a:rPr>
              <a:t>A mayor estado funcional, mayor probabilidad de ser expuesto al tratamiento</a:t>
            </a:r>
            <a:endParaRPr b="1" dirty="0">
              <a:solidFill>
                <a:schemeClr val="tx1">
                  <a:lumMod val="60000"/>
                  <a:lumOff val="40000"/>
                </a:schemeClr>
              </a:solidFill>
              <a:latin typeface="Quicksand"/>
              <a:ea typeface="Quicksand"/>
              <a:cs typeface="Quicksand"/>
              <a:sym typeface="Quicksand"/>
            </a:endParaRPr>
          </a:p>
        </p:txBody>
      </p:sp>
    </p:spTree>
    <p:extLst>
      <p:ext uri="{BB962C8B-B14F-4D97-AF65-F5344CB8AC3E}">
        <p14:creationId xmlns:p14="http://schemas.microsoft.com/office/powerpoint/2010/main" val="1027662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A6A2F269-9A67-8F82-B1B2-E5AF5320D4D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ES" smtClean="0"/>
              <a:t>18</a:t>
            </a:fld>
            <a:endParaRPr lang="es-ES"/>
          </a:p>
        </p:txBody>
      </p:sp>
      <p:pic>
        <p:nvPicPr>
          <p:cNvPr id="7170" name="Picture 2">
            <a:extLst>
              <a:ext uri="{FF2B5EF4-FFF2-40B4-BE49-F238E27FC236}">
                <a16:creationId xmlns:a16="http://schemas.microsoft.com/office/drawing/2014/main" id="{B4B5CDDE-94AD-ADCB-D73F-9771253A30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6350" y="2114550"/>
            <a:ext cx="3575713" cy="255408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B43D6660-7E5E-1997-106C-4B2B7D2B99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937" y="2048794"/>
            <a:ext cx="3575713" cy="2554081"/>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485;p43">
            <a:extLst>
              <a:ext uri="{FF2B5EF4-FFF2-40B4-BE49-F238E27FC236}">
                <a16:creationId xmlns:a16="http://schemas.microsoft.com/office/drawing/2014/main" id="{1D0D3A89-5574-8BF6-A1FF-3F4A7780050C}"/>
              </a:ext>
            </a:extLst>
          </p:cNvPr>
          <p:cNvSpPr txBox="1">
            <a:spLocks noGrp="1"/>
          </p:cNvSpPr>
          <p:nvPr>
            <p:ph type="title"/>
          </p:nvPr>
        </p:nvSpPr>
        <p:spPr>
          <a:xfrm>
            <a:off x="720000" y="424553"/>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Asociaciones Significativas (2)</a:t>
            </a:r>
            <a:endParaRPr sz="1600" dirty="0"/>
          </a:p>
        </p:txBody>
      </p:sp>
      <p:sp>
        <p:nvSpPr>
          <p:cNvPr id="9" name="Google Shape;562;p47">
            <a:extLst>
              <a:ext uri="{FF2B5EF4-FFF2-40B4-BE49-F238E27FC236}">
                <a16:creationId xmlns:a16="http://schemas.microsoft.com/office/drawing/2014/main" id="{C62A8B3A-9C27-6000-B5E7-CCB06DF3C5B0}"/>
              </a:ext>
            </a:extLst>
          </p:cNvPr>
          <p:cNvSpPr txBox="1"/>
          <p:nvPr/>
        </p:nvSpPr>
        <p:spPr>
          <a:xfrm>
            <a:off x="720000" y="831659"/>
            <a:ext cx="3241730" cy="1106321"/>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b="1" dirty="0">
                <a:solidFill>
                  <a:schemeClr val="tx1">
                    <a:lumMod val="60000"/>
                    <a:lumOff val="40000"/>
                  </a:schemeClr>
                </a:solidFill>
                <a:latin typeface="Quicksand"/>
                <a:ea typeface="Quicksand"/>
                <a:cs typeface="Quicksand"/>
                <a:sym typeface="Quicksand"/>
              </a:rPr>
              <a:t>A más edad, más probabilidades de ser expuesto al tratamiento</a:t>
            </a:r>
            <a:endParaRPr b="1" dirty="0">
              <a:solidFill>
                <a:schemeClr val="tx1">
                  <a:lumMod val="60000"/>
                  <a:lumOff val="40000"/>
                </a:schemeClr>
              </a:solidFill>
              <a:latin typeface="Quicksand"/>
              <a:ea typeface="Quicksand"/>
              <a:cs typeface="Quicksand"/>
              <a:sym typeface="Quicksand"/>
            </a:endParaRPr>
          </a:p>
        </p:txBody>
      </p:sp>
      <p:sp>
        <p:nvSpPr>
          <p:cNvPr id="10" name="Google Shape;562;p47">
            <a:extLst>
              <a:ext uri="{FF2B5EF4-FFF2-40B4-BE49-F238E27FC236}">
                <a16:creationId xmlns:a16="http://schemas.microsoft.com/office/drawing/2014/main" id="{04C00045-25C6-040E-7339-7681F1302487}"/>
              </a:ext>
            </a:extLst>
          </p:cNvPr>
          <p:cNvSpPr txBox="1"/>
          <p:nvPr/>
        </p:nvSpPr>
        <p:spPr>
          <a:xfrm>
            <a:off x="5013341" y="914456"/>
            <a:ext cx="3241730" cy="1106321"/>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b="1" dirty="0">
                <a:solidFill>
                  <a:schemeClr val="tx1">
                    <a:lumMod val="60000"/>
                    <a:lumOff val="40000"/>
                  </a:schemeClr>
                </a:solidFill>
                <a:latin typeface="Quicksand"/>
                <a:ea typeface="Quicksand"/>
                <a:cs typeface="Quicksand"/>
                <a:sym typeface="Quicksand"/>
              </a:rPr>
              <a:t>La probabilidad de mejorar fue mayor en los participantes expuestos</a:t>
            </a:r>
            <a:endParaRPr b="1" dirty="0">
              <a:solidFill>
                <a:schemeClr val="tx1">
                  <a:lumMod val="60000"/>
                  <a:lumOff val="40000"/>
                </a:schemeClr>
              </a:solidFill>
              <a:latin typeface="Quicksand"/>
              <a:ea typeface="Quicksand"/>
              <a:cs typeface="Quicksand"/>
              <a:sym typeface="Quicksand"/>
            </a:endParaRPr>
          </a:p>
        </p:txBody>
      </p:sp>
    </p:spTree>
    <p:extLst>
      <p:ext uri="{BB962C8B-B14F-4D97-AF65-F5344CB8AC3E}">
        <p14:creationId xmlns:p14="http://schemas.microsoft.com/office/powerpoint/2010/main" val="3682170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907C5E94-2C67-DDB1-9739-EADFFBB51EA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ES" smtClean="0"/>
              <a:t>19</a:t>
            </a:fld>
            <a:endParaRPr lang="es-ES"/>
          </a:p>
        </p:txBody>
      </p:sp>
      <p:pic>
        <p:nvPicPr>
          <p:cNvPr id="8194" name="Picture 2">
            <a:extLst>
              <a:ext uri="{FF2B5EF4-FFF2-40B4-BE49-F238E27FC236}">
                <a16:creationId xmlns:a16="http://schemas.microsoft.com/office/drawing/2014/main" id="{3C281ECB-FA9C-6BE0-4F4B-A638718470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00" y="1329803"/>
            <a:ext cx="3575713" cy="255408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285050E4-83CA-DFB7-0888-1441373531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329803"/>
            <a:ext cx="3575713" cy="2554080"/>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485;p43">
            <a:extLst>
              <a:ext uri="{FF2B5EF4-FFF2-40B4-BE49-F238E27FC236}">
                <a16:creationId xmlns:a16="http://schemas.microsoft.com/office/drawing/2014/main" id="{D5F3220E-DA82-B27B-8D56-C9A296BC3F69}"/>
              </a:ext>
            </a:extLst>
          </p:cNvPr>
          <p:cNvSpPr txBox="1">
            <a:spLocks noGrp="1"/>
          </p:cNvSpPr>
          <p:nvPr>
            <p:ph type="title"/>
          </p:nvPr>
        </p:nvSpPr>
        <p:spPr>
          <a:xfrm>
            <a:off x="1156729" y="74782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Balance de las variables ANTES y DESPUÉS de los PS (Emparejamiento)</a:t>
            </a:r>
            <a:endParaRPr sz="1600" dirty="0"/>
          </a:p>
        </p:txBody>
      </p:sp>
    </p:spTree>
    <p:extLst>
      <p:ext uri="{BB962C8B-B14F-4D97-AF65-F5344CB8AC3E}">
        <p14:creationId xmlns:p14="http://schemas.microsoft.com/office/powerpoint/2010/main" val="3111846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F8081BEC-C1B3-2050-C410-8C8EF1A2807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ES" smtClean="0"/>
              <a:t>20</a:t>
            </a:fld>
            <a:endParaRPr lang="es-ES"/>
          </a:p>
        </p:txBody>
      </p:sp>
      <p:sp>
        <p:nvSpPr>
          <p:cNvPr id="8" name="Google Shape;485;p43">
            <a:extLst>
              <a:ext uri="{FF2B5EF4-FFF2-40B4-BE49-F238E27FC236}">
                <a16:creationId xmlns:a16="http://schemas.microsoft.com/office/drawing/2014/main" id="{6B11842F-08A9-1567-C5A8-165F0B17C44C}"/>
              </a:ext>
            </a:extLst>
          </p:cNvPr>
          <p:cNvSpPr txBox="1">
            <a:spLocks noGrp="1"/>
          </p:cNvSpPr>
          <p:nvPr>
            <p:ph type="title"/>
          </p:nvPr>
        </p:nvSpPr>
        <p:spPr>
          <a:xfrm>
            <a:off x="665409" y="51581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Resumen de los Modelos Logísticos</a:t>
            </a:r>
            <a:endParaRPr sz="1600" dirty="0"/>
          </a:p>
        </p:txBody>
      </p:sp>
      <p:sp>
        <p:nvSpPr>
          <p:cNvPr id="9" name="Google Shape;562;p47">
            <a:extLst>
              <a:ext uri="{FF2B5EF4-FFF2-40B4-BE49-F238E27FC236}">
                <a16:creationId xmlns:a16="http://schemas.microsoft.com/office/drawing/2014/main" id="{A14E801A-66B9-1D20-B945-04D75944A4DC}"/>
              </a:ext>
            </a:extLst>
          </p:cNvPr>
          <p:cNvSpPr txBox="1"/>
          <p:nvPr/>
        </p:nvSpPr>
        <p:spPr>
          <a:xfrm>
            <a:off x="665409" y="1459910"/>
            <a:ext cx="2309550" cy="749406"/>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dirty="0">
                <a:solidFill>
                  <a:schemeClr val="dk2"/>
                </a:solidFill>
                <a:latin typeface="Quicksand"/>
                <a:ea typeface="Quicksand"/>
                <a:cs typeface="Quicksand"/>
                <a:sym typeface="Quicksand"/>
              </a:rPr>
              <a:t>Modelo Inicial (Sin PS) y Refinado</a:t>
            </a:r>
            <a:endParaRPr sz="1800" b="1" dirty="0">
              <a:solidFill>
                <a:schemeClr val="dk2"/>
              </a:solidFill>
              <a:latin typeface="Quicksand"/>
              <a:ea typeface="Quicksand"/>
              <a:cs typeface="Quicksand"/>
              <a:sym typeface="Quicksand"/>
            </a:endParaRPr>
          </a:p>
        </p:txBody>
      </p:sp>
      <p:sp>
        <p:nvSpPr>
          <p:cNvPr id="10" name="Google Shape;562;p47">
            <a:extLst>
              <a:ext uri="{FF2B5EF4-FFF2-40B4-BE49-F238E27FC236}">
                <a16:creationId xmlns:a16="http://schemas.microsoft.com/office/drawing/2014/main" id="{0E482E0A-4BC2-3800-F4E9-0F9E85500A02}"/>
              </a:ext>
            </a:extLst>
          </p:cNvPr>
          <p:cNvSpPr txBox="1"/>
          <p:nvPr/>
        </p:nvSpPr>
        <p:spPr>
          <a:xfrm>
            <a:off x="5755749" y="2373863"/>
            <a:ext cx="2999016" cy="1106321"/>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s-ES" b="1" dirty="0">
                <a:solidFill>
                  <a:schemeClr val="tx1">
                    <a:lumMod val="60000"/>
                    <a:lumOff val="40000"/>
                  </a:schemeClr>
                </a:solidFill>
                <a:latin typeface="Quicksand"/>
                <a:ea typeface="Quicksand"/>
                <a:cs typeface="Quicksand"/>
                <a:sym typeface="Quicksand"/>
              </a:rPr>
              <a:t>Bajo ajuste, con comorbilidades y apoyo familiar marginalmente significativos.</a:t>
            </a:r>
          </a:p>
        </p:txBody>
      </p:sp>
      <p:sp>
        <p:nvSpPr>
          <p:cNvPr id="12" name="Google Shape;562;p47">
            <a:extLst>
              <a:ext uri="{FF2B5EF4-FFF2-40B4-BE49-F238E27FC236}">
                <a16:creationId xmlns:a16="http://schemas.microsoft.com/office/drawing/2014/main" id="{C4247B57-2265-D269-CB41-3610A30B6F5B}"/>
              </a:ext>
            </a:extLst>
          </p:cNvPr>
          <p:cNvSpPr txBox="1"/>
          <p:nvPr/>
        </p:nvSpPr>
        <p:spPr>
          <a:xfrm>
            <a:off x="3303851" y="1498807"/>
            <a:ext cx="2378439" cy="826863"/>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dirty="0">
                <a:solidFill>
                  <a:schemeClr val="dk2"/>
                </a:solidFill>
                <a:latin typeface="Quicksand"/>
                <a:ea typeface="Quicksand"/>
                <a:cs typeface="Quicksand"/>
                <a:sym typeface="Quicksand"/>
              </a:rPr>
              <a:t>Modelo con PS (Emparejamiento) y Refinado</a:t>
            </a:r>
          </a:p>
        </p:txBody>
      </p:sp>
      <p:sp>
        <p:nvSpPr>
          <p:cNvPr id="15" name="Google Shape;562;p47">
            <a:extLst>
              <a:ext uri="{FF2B5EF4-FFF2-40B4-BE49-F238E27FC236}">
                <a16:creationId xmlns:a16="http://schemas.microsoft.com/office/drawing/2014/main" id="{911AA793-D69A-35CF-786A-2BF5F3BBB591}"/>
              </a:ext>
            </a:extLst>
          </p:cNvPr>
          <p:cNvSpPr txBox="1"/>
          <p:nvPr/>
        </p:nvSpPr>
        <p:spPr>
          <a:xfrm>
            <a:off x="6185769" y="1371432"/>
            <a:ext cx="2329604" cy="837884"/>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b="1" dirty="0">
                <a:solidFill>
                  <a:schemeClr val="dk2"/>
                </a:solidFill>
                <a:latin typeface="Quicksand"/>
                <a:ea typeface="Quicksand"/>
                <a:cs typeface="Quicksand"/>
                <a:sym typeface="Quicksand"/>
              </a:rPr>
              <a:t>Modelo con PS (Ponderación, IPW)</a:t>
            </a:r>
            <a:endParaRPr sz="1800" b="1" dirty="0">
              <a:solidFill>
                <a:schemeClr val="dk2"/>
              </a:solidFill>
              <a:latin typeface="Quicksand"/>
              <a:ea typeface="Quicksand"/>
              <a:cs typeface="Quicksand"/>
              <a:sym typeface="Quicksand"/>
            </a:endParaRPr>
          </a:p>
        </p:txBody>
      </p:sp>
      <p:sp>
        <p:nvSpPr>
          <p:cNvPr id="17" name="CuadroTexto 16">
            <a:extLst>
              <a:ext uri="{FF2B5EF4-FFF2-40B4-BE49-F238E27FC236}">
                <a16:creationId xmlns:a16="http://schemas.microsoft.com/office/drawing/2014/main" id="{788EE21A-783F-A1DF-F42C-CF551E73A2C5}"/>
              </a:ext>
            </a:extLst>
          </p:cNvPr>
          <p:cNvSpPr txBox="1"/>
          <p:nvPr/>
        </p:nvSpPr>
        <p:spPr>
          <a:xfrm>
            <a:off x="448364" y="2737688"/>
            <a:ext cx="2603766" cy="954107"/>
          </a:xfrm>
          <a:prstGeom prst="rect">
            <a:avLst/>
          </a:prstGeom>
          <a:noFill/>
        </p:spPr>
        <p:txBody>
          <a:bodyPr wrap="square">
            <a:spAutoFit/>
          </a:bodyPr>
          <a:lstStyle/>
          <a:p>
            <a:pPr marL="0" lvl="0" indent="0" algn="ctr" rtl="0">
              <a:spcBef>
                <a:spcPts val="0"/>
              </a:spcBef>
              <a:spcAft>
                <a:spcPts val="0"/>
              </a:spcAft>
              <a:buNone/>
            </a:pPr>
            <a:r>
              <a:rPr lang="es-ES" b="1" dirty="0">
                <a:solidFill>
                  <a:schemeClr val="tx1">
                    <a:lumMod val="60000"/>
                    <a:lumOff val="40000"/>
                  </a:schemeClr>
                </a:solidFill>
                <a:latin typeface="Quicksand"/>
                <a:ea typeface="Quicksand"/>
                <a:cs typeface="Quicksand"/>
                <a:sym typeface="Quicksand"/>
              </a:rPr>
              <a:t>Variables significativas: sexo masculino, edad, estado funcional, nivel educativo y comorbilidades. </a:t>
            </a:r>
          </a:p>
        </p:txBody>
      </p:sp>
      <p:sp>
        <p:nvSpPr>
          <p:cNvPr id="19" name="CuadroTexto 18">
            <a:extLst>
              <a:ext uri="{FF2B5EF4-FFF2-40B4-BE49-F238E27FC236}">
                <a16:creationId xmlns:a16="http://schemas.microsoft.com/office/drawing/2014/main" id="{AF2386A1-23E6-E7C6-2A78-AB4AFBC5F560}"/>
              </a:ext>
            </a:extLst>
          </p:cNvPr>
          <p:cNvSpPr txBox="1"/>
          <p:nvPr/>
        </p:nvSpPr>
        <p:spPr>
          <a:xfrm>
            <a:off x="3193991" y="2679404"/>
            <a:ext cx="2329604" cy="1169551"/>
          </a:xfrm>
          <a:prstGeom prst="rect">
            <a:avLst/>
          </a:prstGeom>
          <a:noFill/>
        </p:spPr>
        <p:txBody>
          <a:bodyPr wrap="square">
            <a:spAutoFit/>
          </a:bodyPr>
          <a:lstStyle/>
          <a:p>
            <a:pPr marL="0" lvl="0" indent="0" algn="ctr" rtl="0">
              <a:spcBef>
                <a:spcPts val="0"/>
              </a:spcBef>
              <a:spcAft>
                <a:spcPts val="0"/>
              </a:spcAft>
              <a:buNone/>
            </a:pPr>
            <a:r>
              <a:rPr lang="es-ES" b="1" dirty="0">
                <a:solidFill>
                  <a:schemeClr val="tx1">
                    <a:lumMod val="60000"/>
                    <a:lumOff val="40000"/>
                  </a:schemeClr>
                </a:solidFill>
                <a:latin typeface="Quicksand"/>
                <a:ea typeface="Quicksand"/>
                <a:cs typeface="Quicksand"/>
                <a:sym typeface="Quicksand"/>
              </a:rPr>
              <a:t>Sexo pierde significancia. Variables significativas: edad, estado funcional, comorbilidades. </a:t>
            </a:r>
          </a:p>
        </p:txBody>
      </p:sp>
      <p:cxnSp>
        <p:nvCxnSpPr>
          <p:cNvPr id="23" name="Conector recto de flecha 22">
            <a:extLst>
              <a:ext uri="{FF2B5EF4-FFF2-40B4-BE49-F238E27FC236}">
                <a16:creationId xmlns:a16="http://schemas.microsoft.com/office/drawing/2014/main" id="{5949E385-4820-D03D-8F3B-727DD61EF26A}"/>
              </a:ext>
            </a:extLst>
          </p:cNvPr>
          <p:cNvCxnSpPr>
            <a:cxnSpLocks/>
          </p:cNvCxnSpPr>
          <p:nvPr/>
        </p:nvCxnSpPr>
        <p:spPr>
          <a:xfrm flipH="1">
            <a:off x="4472598" y="2264254"/>
            <a:ext cx="1" cy="410295"/>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B2DACF9E-3C12-745E-A01C-F5D18226A648}"/>
              </a:ext>
            </a:extLst>
          </p:cNvPr>
          <p:cNvCxnSpPr>
            <a:cxnSpLocks/>
          </p:cNvCxnSpPr>
          <p:nvPr/>
        </p:nvCxnSpPr>
        <p:spPr>
          <a:xfrm flipH="1">
            <a:off x="7350570" y="2210836"/>
            <a:ext cx="1" cy="410295"/>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19D5C584-40A0-DCD9-568B-0F9A51D9C2F0}"/>
              </a:ext>
            </a:extLst>
          </p:cNvPr>
          <p:cNvCxnSpPr>
            <a:cxnSpLocks/>
          </p:cNvCxnSpPr>
          <p:nvPr/>
        </p:nvCxnSpPr>
        <p:spPr>
          <a:xfrm flipH="1">
            <a:off x="1652970" y="2264252"/>
            <a:ext cx="1" cy="410295"/>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2787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8">
          <a:extLst>
            <a:ext uri="{FF2B5EF4-FFF2-40B4-BE49-F238E27FC236}">
              <a16:creationId xmlns:a16="http://schemas.microsoft.com/office/drawing/2014/main" id="{4DF943B8-6BF7-0559-7E20-8B6FAEC37F23}"/>
            </a:ext>
          </a:extLst>
        </p:cNvPr>
        <p:cNvGrpSpPr/>
        <p:nvPr/>
      </p:nvGrpSpPr>
      <p:grpSpPr>
        <a:xfrm>
          <a:off x="0" y="0"/>
          <a:ext cx="0" cy="0"/>
          <a:chOff x="0" y="0"/>
          <a:chExt cx="0" cy="0"/>
        </a:xfrm>
      </p:grpSpPr>
      <p:sp>
        <p:nvSpPr>
          <p:cNvPr id="329" name="Google Shape;329;p32">
            <a:extLst>
              <a:ext uri="{FF2B5EF4-FFF2-40B4-BE49-F238E27FC236}">
                <a16:creationId xmlns:a16="http://schemas.microsoft.com/office/drawing/2014/main" id="{E9EF95BD-1128-AC86-4867-F89F850C6208}"/>
              </a:ext>
            </a:extLst>
          </p:cNvPr>
          <p:cNvSpPr txBox="1">
            <a:spLocks noGrp="1"/>
          </p:cNvSpPr>
          <p:nvPr>
            <p:ph type="title"/>
          </p:nvPr>
        </p:nvSpPr>
        <p:spPr>
          <a:xfrm>
            <a:off x="3579950" y="1854500"/>
            <a:ext cx="3604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Discusión</a:t>
            </a:r>
            <a:endParaRPr sz="4000" dirty="0"/>
          </a:p>
        </p:txBody>
      </p:sp>
      <p:sp>
        <p:nvSpPr>
          <p:cNvPr id="330" name="Google Shape;330;p32">
            <a:extLst>
              <a:ext uri="{FF2B5EF4-FFF2-40B4-BE49-F238E27FC236}">
                <a16:creationId xmlns:a16="http://schemas.microsoft.com/office/drawing/2014/main" id="{722B097D-9C8B-CFBD-844A-F0D1CA7E1F89}"/>
              </a:ext>
            </a:extLst>
          </p:cNvPr>
          <p:cNvSpPr txBox="1">
            <a:spLocks noGrp="1"/>
          </p:cNvSpPr>
          <p:nvPr>
            <p:ph type="subTitle" idx="1"/>
          </p:nvPr>
        </p:nvSpPr>
        <p:spPr>
          <a:xfrm>
            <a:off x="1959250" y="2939075"/>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Discusión y Comparación de los Datos Obtenidos</a:t>
            </a:r>
            <a:endParaRPr dirty="0"/>
          </a:p>
        </p:txBody>
      </p:sp>
      <p:sp>
        <p:nvSpPr>
          <p:cNvPr id="331" name="Google Shape;331;p32">
            <a:extLst>
              <a:ext uri="{FF2B5EF4-FFF2-40B4-BE49-F238E27FC236}">
                <a16:creationId xmlns:a16="http://schemas.microsoft.com/office/drawing/2014/main" id="{C6B99060-F53B-5254-CD3C-12F791528A69}"/>
              </a:ext>
            </a:extLst>
          </p:cNvPr>
          <p:cNvSpPr txBox="1">
            <a:spLocks noGrp="1"/>
          </p:cNvSpPr>
          <p:nvPr>
            <p:ph type="title" idx="2"/>
          </p:nvPr>
        </p:nvSpPr>
        <p:spPr>
          <a:xfrm>
            <a:off x="1959250" y="1854500"/>
            <a:ext cx="1189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332" name="Google Shape;332;p32">
            <a:extLst>
              <a:ext uri="{FF2B5EF4-FFF2-40B4-BE49-F238E27FC236}">
                <a16:creationId xmlns:a16="http://schemas.microsoft.com/office/drawing/2014/main" id="{07D5A092-E100-FFC8-6A08-9445ADED7A55}"/>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21</a:t>
            </a:fld>
            <a:endParaRPr/>
          </a:p>
        </p:txBody>
      </p:sp>
      <p:cxnSp>
        <p:nvCxnSpPr>
          <p:cNvPr id="333" name="Google Shape;333;p32">
            <a:extLst>
              <a:ext uri="{FF2B5EF4-FFF2-40B4-BE49-F238E27FC236}">
                <a16:creationId xmlns:a16="http://schemas.microsoft.com/office/drawing/2014/main" id="{46E1E7E1-86C7-5D26-CD36-E6CF86BF5846}"/>
              </a:ext>
            </a:extLst>
          </p:cNvPr>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a:extLst>
              <a:ext uri="{FF2B5EF4-FFF2-40B4-BE49-F238E27FC236}">
                <a16:creationId xmlns:a16="http://schemas.microsoft.com/office/drawing/2014/main" id="{2E2BE5BC-7B8A-2A02-20F9-23E4F79BA0F6}"/>
              </a:ext>
            </a:extLst>
          </p:cNvPr>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a:extLst>
              <a:ext uri="{FF2B5EF4-FFF2-40B4-BE49-F238E27FC236}">
                <a16:creationId xmlns:a16="http://schemas.microsoft.com/office/drawing/2014/main" id="{14FC17EA-048D-7B71-4DE7-2342D20B5997}"/>
              </a:ext>
            </a:extLst>
          </p:cNvPr>
          <p:cNvSpPr/>
          <p:nvPr/>
        </p:nvSpPr>
        <p:spPr>
          <a:xfrm>
            <a:off x="32448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a:extLst>
              <a:ext uri="{FF2B5EF4-FFF2-40B4-BE49-F238E27FC236}">
                <a16:creationId xmlns:a16="http://schemas.microsoft.com/office/drawing/2014/main" id="{5DA699DF-00C3-55C2-646D-6C741071822D}"/>
              </a:ext>
            </a:extLst>
          </p:cNvPr>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8224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174A4CC9-BAEA-E211-F8C3-5A6EAEF7DCA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ES" smtClean="0"/>
              <a:t>22</a:t>
            </a:fld>
            <a:endParaRPr lang="es-ES"/>
          </a:p>
        </p:txBody>
      </p:sp>
      <p:pic>
        <p:nvPicPr>
          <p:cNvPr id="10" name="Imagen 9">
            <a:extLst>
              <a:ext uri="{FF2B5EF4-FFF2-40B4-BE49-F238E27FC236}">
                <a16:creationId xmlns:a16="http://schemas.microsoft.com/office/drawing/2014/main" id="{13EE557F-F8A5-A1F9-C6F4-210ACDFC98DF}"/>
              </a:ext>
            </a:extLst>
          </p:cNvPr>
          <p:cNvPicPr>
            <a:picLocks noChangeAspect="1"/>
          </p:cNvPicPr>
          <p:nvPr/>
        </p:nvPicPr>
        <p:blipFill>
          <a:blip r:embed="rId2"/>
          <a:stretch>
            <a:fillRect/>
          </a:stretch>
        </p:blipFill>
        <p:spPr>
          <a:xfrm>
            <a:off x="583442" y="1421959"/>
            <a:ext cx="7977116" cy="2299581"/>
          </a:xfrm>
          <a:prstGeom prst="rect">
            <a:avLst/>
          </a:prstGeom>
        </p:spPr>
      </p:pic>
      <p:sp>
        <p:nvSpPr>
          <p:cNvPr id="11" name="Google Shape;485;p43">
            <a:extLst>
              <a:ext uri="{FF2B5EF4-FFF2-40B4-BE49-F238E27FC236}">
                <a16:creationId xmlns:a16="http://schemas.microsoft.com/office/drawing/2014/main" id="{8060BC69-C22D-D2C8-6337-97F6F6EF226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sz="2400" dirty="0"/>
              <a:t>Comparación de Asociaciones</a:t>
            </a:r>
            <a:endParaRPr sz="2400" dirty="0"/>
          </a:p>
        </p:txBody>
      </p:sp>
    </p:spTree>
    <p:extLst>
      <p:ext uri="{BB962C8B-B14F-4D97-AF65-F5344CB8AC3E}">
        <p14:creationId xmlns:p14="http://schemas.microsoft.com/office/powerpoint/2010/main" val="4012136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EEE79A-A64B-1132-75E5-3FC1C4642E30}"/>
              </a:ext>
            </a:extLst>
          </p:cNvPr>
          <p:cNvSpPr>
            <a:spLocks noGrp="1"/>
          </p:cNvSpPr>
          <p:nvPr>
            <p:ph type="title"/>
          </p:nvPr>
        </p:nvSpPr>
        <p:spPr>
          <a:xfrm>
            <a:off x="-1105601" y="1208402"/>
            <a:ext cx="6693431" cy="841800"/>
          </a:xfrm>
        </p:spPr>
        <p:txBody>
          <a:bodyPr/>
          <a:lstStyle/>
          <a:p>
            <a:r>
              <a:rPr lang="es-ES" sz="1800" dirty="0"/>
              <a:t>Validez Predictiva</a:t>
            </a:r>
          </a:p>
        </p:txBody>
      </p:sp>
      <p:sp>
        <p:nvSpPr>
          <p:cNvPr id="5" name="Marcador de número de diapositiva 4">
            <a:extLst>
              <a:ext uri="{FF2B5EF4-FFF2-40B4-BE49-F238E27FC236}">
                <a16:creationId xmlns:a16="http://schemas.microsoft.com/office/drawing/2014/main" id="{F7E24CCC-AA4F-5DC2-D65A-B3E574423B0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s-ES" smtClean="0"/>
              <a:t>23</a:t>
            </a:fld>
            <a:endParaRPr lang="es-ES"/>
          </a:p>
        </p:txBody>
      </p:sp>
      <p:pic>
        <p:nvPicPr>
          <p:cNvPr id="7" name="Imagen 6">
            <a:extLst>
              <a:ext uri="{FF2B5EF4-FFF2-40B4-BE49-F238E27FC236}">
                <a16:creationId xmlns:a16="http://schemas.microsoft.com/office/drawing/2014/main" id="{7238E228-3E4B-CE3E-96F1-69866FDBF7E7}"/>
              </a:ext>
            </a:extLst>
          </p:cNvPr>
          <p:cNvPicPr>
            <a:picLocks noChangeAspect="1"/>
          </p:cNvPicPr>
          <p:nvPr/>
        </p:nvPicPr>
        <p:blipFill>
          <a:blip r:embed="rId2"/>
          <a:stretch>
            <a:fillRect/>
          </a:stretch>
        </p:blipFill>
        <p:spPr>
          <a:xfrm>
            <a:off x="641825" y="2050202"/>
            <a:ext cx="3639967" cy="846114"/>
          </a:xfrm>
          <a:prstGeom prst="rect">
            <a:avLst/>
          </a:prstGeom>
        </p:spPr>
      </p:pic>
      <p:pic>
        <p:nvPicPr>
          <p:cNvPr id="9" name="Imagen 8">
            <a:extLst>
              <a:ext uri="{FF2B5EF4-FFF2-40B4-BE49-F238E27FC236}">
                <a16:creationId xmlns:a16="http://schemas.microsoft.com/office/drawing/2014/main" id="{1055FCA4-28BE-1061-D4E6-09FAA22C09D7}"/>
              </a:ext>
            </a:extLst>
          </p:cNvPr>
          <p:cNvPicPr>
            <a:picLocks noChangeAspect="1"/>
          </p:cNvPicPr>
          <p:nvPr/>
        </p:nvPicPr>
        <p:blipFill>
          <a:blip r:embed="rId3"/>
          <a:stretch>
            <a:fillRect/>
          </a:stretch>
        </p:blipFill>
        <p:spPr>
          <a:xfrm>
            <a:off x="5147961" y="1208402"/>
            <a:ext cx="3277326" cy="3315041"/>
          </a:xfrm>
          <a:prstGeom prst="rect">
            <a:avLst/>
          </a:prstGeom>
        </p:spPr>
      </p:pic>
      <p:sp>
        <p:nvSpPr>
          <p:cNvPr id="10" name="Título 1">
            <a:extLst>
              <a:ext uri="{FF2B5EF4-FFF2-40B4-BE49-F238E27FC236}">
                <a16:creationId xmlns:a16="http://schemas.microsoft.com/office/drawing/2014/main" id="{EF317996-2C1B-0F7A-489E-CA2901D58CD0}"/>
              </a:ext>
            </a:extLst>
          </p:cNvPr>
          <p:cNvSpPr txBox="1">
            <a:spLocks/>
          </p:cNvSpPr>
          <p:nvPr/>
        </p:nvSpPr>
        <p:spPr>
          <a:xfrm>
            <a:off x="4881709" y="482608"/>
            <a:ext cx="3809830" cy="841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Quicksand"/>
              <a:buNone/>
              <a:defRPr sz="5000" b="1" i="0" u="none" strike="noStrike" cap="none">
                <a:solidFill>
                  <a:schemeClr val="dk1"/>
                </a:solidFill>
                <a:latin typeface="Quicksand"/>
                <a:ea typeface="Quicksand"/>
                <a:cs typeface="Quicksand"/>
                <a:sym typeface="Quicksand"/>
              </a:defRPr>
            </a:lvl1pPr>
            <a:lvl2pPr marR="0" lvl="1" algn="ctr" rtl="0">
              <a:lnSpc>
                <a:spcPct val="100000"/>
              </a:lnSpc>
              <a:spcBef>
                <a:spcPts val="0"/>
              </a:spcBef>
              <a:spcAft>
                <a:spcPts val="0"/>
              </a:spcAft>
              <a:buClr>
                <a:schemeClr val="dk1"/>
              </a:buClr>
              <a:buSzPts val="3600"/>
              <a:buFont typeface="Quicksand"/>
              <a:buNone/>
              <a:defRPr sz="3600" b="1" i="0" u="none" strike="noStrike" cap="none">
                <a:solidFill>
                  <a:schemeClr val="dk1"/>
                </a:solidFill>
                <a:latin typeface="Quicksand"/>
                <a:ea typeface="Quicksand"/>
                <a:cs typeface="Quicksand"/>
                <a:sym typeface="Quicksand"/>
              </a:defRPr>
            </a:lvl2pPr>
            <a:lvl3pPr marR="0" lvl="2" algn="ctr" rtl="0">
              <a:lnSpc>
                <a:spcPct val="100000"/>
              </a:lnSpc>
              <a:spcBef>
                <a:spcPts val="0"/>
              </a:spcBef>
              <a:spcAft>
                <a:spcPts val="0"/>
              </a:spcAft>
              <a:buClr>
                <a:schemeClr val="dk1"/>
              </a:buClr>
              <a:buSzPts val="3600"/>
              <a:buFont typeface="Quicksand"/>
              <a:buNone/>
              <a:defRPr sz="3600" b="1" i="0" u="none" strike="noStrike" cap="none">
                <a:solidFill>
                  <a:schemeClr val="dk1"/>
                </a:solidFill>
                <a:latin typeface="Quicksand"/>
                <a:ea typeface="Quicksand"/>
                <a:cs typeface="Quicksand"/>
                <a:sym typeface="Quicksand"/>
              </a:defRPr>
            </a:lvl3pPr>
            <a:lvl4pPr marR="0" lvl="3" algn="ctr" rtl="0">
              <a:lnSpc>
                <a:spcPct val="100000"/>
              </a:lnSpc>
              <a:spcBef>
                <a:spcPts val="0"/>
              </a:spcBef>
              <a:spcAft>
                <a:spcPts val="0"/>
              </a:spcAft>
              <a:buClr>
                <a:schemeClr val="dk1"/>
              </a:buClr>
              <a:buSzPts val="3600"/>
              <a:buFont typeface="Quicksand"/>
              <a:buNone/>
              <a:defRPr sz="3600" b="1" i="0" u="none" strike="noStrike" cap="none">
                <a:solidFill>
                  <a:schemeClr val="dk1"/>
                </a:solidFill>
                <a:latin typeface="Quicksand"/>
                <a:ea typeface="Quicksand"/>
                <a:cs typeface="Quicksand"/>
                <a:sym typeface="Quicksand"/>
              </a:defRPr>
            </a:lvl4pPr>
            <a:lvl5pPr marR="0" lvl="4" algn="ctr" rtl="0">
              <a:lnSpc>
                <a:spcPct val="100000"/>
              </a:lnSpc>
              <a:spcBef>
                <a:spcPts val="0"/>
              </a:spcBef>
              <a:spcAft>
                <a:spcPts val="0"/>
              </a:spcAft>
              <a:buClr>
                <a:schemeClr val="dk1"/>
              </a:buClr>
              <a:buSzPts val="3600"/>
              <a:buFont typeface="Quicksand"/>
              <a:buNone/>
              <a:defRPr sz="3600" b="1" i="0" u="none" strike="noStrike" cap="none">
                <a:solidFill>
                  <a:schemeClr val="dk1"/>
                </a:solidFill>
                <a:latin typeface="Quicksand"/>
                <a:ea typeface="Quicksand"/>
                <a:cs typeface="Quicksand"/>
                <a:sym typeface="Quicksand"/>
              </a:defRPr>
            </a:lvl5pPr>
            <a:lvl6pPr marR="0" lvl="5" algn="ctr" rtl="0">
              <a:lnSpc>
                <a:spcPct val="100000"/>
              </a:lnSpc>
              <a:spcBef>
                <a:spcPts val="0"/>
              </a:spcBef>
              <a:spcAft>
                <a:spcPts val="0"/>
              </a:spcAft>
              <a:buClr>
                <a:schemeClr val="dk1"/>
              </a:buClr>
              <a:buSzPts val="3600"/>
              <a:buFont typeface="Quicksand"/>
              <a:buNone/>
              <a:defRPr sz="3600" b="1" i="0" u="none" strike="noStrike" cap="none">
                <a:solidFill>
                  <a:schemeClr val="dk1"/>
                </a:solidFill>
                <a:latin typeface="Quicksand"/>
                <a:ea typeface="Quicksand"/>
                <a:cs typeface="Quicksand"/>
                <a:sym typeface="Quicksand"/>
              </a:defRPr>
            </a:lvl6pPr>
            <a:lvl7pPr marR="0" lvl="6" algn="ctr" rtl="0">
              <a:lnSpc>
                <a:spcPct val="100000"/>
              </a:lnSpc>
              <a:spcBef>
                <a:spcPts val="0"/>
              </a:spcBef>
              <a:spcAft>
                <a:spcPts val="0"/>
              </a:spcAft>
              <a:buClr>
                <a:schemeClr val="dk1"/>
              </a:buClr>
              <a:buSzPts val="3600"/>
              <a:buFont typeface="Quicksand"/>
              <a:buNone/>
              <a:defRPr sz="3600" b="1" i="0" u="none" strike="noStrike" cap="none">
                <a:solidFill>
                  <a:schemeClr val="dk1"/>
                </a:solidFill>
                <a:latin typeface="Quicksand"/>
                <a:ea typeface="Quicksand"/>
                <a:cs typeface="Quicksand"/>
                <a:sym typeface="Quicksand"/>
              </a:defRPr>
            </a:lvl7pPr>
            <a:lvl8pPr marR="0" lvl="7" algn="ctr" rtl="0">
              <a:lnSpc>
                <a:spcPct val="100000"/>
              </a:lnSpc>
              <a:spcBef>
                <a:spcPts val="0"/>
              </a:spcBef>
              <a:spcAft>
                <a:spcPts val="0"/>
              </a:spcAft>
              <a:buClr>
                <a:schemeClr val="dk1"/>
              </a:buClr>
              <a:buSzPts val="3600"/>
              <a:buFont typeface="Quicksand"/>
              <a:buNone/>
              <a:defRPr sz="3600" b="1" i="0" u="none" strike="noStrike" cap="none">
                <a:solidFill>
                  <a:schemeClr val="dk1"/>
                </a:solidFill>
                <a:latin typeface="Quicksand"/>
                <a:ea typeface="Quicksand"/>
                <a:cs typeface="Quicksand"/>
                <a:sym typeface="Quicksand"/>
              </a:defRPr>
            </a:lvl8pPr>
            <a:lvl9pPr marR="0" lvl="8" algn="ctr" rtl="0">
              <a:lnSpc>
                <a:spcPct val="100000"/>
              </a:lnSpc>
              <a:spcBef>
                <a:spcPts val="0"/>
              </a:spcBef>
              <a:spcAft>
                <a:spcPts val="0"/>
              </a:spcAft>
              <a:buClr>
                <a:schemeClr val="dk1"/>
              </a:buClr>
              <a:buSzPts val="3600"/>
              <a:buFont typeface="Quicksand"/>
              <a:buNone/>
              <a:defRPr sz="3600" b="1" i="0" u="none" strike="noStrike" cap="none">
                <a:solidFill>
                  <a:schemeClr val="dk1"/>
                </a:solidFill>
                <a:latin typeface="Quicksand"/>
                <a:ea typeface="Quicksand"/>
                <a:cs typeface="Quicksand"/>
                <a:sym typeface="Quicksand"/>
              </a:defRPr>
            </a:lvl9pPr>
          </a:lstStyle>
          <a:p>
            <a:r>
              <a:rPr lang="es-ES" sz="1800" dirty="0"/>
              <a:t>Balances</a:t>
            </a:r>
          </a:p>
        </p:txBody>
      </p:sp>
    </p:spTree>
    <p:extLst>
      <p:ext uri="{BB962C8B-B14F-4D97-AF65-F5344CB8AC3E}">
        <p14:creationId xmlns:p14="http://schemas.microsoft.com/office/powerpoint/2010/main" val="1190939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8">
          <a:extLst>
            <a:ext uri="{FF2B5EF4-FFF2-40B4-BE49-F238E27FC236}">
              <a16:creationId xmlns:a16="http://schemas.microsoft.com/office/drawing/2014/main" id="{BE929758-CEA4-F7EB-019C-C62B52B722F4}"/>
            </a:ext>
          </a:extLst>
        </p:cNvPr>
        <p:cNvGrpSpPr/>
        <p:nvPr/>
      </p:nvGrpSpPr>
      <p:grpSpPr>
        <a:xfrm>
          <a:off x="0" y="0"/>
          <a:ext cx="0" cy="0"/>
          <a:chOff x="0" y="0"/>
          <a:chExt cx="0" cy="0"/>
        </a:xfrm>
      </p:grpSpPr>
      <p:sp>
        <p:nvSpPr>
          <p:cNvPr id="329" name="Google Shape;329;p32">
            <a:extLst>
              <a:ext uri="{FF2B5EF4-FFF2-40B4-BE49-F238E27FC236}">
                <a16:creationId xmlns:a16="http://schemas.microsoft.com/office/drawing/2014/main" id="{891DA4FE-32CF-0A00-19FC-B255419D7613}"/>
              </a:ext>
            </a:extLst>
          </p:cNvPr>
          <p:cNvSpPr txBox="1">
            <a:spLocks noGrp="1"/>
          </p:cNvSpPr>
          <p:nvPr>
            <p:ph type="title"/>
          </p:nvPr>
        </p:nvSpPr>
        <p:spPr>
          <a:xfrm>
            <a:off x="3579950" y="1854500"/>
            <a:ext cx="3604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Conclusión</a:t>
            </a:r>
            <a:endParaRPr sz="4000" dirty="0"/>
          </a:p>
        </p:txBody>
      </p:sp>
      <p:sp>
        <p:nvSpPr>
          <p:cNvPr id="331" name="Google Shape;331;p32">
            <a:extLst>
              <a:ext uri="{FF2B5EF4-FFF2-40B4-BE49-F238E27FC236}">
                <a16:creationId xmlns:a16="http://schemas.microsoft.com/office/drawing/2014/main" id="{36288A85-9F8F-6E6F-BA7C-44A27E376C4A}"/>
              </a:ext>
            </a:extLst>
          </p:cNvPr>
          <p:cNvSpPr txBox="1">
            <a:spLocks noGrp="1"/>
          </p:cNvSpPr>
          <p:nvPr>
            <p:ph type="title" idx="2"/>
          </p:nvPr>
        </p:nvSpPr>
        <p:spPr>
          <a:xfrm>
            <a:off x="1959250" y="1854500"/>
            <a:ext cx="1189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332" name="Google Shape;332;p32">
            <a:extLst>
              <a:ext uri="{FF2B5EF4-FFF2-40B4-BE49-F238E27FC236}">
                <a16:creationId xmlns:a16="http://schemas.microsoft.com/office/drawing/2014/main" id="{9CB2BCE7-63B6-EB9A-0C51-7759F21F3E33}"/>
              </a:ext>
            </a:extLst>
          </p:cNvPr>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24</a:t>
            </a:fld>
            <a:endParaRPr/>
          </a:p>
        </p:txBody>
      </p:sp>
      <p:cxnSp>
        <p:nvCxnSpPr>
          <p:cNvPr id="333" name="Google Shape;333;p32">
            <a:extLst>
              <a:ext uri="{FF2B5EF4-FFF2-40B4-BE49-F238E27FC236}">
                <a16:creationId xmlns:a16="http://schemas.microsoft.com/office/drawing/2014/main" id="{690BBCAF-1F5A-5685-6A95-AD999D48CBE7}"/>
              </a:ext>
            </a:extLst>
          </p:cNvPr>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a:extLst>
              <a:ext uri="{FF2B5EF4-FFF2-40B4-BE49-F238E27FC236}">
                <a16:creationId xmlns:a16="http://schemas.microsoft.com/office/drawing/2014/main" id="{09E4604D-D81E-BD8F-3EC6-F2C5B270FDA3}"/>
              </a:ext>
            </a:extLst>
          </p:cNvPr>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a:extLst>
              <a:ext uri="{FF2B5EF4-FFF2-40B4-BE49-F238E27FC236}">
                <a16:creationId xmlns:a16="http://schemas.microsoft.com/office/drawing/2014/main" id="{69B9F6B2-ABF4-330B-8323-DDF07E48794D}"/>
              </a:ext>
            </a:extLst>
          </p:cNvPr>
          <p:cNvSpPr/>
          <p:nvPr/>
        </p:nvSpPr>
        <p:spPr>
          <a:xfrm>
            <a:off x="32448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a:extLst>
              <a:ext uri="{FF2B5EF4-FFF2-40B4-BE49-F238E27FC236}">
                <a16:creationId xmlns:a16="http://schemas.microsoft.com/office/drawing/2014/main" id="{790C5D52-E827-D05B-A503-4231779DBD8A}"/>
              </a:ext>
            </a:extLst>
          </p:cNvPr>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4932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1">
                    <a:lumMod val="50000"/>
                  </a:schemeClr>
                </a:solidFill>
              </a:rPr>
              <a:t>Conclusiones</a:t>
            </a:r>
            <a:endParaRPr dirty="0">
              <a:solidFill>
                <a:schemeClr val="bg1">
                  <a:lumMod val="50000"/>
                </a:schemeClr>
              </a:solidFill>
            </a:endParaRPr>
          </a:p>
        </p:txBody>
      </p:sp>
      <p:sp>
        <p:nvSpPr>
          <p:cNvPr id="732" name="Google Shape;732;p53"/>
          <p:cNvSpPr txBox="1">
            <a:spLocks noGrp="1"/>
          </p:cNvSpPr>
          <p:nvPr>
            <p:ph type="subTitle" idx="1"/>
          </p:nvPr>
        </p:nvSpPr>
        <p:spPr>
          <a:xfrm>
            <a:off x="936083" y="2043028"/>
            <a:ext cx="3770028" cy="91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a:t>El uso de (PS) ha reducido el sesgo y  mejorado la comparación entre los grupos de tratamiento y control</a:t>
            </a:r>
            <a:endParaRPr lang="en-US" dirty="0"/>
          </a:p>
        </p:txBody>
      </p:sp>
      <p:sp>
        <p:nvSpPr>
          <p:cNvPr id="733" name="Google Shape;733;p53"/>
          <p:cNvSpPr txBox="1">
            <a:spLocks noGrp="1"/>
          </p:cNvSpPr>
          <p:nvPr>
            <p:ph type="subTitle" idx="2"/>
          </p:nvPr>
        </p:nvSpPr>
        <p:spPr>
          <a:xfrm>
            <a:off x="5041325" y="1975263"/>
            <a:ext cx="2556900" cy="91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Los PS han sido efectivos para mitigar el sesgo de género inducido.</a:t>
            </a:r>
            <a:endParaRPr dirty="0"/>
          </a:p>
        </p:txBody>
      </p:sp>
      <p:sp>
        <p:nvSpPr>
          <p:cNvPr id="734" name="Google Shape;734;p53"/>
          <p:cNvSpPr txBox="1">
            <a:spLocks noGrp="1"/>
          </p:cNvSpPr>
          <p:nvPr>
            <p:ph type="subTitle" idx="3"/>
          </p:nvPr>
        </p:nvSpPr>
        <p:spPr>
          <a:xfrm>
            <a:off x="1037230" y="3691500"/>
            <a:ext cx="3446060" cy="91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Los Modelos de Regresión Logística han visto su capacidad predictiva reducida</a:t>
            </a:r>
            <a:endParaRPr dirty="0"/>
          </a:p>
        </p:txBody>
      </p:sp>
      <p:sp>
        <p:nvSpPr>
          <p:cNvPr id="735" name="Google Shape;735;p53"/>
          <p:cNvSpPr txBox="1">
            <a:spLocks noGrp="1"/>
          </p:cNvSpPr>
          <p:nvPr>
            <p:ph type="subTitle" idx="4"/>
          </p:nvPr>
        </p:nvSpPr>
        <p:spPr>
          <a:xfrm>
            <a:off x="4706112" y="3691500"/>
            <a:ext cx="3450148" cy="91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a:t>Usar datos reales y explorar más métodos alternativos de </a:t>
            </a:r>
            <a:r>
              <a:rPr lang="es-ES" dirty="0" err="1"/>
              <a:t>Propensity</a:t>
            </a:r>
            <a:r>
              <a:rPr lang="es-ES" dirty="0"/>
              <a:t> Scores, con otras variables de interés</a:t>
            </a:r>
            <a:endParaRPr dirty="0"/>
          </a:p>
        </p:txBody>
      </p:sp>
      <p:sp>
        <p:nvSpPr>
          <p:cNvPr id="736" name="Google Shape;736;p53"/>
          <p:cNvSpPr txBox="1">
            <a:spLocks noGrp="1"/>
          </p:cNvSpPr>
          <p:nvPr>
            <p:ph type="subTitle" idx="5"/>
          </p:nvPr>
        </p:nvSpPr>
        <p:spPr>
          <a:xfrm>
            <a:off x="1545775" y="1670463"/>
            <a:ext cx="2556900" cy="35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Validez Interna</a:t>
            </a:r>
            <a:endParaRPr dirty="0"/>
          </a:p>
        </p:txBody>
      </p:sp>
      <p:sp>
        <p:nvSpPr>
          <p:cNvPr id="737" name="Google Shape;737;p53"/>
          <p:cNvSpPr txBox="1">
            <a:spLocks noGrp="1"/>
          </p:cNvSpPr>
          <p:nvPr>
            <p:ph type="subTitle" idx="6"/>
          </p:nvPr>
        </p:nvSpPr>
        <p:spPr>
          <a:xfrm>
            <a:off x="5041325" y="1670463"/>
            <a:ext cx="2556900" cy="35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Sesgo de Género</a:t>
            </a:r>
            <a:endParaRPr dirty="0"/>
          </a:p>
        </p:txBody>
      </p:sp>
      <p:sp>
        <p:nvSpPr>
          <p:cNvPr id="738" name="Google Shape;738;p53"/>
          <p:cNvSpPr txBox="1">
            <a:spLocks noGrp="1"/>
          </p:cNvSpPr>
          <p:nvPr>
            <p:ph type="subTitle" idx="7"/>
          </p:nvPr>
        </p:nvSpPr>
        <p:spPr>
          <a:xfrm>
            <a:off x="1545775" y="3386700"/>
            <a:ext cx="2556900" cy="35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ES" dirty="0"/>
              <a:t> </a:t>
            </a:r>
            <a:r>
              <a:rPr lang="es-ES" sz="1600" dirty="0"/>
              <a:t>Capacidad predictiva</a:t>
            </a:r>
            <a:endParaRPr lang="es-ES" dirty="0"/>
          </a:p>
        </p:txBody>
      </p:sp>
      <p:sp>
        <p:nvSpPr>
          <p:cNvPr id="739" name="Google Shape;739;p53"/>
          <p:cNvSpPr txBox="1">
            <a:spLocks noGrp="1"/>
          </p:cNvSpPr>
          <p:nvPr>
            <p:ph type="subTitle" idx="8"/>
          </p:nvPr>
        </p:nvSpPr>
        <p:spPr>
          <a:xfrm>
            <a:off x="5041325" y="3386700"/>
            <a:ext cx="2556900" cy="35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ES" sz="1400" dirty="0"/>
              <a:t>Recomendaciones futuras</a:t>
            </a:r>
          </a:p>
        </p:txBody>
      </p:sp>
      <p:sp>
        <p:nvSpPr>
          <p:cNvPr id="740" name="Google Shape;740;p5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25</a:t>
            </a:fld>
            <a:endParaRPr/>
          </a:p>
        </p:txBody>
      </p:sp>
      <p:grpSp>
        <p:nvGrpSpPr>
          <p:cNvPr id="741" name="Google Shape;741;p53"/>
          <p:cNvGrpSpPr/>
          <p:nvPr/>
        </p:nvGrpSpPr>
        <p:grpSpPr>
          <a:xfrm>
            <a:off x="2633552" y="1197876"/>
            <a:ext cx="381346" cy="368644"/>
            <a:chOff x="4675986" y="2745684"/>
            <a:chExt cx="381346" cy="368644"/>
          </a:xfrm>
        </p:grpSpPr>
        <p:sp>
          <p:nvSpPr>
            <p:cNvPr id="742" name="Google Shape;742;p53"/>
            <p:cNvSpPr/>
            <p:nvPr/>
          </p:nvSpPr>
          <p:spPr>
            <a:xfrm>
              <a:off x="4828918" y="2895345"/>
              <a:ext cx="69226" cy="69258"/>
            </a:xfrm>
            <a:custGeom>
              <a:avLst/>
              <a:gdLst/>
              <a:ahLst/>
              <a:cxnLst/>
              <a:rect l="l" t="t" r="r" b="b"/>
              <a:pathLst>
                <a:path w="2180" h="2181" extrusionOk="0">
                  <a:moveTo>
                    <a:pt x="1100" y="1"/>
                  </a:moveTo>
                  <a:cubicBezTo>
                    <a:pt x="535" y="1"/>
                    <a:pt x="1" y="443"/>
                    <a:pt x="1" y="1098"/>
                  </a:cubicBezTo>
                  <a:cubicBezTo>
                    <a:pt x="1" y="1705"/>
                    <a:pt x="501" y="2181"/>
                    <a:pt x="1096" y="2181"/>
                  </a:cubicBezTo>
                  <a:cubicBezTo>
                    <a:pt x="1703" y="2181"/>
                    <a:pt x="2180" y="1693"/>
                    <a:pt x="2180" y="1098"/>
                  </a:cubicBezTo>
                  <a:cubicBezTo>
                    <a:pt x="2180" y="1014"/>
                    <a:pt x="2180" y="955"/>
                    <a:pt x="2168" y="895"/>
                  </a:cubicBezTo>
                  <a:cubicBezTo>
                    <a:pt x="2146" y="819"/>
                    <a:pt x="2074" y="763"/>
                    <a:pt x="1989" y="763"/>
                  </a:cubicBezTo>
                  <a:cubicBezTo>
                    <a:pt x="1981" y="763"/>
                    <a:pt x="1973" y="763"/>
                    <a:pt x="1965" y="764"/>
                  </a:cubicBezTo>
                  <a:cubicBezTo>
                    <a:pt x="1882" y="776"/>
                    <a:pt x="1822" y="871"/>
                    <a:pt x="1834" y="955"/>
                  </a:cubicBezTo>
                  <a:cubicBezTo>
                    <a:pt x="1915" y="1442"/>
                    <a:pt x="1524" y="1834"/>
                    <a:pt x="1092" y="1834"/>
                  </a:cubicBezTo>
                  <a:cubicBezTo>
                    <a:pt x="954" y="1834"/>
                    <a:pt x="812" y="1794"/>
                    <a:pt x="679" y="1705"/>
                  </a:cubicBezTo>
                  <a:cubicBezTo>
                    <a:pt x="60" y="1288"/>
                    <a:pt x="358" y="336"/>
                    <a:pt x="1096" y="336"/>
                  </a:cubicBezTo>
                  <a:cubicBezTo>
                    <a:pt x="1251" y="336"/>
                    <a:pt x="1418" y="395"/>
                    <a:pt x="1548" y="502"/>
                  </a:cubicBezTo>
                  <a:cubicBezTo>
                    <a:pt x="1581" y="525"/>
                    <a:pt x="1615" y="536"/>
                    <a:pt x="1649" y="536"/>
                  </a:cubicBezTo>
                  <a:cubicBezTo>
                    <a:pt x="1701" y="536"/>
                    <a:pt x="1750" y="510"/>
                    <a:pt x="1787" y="466"/>
                  </a:cubicBezTo>
                  <a:cubicBezTo>
                    <a:pt x="1846" y="395"/>
                    <a:pt x="1834" y="288"/>
                    <a:pt x="1763" y="228"/>
                  </a:cubicBezTo>
                  <a:cubicBezTo>
                    <a:pt x="1558" y="72"/>
                    <a:pt x="1327" y="1"/>
                    <a:pt x="11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3"/>
            <p:cNvSpPr/>
            <p:nvPr/>
          </p:nvSpPr>
          <p:spPr>
            <a:xfrm>
              <a:off x="4675986" y="2745684"/>
              <a:ext cx="381346" cy="368644"/>
            </a:xfrm>
            <a:custGeom>
              <a:avLst/>
              <a:gdLst/>
              <a:ahLst/>
              <a:cxnLst/>
              <a:rect l="l" t="t" r="r" b="b"/>
              <a:pathLst>
                <a:path w="12009" h="11609" extrusionOk="0">
                  <a:moveTo>
                    <a:pt x="1049" y="2188"/>
                  </a:moveTo>
                  <a:cubicBezTo>
                    <a:pt x="1173" y="2188"/>
                    <a:pt x="1299" y="2229"/>
                    <a:pt x="1411" y="2322"/>
                  </a:cubicBezTo>
                  <a:cubicBezTo>
                    <a:pt x="1650" y="2512"/>
                    <a:pt x="1697" y="2846"/>
                    <a:pt x="1531" y="3096"/>
                  </a:cubicBezTo>
                  <a:cubicBezTo>
                    <a:pt x="1413" y="3272"/>
                    <a:pt x="1231" y="3354"/>
                    <a:pt x="1049" y="3354"/>
                  </a:cubicBezTo>
                  <a:cubicBezTo>
                    <a:pt x="791" y="3354"/>
                    <a:pt x="534" y="3188"/>
                    <a:pt x="471" y="2893"/>
                  </a:cubicBezTo>
                  <a:cubicBezTo>
                    <a:pt x="401" y="2493"/>
                    <a:pt x="714" y="2188"/>
                    <a:pt x="1049" y="2188"/>
                  </a:cubicBezTo>
                  <a:close/>
                  <a:moveTo>
                    <a:pt x="4317" y="3036"/>
                  </a:moveTo>
                  <a:cubicBezTo>
                    <a:pt x="4400" y="3084"/>
                    <a:pt x="5472" y="3703"/>
                    <a:pt x="5567" y="3751"/>
                  </a:cubicBezTo>
                  <a:lnTo>
                    <a:pt x="4317" y="4465"/>
                  </a:lnTo>
                  <a:lnTo>
                    <a:pt x="4317" y="3036"/>
                  </a:lnTo>
                  <a:close/>
                  <a:moveTo>
                    <a:pt x="7496" y="3036"/>
                  </a:moveTo>
                  <a:lnTo>
                    <a:pt x="7496" y="4465"/>
                  </a:lnTo>
                  <a:lnTo>
                    <a:pt x="6245" y="3751"/>
                  </a:lnTo>
                  <a:lnTo>
                    <a:pt x="7496" y="3036"/>
                  </a:lnTo>
                  <a:close/>
                  <a:moveTo>
                    <a:pt x="9246" y="2262"/>
                  </a:moveTo>
                  <a:cubicBezTo>
                    <a:pt x="10115" y="2262"/>
                    <a:pt x="10829" y="2965"/>
                    <a:pt x="10829" y="3858"/>
                  </a:cubicBezTo>
                  <a:cubicBezTo>
                    <a:pt x="10829" y="4429"/>
                    <a:pt x="10520" y="4953"/>
                    <a:pt x="10032" y="5239"/>
                  </a:cubicBezTo>
                  <a:lnTo>
                    <a:pt x="9448" y="5572"/>
                  </a:lnTo>
                  <a:cubicBezTo>
                    <a:pt x="9270" y="5477"/>
                    <a:pt x="8055" y="4775"/>
                    <a:pt x="7841" y="4656"/>
                  </a:cubicBezTo>
                  <a:lnTo>
                    <a:pt x="7841" y="2834"/>
                  </a:lnTo>
                  <a:cubicBezTo>
                    <a:pt x="8305" y="2596"/>
                    <a:pt x="8627" y="2262"/>
                    <a:pt x="9246" y="2262"/>
                  </a:cubicBezTo>
                  <a:close/>
                  <a:moveTo>
                    <a:pt x="2565" y="2283"/>
                  </a:moveTo>
                  <a:cubicBezTo>
                    <a:pt x="2837" y="2283"/>
                    <a:pt x="3111" y="2352"/>
                    <a:pt x="3364" y="2489"/>
                  </a:cubicBezTo>
                  <a:cubicBezTo>
                    <a:pt x="3745" y="2715"/>
                    <a:pt x="3602" y="2620"/>
                    <a:pt x="3971" y="2846"/>
                  </a:cubicBezTo>
                  <a:lnTo>
                    <a:pt x="3971" y="4656"/>
                  </a:lnTo>
                  <a:lnTo>
                    <a:pt x="2352" y="5584"/>
                  </a:lnTo>
                  <a:lnTo>
                    <a:pt x="1769" y="5251"/>
                  </a:lnTo>
                  <a:cubicBezTo>
                    <a:pt x="1400" y="5049"/>
                    <a:pt x="1126" y="4703"/>
                    <a:pt x="1030" y="4287"/>
                  </a:cubicBezTo>
                  <a:cubicBezTo>
                    <a:pt x="971" y="4096"/>
                    <a:pt x="947" y="3882"/>
                    <a:pt x="983" y="3691"/>
                  </a:cubicBezTo>
                  <a:lnTo>
                    <a:pt x="983" y="3691"/>
                  </a:lnTo>
                  <a:cubicBezTo>
                    <a:pt x="1005" y="3693"/>
                    <a:pt x="1027" y="3694"/>
                    <a:pt x="1049" y="3694"/>
                  </a:cubicBezTo>
                  <a:cubicBezTo>
                    <a:pt x="1694" y="3694"/>
                    <a:pt x="2153" y="3028"/>
                    <a:pt x="1900" y="2429"/>
                  </a:cubicBezTo>
                  <a:cubicBezTo>
                    <a:pt x="2111" y="2332"/>
                    <a:pt x="2337" y="2283"/>
                    <a:pt x="2565" y="2283"/>
                  </a:cubicBezTo>
                  <a:close/>
                  <a:moveTo>
                    <a:pt x="7841" y="5060"/>
                  </a:moveTo>
                  <a:cubicBezTo>
                    <a:pt x="8008" y="5156"/>
                    <a:pt x="8960" y="5703"/>
                    <a:pt x="9127" y="5787"/>
                  </a:cubicBezTo>
                  <a:lnTo>
                    <a:pt x="7841" y="6513"/>
                  </a:lnTo>
                  <a:lnTo>
                    <a:pt x="7841" y="5060"/>
                  </a:lnTo>
                  <a:close/>
                  <a:moveTo>
                    <a:pt x="3971" y="5060"/>
                  </a:moveTo>
                  <a:lnTo>
                    <a:pt x="3971" y="6525"/>
                  </a:lnTo>
                  <a:lnTo>
                    <a:pt x="2697" y="5787"/>
                  </a:lnTo>
                  <a:lnTo>
                    <a:pt x="3971" y="5060"/>
                  </a:lnTo>
                  <a:close/>
                  <a:moveTo>
                    <a:pt x="5900" y="3965"/>
                  </a:moveTo>
                  <a:lnTo>
                    <a:pt x="7496" y="4870"/>
                  </a:lnTo>
                  <a:lnTo>
                    <a:pt x="7496" y="6715"/>
                  </a:lnTo>
                  <a:lnTo>
                    <a:pt x="5900" y="7620"/>
                  </a:lnTo>
                  <a:lnTo>
                    <a:pt x="4317" y="6715"/>
                  </a:lnTo>
                  <a:lnTo>
                    <a:pt x="4317" y="4870"/>
                  </a:lnTo>
                  <a:lnTo>
                    <a:pt x="5900" y="3965"/>
                  </a:lnTo>
                  <a:close/>
                  <a:moveTo>
                    <a:pt x="4317" y="7120"/>
                  </a:moveTo>
                  <a:lnTo>
                    <a:pt x="5567" y="7835"/>
                  </a:lnTo>
                  <a:lnTo>
                    <a:pt x="4317" y="8549"/>
                  </a:lnTo>
                  <a:lnTo>
                    <a:pt x="4317" y="7120"/>
                  </a:lnTo>
                  <a:close/>
                  <a:moveTo>
                    <a:pt x="7496" y="7108"/>
                  </a:moveTo>
                  <a:lnTo>
                    <a:pt x="7496" y="8549"/>
                  </a:lnTo>
                  <a:cubicBezTo>
                    <a:pt x="7412" y="8501"/>
                    <a:pt x="6341" y="7870"/>
                    <a:pt x="6245" y="7835"/>
                  </a:cubicBezTo>
                  <a:lnTo>
                    <a:pt x="7496" y="7108"/>
                  </a:lnTo>
                  <a:close/>
                  <a:moveTo>
                    <a:pt x="9484" y="5965"/>
                  </a:moveTo>
                  <a:lnTo>
                    <a:pt x="10055" y="6299"/>
                  </a:lnTo>
                  <a:cubicBezTo>
                    <a:pt x="10436" y="6501"/>
                    <a:pt x="10698" y="6846"/>
                    <a:pt x="10806" y="7263"/>
                  </a:cubicBezTo>
                  <a:cubicBezTo>
                    <a:pt x="10853" y="7442"/>
                    <a:pt x="10865" y="7620"/>
                    <a:pt x="10865" y="7799"/>
                  </a:cubicBezTo>
                  <a:cubicBezTo>
                    <a:pt x="10859" y="7799"/>
                    <a:pt x="10853" y="7799"/>
                    <a:pt x="10847" y="7799"/>
                  </a:cubicBezTo>
                  <a:cubicBezTo>
                    <a:pt x="10143" y="7799"/>
                    <a:pt x="9677" y="8506"/>
                    <a:pt x="9972" y="9120"/>
                  </a:cubicBezTo>
                  <a:cubicBezTo>
                    <a:pt x="9748" y="9235"/>
                    <a:pt x="9502" y="9295"/>
                    <a:pt x="9253" y="9295"/>
                  </a:cubicBezTo>
                  <a:cubicBezTo>
                    <a:pt x="8987" y="9295"/>
                    <a:pt x="8718" y="9226"/>
                    <a:pt x="8472" y="9085"/>
                  </a:cubicBezTo>
                  <a:cubicBezTo>
                    <a:pt x="8079" y="8859"/>
                    <a:pt x="8234" y="8942"/>
                    <a:pt x="7853" y="8728"/>
                  </a:cubicBezTo>
                  <a:lnTo>
                    <a:pt x="7853" y="6894"/>
                  </a:lnTo>
                  <a:lnTo>
                    <a:pt x="9484" y="5965"/>
                  </a:lnTo>
                  <a:close/>
                  <a:moveTo>
                    <a:pt x="10799" y="8158"/>
                  </a:moveTo>
                  <a:cubicBezTo>
                    <a:pt x="10910" y="8158"/>
                    <a:pt x="11021" y="8189"/>
                    <a:pt x="11115" y="8251"/>
                  </a:cubicBezTo>
                  <a:cubicBezTo>
                    <a:pt x="11568" y="8549"/>
                    <a:pt x="11413" y="9216"/>
                    <a:pt x="10913" y="9299"/>
                  </a:cubicBezTo>
                  <a:cubicBezTo>
                    <a:pt x="10869" y="9308"/>
                    <a:pt x="10827" y="9312"/>
                    <a:pt x="10786" y="9312"/>
                  </a:cubicBezTo>
                  <a:cubicBezTo>
                    <a:pt x="10343" y="9312"/>
                    <a:pt x="10056" y="8809"/>
                    <a:pt x="10317" y="8406"/>
                  </a:cubicBezTo>
                  <a:cubicBezTo>
                    <a:pt x="10429" y="8243"/>
                    <a:pt x="10614" y="8158"/>
                    <a:pt x="10799" y="8158"/>
                  </a:cubicBezTo>
                  <a:close/>
                  <a:moveTo>
                    <a:pt x="5900" y="8025"/>
                  </a:moveTo>
                  <a:cubicBezTo>
                    <a:pt x="6103" y="8144"/>
                    <a:pt x="7305" y="8823"/>
                    <a:pt x="7496" y="8930"/>
                  </a:cubicBezTo>
                  <a:lnTo>
                    <a:pt x="7496" y="9644"/>
                  </a:lnTo>
                  <a:cubicBezTo>
                    <a:pt x="7496" y="10525"/>
                    <a:pt x="6781" y="11240"/>
                    <a:pt x="5900" y="11240"/>
                  </a:cubicBezTo>
                  <a:cubicBezTo>
                    <a:pt x="5031" y="11240"/>
                    <a:pt x="4317" y="10525"/>
                    <a:pt x="4317" y="9644"/>
                  </a:cubicBezTo>
                  <a:lnTo>
                    <a:pt x="4317" y="8930"/>
                  </a:lnTo>
                  <a:lnTo>
                    <a:pt x="5900" y="8025"/>
                  </a:lnTo>
                  <a:close/>
                  <a:moveTo>
                    <a:pt x="5900" y="0"/>
                  </a:moveTo>
                  <a:cubicBezTo>
                    <a:pt x="4829" y="0"/>
                    <a:pt x="3971" y="869"/>
                    <a:pt x="3971" y="1941"/>
                  </a:cubicBezTo>
                  <a:lnTo>
                    <a:pt x="3971" y="2441"/>
                  </a:lnTo>
                  <a:cubicBezTo>
                    <a:pt x="3686" y="2274"/>
                    <a:pt x="3793" y="2334"/>
                    <a:pt x="3519" y="2191"/>
                  </a:cubicBezTo>
                  <a:cubicBezTo>
                    <a:pt x="3219" y="2016"/>
                    <a:pt x="2890" y="1933"/>
                    <a:pt x="2564" y="1933"/>
                  </a:cubicBezTo>
                  <a:cubicBezTo>
                    <a:pt x="2268" y="1933"/>
                    <a:pt x="1975" y="2001"/>
                    <a:pt x="1709" y="2131"/>
                  </a:cubicBezTo>
                  <a:cubicBezTo>
                    <a:pt x="1515" y="1930"/>
                    <a:pt x="1277" y="1842"/>
                    <a:pt x="1045" y="1842"/>
                  </a:cubicBezTo>
                  <a:cubicBezTo>
                    <a:pt x="508" y="1842"/>
                    <a:pt x="1" y="2313"/>
                    <a:pt x="126" y="2953"/>
                  </a:cubicBezTo>
                  <a:cubicBezTo>
                    <a:pt x="185" y="3251"/>
                    <a:pt x="388" y="3489"/>
                    <a:pt x="638" y="3608"/>
                  </a:cubicBezTo>
                  <a:cubicBezTo>
                    <a:pt x="530" y="4358"/>
                    <a:pt x="888" y="5156"/>
                    <a:pt x="1590" y="5549"/>
                  </a:cubicBezTo>
                  <a:cubicBezTo>
                    <a:pt x="1828" y="5691"/>
                    <a:pt x="1757" y="5644"/>
                    <a:pt x="1995" y="5787"/>
                  </a:cubicBezTo>
                  <a:lnTo>
                    <a:pt x="1590" y="6025"/>
                  </a:lnTo>
                  <a:cubicBezTo>
                    <a:pt x="995" y="6370"/>
                    <a:pt x="626" y="7025"/>
                    <a:pt x="626" y="7716"/>
                  </a:cubicBezTo>
                  <a:cubicBezTo>
                    <a:pt x="626" y="8704"/>
                    <a:pt x="1400" y="9537"/>
                    <a:pt x="2388" y="9632"/>
                  </a:cubicBezTo>
                  <a:lnTo>
                    <a:pt x="2412" y="9632"/>
                  </a:lnTo>
                  <a:cubicBezTo>
                    <a:pt x="2495" y="9632"/>
                    <a:pt x="2566" y="9573"/>
                    <a:pt x="2566" y="9478"/>
                  </a:cubicBezTo>
                  <a:cubicBezTo>
                    <a:pt x="2590" y="9394"/>
                    <a:pt x="2507" y="9299"/>
                    <a:pt x="2424" y="9299"/>
                  </a:cubicBezTo>
                  <a:cubicBezTo>
                    <a:pt x="1602" y="9228"/>
                    <a:pt x="959" y="8549"/>
                    <a:pt x="959" y="7727"/>
                  </a:cubicBezTo>
                  <a:cubicBezTo>
                    <a:pt x="959" y="7144"/>
                    <a:pt x="1281" y="6620"/>
                    <a:pt x="1769" y="6346"/>
                  </a:cubicBezTo>
                  <a:lnTo>
                    <a:pt x="2352" y="6013"/>
                  </a:lnTo>
                  <a:lnTo>
                    <a:pt x="3971" y="6942"/>
                  </a:lnTo>
                  <a:lnTo>
                    <a:pt x="3971" y="8763"/>
                  </a:lnTo>
                  <a:cubicBezTo>
                    <a:pt x="3436" y="9061"/>
                    <a:pt x="3305" y="9168"/>
                    <a:pt x="3031" y="9263"/>
                  </a:cubicBezTo>
                  <a:cubicBezTo>
                    <a:pt x="2947" y="9287"/>
                    <a:pt x="2900" y="9382"/>
                    <a:pt x="2912" y="9466"/>
                  </a:cubicBezTo>
                  <a:cubicBezTo>
                    <a:pt x="2943" y="9549"/>
                    <a:pt x="3011" y="9587"/>
                    <a:pt x="3091" y="9587"/>
                  </a:cubicBezTo>
                  <a:cubicBezTo>
                    <a:pt x="3103" y="9587"/>
                    <a:pt x="3114" y="9586"/>
                    <a:pt x="3126" y="9585"/>
                  </a:cubicBezTo>
                  <a:cubicBezTo>
                    <a:pt x="3436" y="9501"/>
                    <a:pt x="3578" y="9359"/>
                    <a:pt x="3959" y="9168"/>
                  </a:cubicBezTo>
                  <a:lnTo>
                    <a:pt x="3959" y="9680"/>
                  </a:lnTo>
                  <a:cubicBezTo>
                    <a:pt x="3959" y="10752"/>
                    <a:pt x="4817" y="11609"/>
                    <a:pt x="5888" y="11609"/>
                  </a:cubicBezTo>
                  <a:cubicBezTo>
                    <a:pt x="6960" y="11609"/>
                    <a:pt x="7829" y="10752"/>
                    <a:pt x="7829" y="9680"/>
                  </a:cubicBezTo>
                  <a:lnTo>
                    <a:pt x="7829" y="9168"/>
                  </a:lnTo>
                  <a:cubicBezTo>
                    <a:pt x="8317" y="9454"/>
                    <a:pt x="8627" y="9680"/>
                    <a:pt x="9222" y="9680"/>
                  </a:cubicBezTo>
                  <a:cubicBezTo>
                    <a:pt x="9555" y="9680"/>
                    <a:pt x="9865" y="9597"/>
                    <a:pt x="10151" y="9442"/>
                  </a:cubicBezTo>
                  <a:cubicBezTo>
                    <a:pt x="10315" y="9597"/>
                    <a:pt x="10543" y="9696"/>
                    <a:pt x="10788" y="9696"/>
                  </a:cubicBezTo>
                  <a:cubicBezTo>
                    <a:pt x="10845" y="9696"/>
                    <a:pt x="10902" y="9691"/>
                    <a:pt x="10960" y="9680"/>
                  </a:cubicBezTo>
                  <a:cubicBezTo>
                    <a:pt x="11865" y="9466"/>
                    <a:pt x="12008" y="8263"/>
                    <a:pt x="11175" y="7894"/>
                  </a:cubicBezTo>
                  <a:cubicBezTo>
                    <a:pt x="11246" y="7156"/>
                    <a:pt x="10889" y="6406"/>
                    <a:pt x="10210" y="6013"/>
                  </a:cubicBezTo>
                  <a:cubicBezTo>
                    <a:pt x="9972" y="5882"/>
                    <a:pt x="10044" y="5918"/>
                    <a:pt x="9805" y="5775"/>
                  </a:cubicBezTo>
                  <a:lnTo>
                    <a:pt x="10210" y="5537"/>
                  </a:lnTo>
                  <a:cubicBezTo>
                    <a:pt x="11127" y="5001"/>
                    <a:pt x="11460" y="3810"/>
                    <a:pt x="10925" y="2882"/>
                  </a:cubicBezTo>
                  <a:cubicBezTo>
                    <a:pt x="10579" y="2286"/>
                    <a:pt x="9924" y="1917"/>
                    <a:pt x="9246" y="1917"/>
                  </a:cubicBezTo>
                  <a:cubicBezTo>
                    <a:pt x="8531" y="1917"/>
                    <a:pt x="8139" y="2286"/>
                    <a:pt x="7841" y="2429"/>
                  </a:cubicBezTo>
                  <a:cubicBezTo>
                    <a:pt x="7829" y="2012"/>
                    <a:pt x="7865" y="1810"/>
                    <a:pt x="7793" y="1489"/>
                  </a:cubicBezTo>
                  <a:cubicBezTo>
                    <a:pt x="7783" y="1408"/>
                    <a:pt x="7704" y="1352"/>
                    <a:pt x="7629" y="1352"/>
                  </a:cubicBezTo>
                  <a:cubicBezTo>
                    <a:pt x="7616" y="1352"/>
                    <a:pt x="7603" y="1354"/>
                    <a:pt x="7591" y="1358"/>
                  </a:cubicBezTo>
                  <a:cubicBezTo>
                    <a:pt x="7496" y="1369"/>
                    <a:pt x="7436" y="1477"/>
                    <a:pt x="7448" y="1560"/>
                  </a:cubicBezTo>
                  <a:cubicBezTo>
                    <a:pt x="7507" y="1834"/>
                    <a:pt x="7484" y="1989"/>
                    <a:pt x="7496" y="2620"/>
                  </a:cubicBezTo>
                  <a:lnTo>
                    <a:pt x="5900" y="3525"/>
                  </a:lnTo>
                  <a:lnTo>
                    <a:pt x="4317" y="2620"/>
                  </a:lnTo>
                  <a:lnTo>
                    <a:pt x="4317" y="1941"/>
                  </a:lnTo>
                  <a:cubicBezTo>
                    <a:pt x="4317" y="1060"/>
                    <a:pt x="5031" y="346"/>
                    <a:pt x="5900" y="346"/>
                  </a:cubicBezTo>
                  <a:cubicBezTo>
                    <a:pt x="6424" y="346"/>
                    <a:pt x="6912" y="596"/>
                    <a:pt x="7210" y="1024"/>
                  </a:cubicBezTo>
                  <a:cubicBezTo>
                    <a:pt x="7246" y="1075"/>
                    <a:pt x="7301" y="1100"/>
                    <a:pt x="7354" y="1100"/>
                  </a:cubicBezTo>
                  <a:cubicBezTo>
                    <a:pt x="7388" y="1100"/>
                    <a:pt x="7420" y="1090"/>
                    <a:pt x="7448" y="1072"/>
                  </a:cubicBezTo>
                  <a:cubicBezTo>
                    <a:pt x="7531" y="1012"/>
                    <a:pt x="7543" y="905"/>
                    <a:pt x="7496" y="834"/>
                  </a:cubicBezTo>
                  <a:cubicBezTo>
                    <a:pt x="7138" y="310"/>
                    <a:pt x="6543" y="0"/>
                    <a:pt x="59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 name="Google Shape;744;p53"/>
          <p:cNvGrpSpPr/>
          <p:nvPr/>
        </p:nvGrpSpPr>
        <p:grpSpPr>
          <a:xfrm>
            <a:off x="6131080" y="3012265"/>
            <a:ext cx="373185" cy="302466"/>
            <a:chOff x="5220616" y="2791061"/>
            <a:chExt cx="373185" cy="302466"/>
          </a:xfrm>
        </p:grpSpPr>
        <p:sp>
          <p:nvSpPr>
            <p:cNvPr id="745" name="Google Shape;745;p53"/>
            <p:cNvSpPr/>
            <p:nvPr/>
          </p:nvSpPr>
          <p:spPr>
            <a:xfrm>
              <a:off x="5220616" y="2791061"/>
              <a:ext cx="373185" cy="302466"/>
            </a:xfrm>
            <a:custGeom>
              <a:avLst/>
              <a:gdLst/>
              <a:ahLst/>
              <a:cxnLst/>
              <a:rect l="l" t="t" r="r" b="b"/>
              <a:pathLst>
                <a:path w="11752" h="9525" extrusionOk="0">
                  <a:moveTo>
                    <a:pt x="1834" y="345"/>
                  </a:moveTo>
                  <a:cubicBezTo>
                    <a:pt x="1834" y="345"/>
                    <a:pt x="1846" y="345"/>
                    <a:pt x="1846" y="357"/>
                  </a:cubicBezTo>
                  <a:lnTo>
                    <a:pt x="1846" y="1083"/>
                  </a:lnTo>
                  <a:cubicBezTo>
                    <a:pt x="1846" y="1083"/>
                    <a:pt x="1846" y="1107"/>
                    <a:pt x="1834" y="1107"/>
                  </a:cubicBezTo>
                  <a:lnTo>
                    <a:pt x="1465" y="1107"/>
                  </a:lnTo>
                  <a:cubicBezTo>
                    <a:pt x="1465" y="1107"/>
                    <a:pt x="1453" y="1107"/>
                    <a:pt x="1453" y="1083"/>
                  </a:cubicBezTo>
                  <a:lnTo>
                    <a:pt x="1453" y="357"/>
                  </a:lnTo>
                  <a:lnTo>
                    <a:pt x="1465" y="357"/>
                  </a:lnTo>
                  <a:cubicBezTo>
                    <a:pt x="1465" y="351"/>
                    <a:pt x="1468" y="348"/>
                    <a:pt x="1469" y="348"/>
                  </a:cubicBezTo>
                  <a:lnTo>
                    <a:pt x="1469" y="348"/>
                  </a:lnTo>
                  <a:cubicBezTo>
                    <a:pt x="1471" y="348"/>
                    <a:pt x="1471" y="351"/>
                    <a:pt x="1465" y="357"/>
                  </a:cubicBezTo>
                  <a:lnTo>
                    <a:pt x="1834" y="345"/>
                  </a:lnTo>
                  <a:close/>
                  <a:moveTo>
                    <a:pt x="10276" y="345"/>
                  </a:moveTo>
                  <a:cubicBezTo>
                    <a:pt x="10276" y="345"/>
                    <a:pt x="10288" y="345"/>
                    <a:pt x="10288" y="357"/>
                  </a:cubicBezTo>
                  <a:lnTo>
                    <a:pt x="10288" y="1083"/>
                  </a:lnTo>
                  <a:cubicBezTo>
                    <a:pt x="10288" y="1083"/>
                    <a:pt x="10288" y="1107"/>
                    <a:pt x="10276" y="1107"/>
                  </a:cubicBezTo>
                  <a:lnTo>
                    <a:pt x="9907" y="1107"/>
                  </a:lnTo>
                  <a:cubicBezTo>
                    <a:pt x="9907" y="1107"/>
                    <a:pt x="9895" y="1107"/>
                    <a:pt x="9895" y="1083"/>
                  </a:cubicBezTo>
                  <a:lnTo>
                    <a:pt x="9895" y="357"/>
                  </a:lnTo>
                  <a:lnTo>
                    <a:pt x="9907" y="357"/>
                  </a:lnTo>
                  <a:cubicBezTo>
                    <a:pt x="9907" y="351"/>
                    <a:pt x="9910" y="348"/>
                    <a:pt x="9911" y="348"/>
                  </a:cubicBezTo>
                  <a:lnTo>
                    <a:pt x="9911" y="348"/>
                  </a:lnTo>
                  <a:cubicBezTo>
                    <a:pt x="9912" y="348"/>
                    <a:pt x="9912" y="351"/>
                    <a:pt x="9907" y="357"/>
                  </a:cubicBezTo>
                  <a:lnTo>
                    <a:pt x="10276" y="345"/>
                  </a:lnTo>
                  <a:close/>
                  <a:moveTo>
                    <a:pt x="11038" y="1107"/>
                  </a:moveTo>
                  <a:cubicBezTo>
                    <a:pt x="11240" y="1107"/>
                    <a:pt x="11407" y="1262"/>
                    <a:pt x="11407" y="1476"/>
                  </a:cubicBezTo>
                  <a:lnTo>
                    <a:pt x="11407" y="8811"/>
                  </a:lnTo>
                  <a:cubicBezTo>
                    <a:pt x="11407" y="9001"/>
                    <a:pt x="11228" y="9180"/>
                    <a:pt x="11026" y="9180"/>
                  </a:cubicBezTo>
                  <a:lnTo>
                    <a:pt x="751" y="9180"/>
                  </a:lnTo>
                  <a:cubicBezTo>
                    <a:pt x="536" y="9180"/>
                    <a:pt x="382" y="9025"/>
                    <a:pt x="382" y="8811"/>
                  </a:cubicBezTo>
                  <a:lnTo>
                    <a:pt x="382" y="1476"/>
                  </a:lnTo>
                  <a:cubicBezTo>
                    <a:pt x="382" y="1262"/>
                    <a:pt x="536" y="1107"/>
                    <a:pt x="751" y="1107"/>
                  </a:cubicBezTo>
                  <a:lnTo>
                    <a:pt x="1120" y="1107"/>
                  </a:lnTo>
                  <a:lnTo>
                    <a:pt x="1120" y="1119"/>
                  </a:lnTo>
                  <a:cubicBezTo>
                    <a:pt x="1120" y="1310"/>
                    <a:pt x="1286" y="1476"/>
                    <a:pt x="1477" y="1476"/>
                  </a:cubicBezTo>
                  <a:lnTo>
                    <a:pt x="1858" y="1476"/>
                  </a:lnTo>
                  <a:cubicBezTo>
                    <a:pt x="2048" y="1476"/>
                    <a:pt x="2215" y="1310"/>
                    <a:pt x="2215" y="1119"/>
                  </a:cubicBezTo>
                  <a:lnTo>
                    <a:pt x="2215" y="1107"/>
                  </a:lnTo>
                  <a:lnTo>
                    <a:pt x="9573" y="1107"/>
                  </a:lnTo>
                  <a:lnTo>
                    <a:pt x="9573" y="1119"/>
                  </a:lnTo>
                  <a:cubicBezTo>
                    <a:pt x="9573" y="1310"/>
                    <a:pt x="9740" y="1476"/>
                    <a:pt x="9930" y="1476"/>
                  </a:cubicBezTo>
                  <a:lnTo>
                    <a:pt x="10311" y="1476"/>
                  </a:lnTo>
                  <a:cubicBezTo>
                    <a:pt x="10502" y="1476"/>
                    <a:pt x="10669" y="1310"/>
                    <a:pt x="10669" y="1119"/>
                  </a:cubicBezTo>
                  <a:lnTo>
                    <a:pt x="10669" y="1107"/>
                  </a:lnTo>
                  <a:close/>
                  <a:moveTo>
                    <a:pt x="1465" y="0"/>
                  </a:moveTo>
                  <a:cubicBezTo>
                    <a:pt x="1275" y="0"/>
                    <a:pt x="1108" y="167"/>
                    <a:pt x="1108" y="357"/>
                  </a:cubicBezTo>
                  <a:lnTo>
                    <a:pt x="1108" y="726"/>
                  </a:lnTo>
                  <a:lnTo>
                    <a:pt x="739" y="726"/>
                  </a:lnTo>
                  <a:cubicBezTo>
                    <a:pt x="334" y="726"/>
                    <a:pt x="1" y="1060"/>
                    <a:pt x="1" y="1464"/>
                  </a:cubicBezTo>
                  <a:lnTo>
                    <a:pt x="1" y="8799"/>
                  </a:lnTo>
                  <a:cubicBezTo>
                    <a:pt x="1" y="9204"/>
                    <a:pt x="334" y="9525"/>
                    <a:pt x="739" y="9525"/>
                  </a:cubicBezTo>
                  <a:lnTo>
                    <a:pt x="11014" y="9525"/>
                  </a:lnTo>
                  <a:cubicBezTo>
                    <a:pt x="11419" y="9525"/>
                    <a:pt x="11752" y="9204"/>
                    <a:pt x="11752" y="8799"/>
                  </a:cubicBezTo>
                  <a:lnTo>
                    <a:pt x="11752" y="1464"/>
                  </a:lnTo>
                  <a:cubicBezTo>
                    <a:pt x="11752" y="1060"/>
                    <a:pt x="11419" y="726"/>
                    <a:pt x="11026" y="726"/>
                  </a:cubicBezTo>
                  <a:lnTo>
                    <a:pt x="10645" y="726"/>
                  </a:lnTo>
                  <a:lnTo>
                    <a:pt x="10645" y="357"/>
                  </a:lnTo>
                  <a:cubicBezTo>
                    <a:pt x="10645" y="167"/>
                    <a:pt x="10490" y="0"/>
                    <a:pt x="10288" y="0"/>
                  </a:cubicBezTo>
                  <a:lnTo>
                    <a:pt x="9918" y="0"/>
                  </a:lnTo>
                  <a:cubicBezTo>
                    <a:pt x="9728" y="0"/>
                    <a:pt x="9561" y="167"/>
                    <a:pt x="9561" y="357"/>
                  </a:cubicBezTo>
                  <a:lnTo>
                    <a:pt x="9561" y="726"/>
                  </a:lnTo>
                  <a:lnTo>
                    <a:pt x="2191" y="726"/>
                  </a:lnTo>
                  <a:lnTo>
                    <a:pt x="2191" y="357"/>
                  </a:lnTo>
                  <a:cubicBezTo>
                    <a:pt x="2191" y="167"/>
                    <a:pt x="2025" y="0"/>
                    <a:pt x="18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3"/>
            <p:cNvSpPr/>
            <p:nvPr/>
          </p:nvSpPr>
          <p:spPr>
            <a:xfrm>
              <a:off x="5244432" y="2849268"/>
              <a:ext cx="326314" cy="11368"/>
            </a:xfrm>
            <a:custGeom>
              <a:avLst/>
              <a:gdLst/>
              <a:ahLst/>
              <a:cxnLst/>
              <a:rect l="l" t="t" r="r" b="b"/>
              <a:pathLst>
                <a:path w="10276" h="358" extrusionOk="0">
                  <a:moveTo>
                    <a:pt x="179" y="1"/>
                  </a:moveTo>
                  <a:cubicBezTo>
                    <a:pt x="96" y="1"/>
                    <a:pt x="1" y="72"/>
                    <a:pt x="1" y="179"/>
                  </a:cubicBezTo>
                  <a:cubicBezTo>
                    <a:pt x="1" y="274"/>
                    <a:pt x="72" y="358"/>
                    <a:pt x="179" y="358"/>
                  </a:cubicBezTo>
                  <a:lnTo>
                    <a:pt x="10097" y="358"/>
                  </a:lnTo>
                  <a:cubicBezTo>
                    <a:pt x="10180" y="358"/>
                    <a:pt x="10276" y="274"/>
                    <a:pt x="10276" y="179"/>
                  </a:cubicBezTo>
                  <a:cubicBezTo>
                    <a:pt x="10276" y="72"/>
                    <a:pt x="10180" y="1"/>
                    <a:pt x="100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53"/>
            <p:cNvSpPr/>
            <p:nvPr/>
          </p:nvSpPr>
          <p:spPr>
            <a:xfrm>
              <a:off x="5261834" y="2896139"/>
              <a:ext cx="46521" cy="11400"/>
            </a:xfrm>
            <a:custGeom>
              <a:avLst/>
              <a:gdLst/>
              <a:ahLst/>
              <a:cxnLst/>
              <a:rect l="l" t="t" r="r" b="b"/>
              <a:pathLst>
                <a:path w="1465" h="359" extrusionOk="0">
                  <a:moveTo>
                    <a:pt x="179" y="1"/>
                  </a:moveTo>
                  <a:cubicBezTo>
                    <a:pt x="96" y="1"/>
                    <a:pt x="0" y="72"/>
                    <a:pt x="0" y="180"/>
                  </a:cubicBezTo>
                  <a:cubicBezTo>
                    <a:pt x="0" y="275"/>
                    <a:pt x="72" y="358"/>
                    <a:pt x="179" y="358"/>
                  </a:cubicBezTo>
                  <a:lnTo>
                    <a:pt x="1286" y="358"/>
                  </a:lnTo>
                  <a:cubicBezTo>
                    <a:pt x="1370" y="358"/>
                    <a:pt x="1465" y="275"/>
                    <a:pt x="1465" y="180"/>
                  </a:cubicBezTo>
                  <a:cubicBezTo>
                    <a:pt x="1465" y="72"/>
                    <a:pt x="1370" y="1"/>
                    <a:pt x="12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53"/>
            <p:cNvSpPr/>
            <p:nvPr/>
          </p:nvSpPr>
          <p:spPr>
            <a:xfrm>
              <a:off x="5343507" y="2896139"/>
              <a:ext cx="46521" cy="11400"/>
            </a:xfrm>
            <a:custGeom>
              <a:avLst/>
              <a:gdLst/>
              <a:ahLst/>
              <a:cxnLst/>
              <a:rect l="l" t="t" r="r" b="b"/>
              <a:pathLst>
                <a:path w="1465" h="359" extrusionOk="0">
                  <a:moveTo>
                    <a:pt x="179" y="1"/>
                  </a:moveTo>
                  <a:cubicBezTo>
                    <a:pt x="95" y="1"/>
                    <a:pt x="0" y="72"/>
                    <a:pt x="0" y="180"/>
                  </a:cubicBezTo>
                  <a:cubicBezTo>
                    <a:pt x="0" y="275"/>
                    <a:pt x="83" y="358"/>
                    <a:pt x="179" y="358"/>
                  </a:cubicBezTo>
                  <a:lnTo>
                    <a:pt x="1286" y="358"/>
                  </a:lnTo>
                  <a:cubicBezTo>
                    <a:pt x="1369" y="358"/>
                    <a:pt x="1465" y="275"/>
                    <a:pt x="1465" y="180"/>
                  </a:cubicBezTo>
                  <a:cubicBezTo>
                    <a:pt x="1465" y="72"/>
                    <a:pt x="1381" y="1"/>
                    <a:pt x="12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3"/>
            <p:cNvSpPr/>
            <p:nvPr/>
          </p:nvSpPr>
          <p:spPr>
            <a:xfrm>
              <a:off x="5506823" y="2896139"/>
              <a:ext cx="46172" cy="11400"/>
            </a:xfrm>
            <a:custGeom>
              <a:avLst/>
              <a:gdLst/>
              <a:ahLst/>
              <a:cxnLst/>
              <a:rect l="l" t="t" r="r" b="b"/>
              <a:pathLst>
                <a:path w="1454" h="359" extrusionOk="0">
                  <a:moveTo>
                    <a:pt x="179" y="1"/>
                  </a:moveTo>
                  <a:cubicBezTo>
                    <a:pt x="84" y="1"/>
                    <a:pt x="1" y="72"/>
                    <a:pt x="1" y="180"/>
                  </a:cubicBezTo>
                  <a:cubicBezTo>
                    <a:pt x="1" y="275"/>
                    <a:pt x="72" y="358"/>
                    <a:pt x="179" y="358"/>
                  </a:cubicBezTo>
                  <a:lnTo>
                    <a:pt x="1275" y="358"/>
                  </a:lnTo>
                  <a:cubicBezTo>
                    <a:pt x="1370" y="358"/>
                    <a:pt x="1453" y="275"/>
                    <a:pt x="1453" y="180"/>
                  </a:cubicBezTo>
                  <a:cubicBezTo>
                    <a:pt x="1453" y="72"/>
                    <a:pt x="1370" y="1"/>
                    <a:pt x="1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53"/>
            <p:cNvSpPr/>
            <p:nvPr/>
          </p:nvSpPr>
          <p:spPr>
            <a:xfrm>
              <a:off x="5261834" y="2942660"/>
              <a:ext cx="46521" cy="11368"/>
            </a:xfrm>
            <a:custGeom>
              <a:avLst/>
              <a:gdLst/>
              <a:ahLst/>
              <a:cxnLst/>
              <a:rect l="l" t="t" r="r" b="b"/>
              <a:pathLst>
                <a:path w="1465" h="358" extrusionOk="0">
                  <a:moveTo>
                    <a:pt x="179" y="0"/>
                  </a:moveTo>
                  <a:cubicBezTo>
                    <a:pt x="96" y="0"/>
                    <a:pt x="0" y="84"/>
                    <a:pt x="0" y="179"/>
                  </a:cubicBezTo>
                  <a:cubicBezTo>
                    <a:pt x="0" y="286"/>
                    <a:pt x="72" y="358"/>
                    <a:pt x="179" y="358"/>
                  </a:cubicBezTo>
                  <a:lnTo>
                    <a:pt x="1286" y="358"/>
                  </a:lnTo>
                  <a:cubicBezTo>
                    <a:pt x="1370" y="358"/>
                    <a:pt x="1465" y="286"/>
                    <a:pt x="1465" y="179"/>
                  </a:cubicBezTo>
                  <a:cubicBezTo>
                    <a:pt x="1465" y="84"/>
                    <a:pt x="1370" y="0"/>
                    <a:pt x="12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53"/>
            <p:cNvSpPr/>
            <p:nvPr/>
          </p:nvSpPr>
          <p:spPr>
            <a:xfrm>
              <a:off x="5424768" y="2942660"/>
              <a:ext cx="46553" cy="11368"/>
            </a:xfrm>
            <a:custGeom>
              <a:avLst/>
              <a:gdLst/>
              <a:ahLst/>
              <a:cxnLst/>
              <a:rect l="l" t="t" r="r" b="b"/>
              <a:pathLst>
                <a:path w="1466" h="358" extrusionOk="0">
                  <a:moveTo>
                    <a:pt x="180" y="0"/>
                  </a:moveTo>
                  <a:cubicBezTo>
                    <a:pt x="96" y="0"/>
                    <a:pt x="1" y="84"/>
                    <a:pt x="1" y="179"/>
                  </a:cubicBezTo>
                  <a:cubicBezTo>
                    <a:pt x="1" y="286"/>
                    <a:pt x="84" y="358"/>
                    <a:pt x="180" y="358"/>
                  </a:cubicBezTo>
                  <a:lnTo>
                    <a:pt x="1287" y="358"/>
                  </a:lnTo>
                  <a:cubicBezTo>
                    <a:pt x="1370" y="358"/>
                    <a:pt x="1465" y="286"/>
                    <a:pt x="1465" y="179"/>
                  </a:cubicBezTo>
                  <a:cubicBezTo>
                    <a:pt x="1465" y="84"/>
                    <a:pt x="1394" y="0"/>
                    <a:pt x="12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3"/>
            <p:cNvSpPr/>
            <p:nvPr/>
          </p:nvSpPr>
          <p:spPr>
            <a:xfrm>
              <a:off x="5261834" y="2989149"/>
              <a:ext cx="46521" cy="11400"/>
            </a:xfrm>
            <a:custGeom>
              <a:avLst/>
              <a:gdLst/>
              <a:ahLst/>
              <a:cxnLst/>
              <a:rect l="l" t="t" r="r" b="b"/>
              <a:pathLst>
                <a:path w="1465" h="359" extrusionOk="0">
                  <a:moveTo>
                    <a:pt x="179" y="1"/>
                  </a:moveTo>
                  <a:cubicBezTo>
                    <a:pt x="96" y="1"/>
                    <a:pt x="0" y="72"/>
                    <a:pt x="0" y="179"/>
                  </a:cubicBezTo>
                  <a:cubicBezTo>
                    <a:pt x="0" y="287"/>
                    <a:pt x="72" y="358"/>
                    <a:pt x="179" y="358"/>
                  </a:cubicBezTo>
                  <a:lnTo>
                    <a:pt x="1286" y="358"/>
                  </a:lnTo>
                  <a:cubicBezTo>
                    <a:pt x="1370" y="358"/>
                    <a:pt x="1465" y="287"/>
                    <a:pt x="1465" y="179"/>
                  </a:cubicBezTo>
                  <a:cubicBezTo>
                    <a:pt x="1465" y="72"/>
                    <a:pt x="1370" y="1"/>
                    <a:pt x="12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3"/>
            <p:cNvSpPr/>
            <p:nvPr/>
          </p:nvSpPr>
          <p:spPr>
            <a:xfrm>
              <a:off x="5343507" y="2989149"/>
              <a:ext cx="46521" cy="11400"/>
            </a:xfrm>
            <a:custGeom>
              <a:avLst/>
              <a:gdLst/>
              <a:ahLst/>
              <a:cxnLst/>
              <a:rect l="l" t="t" r="r" b="b"/>
              <a:pathLst>
                <a:path w="1465" h="359" extrusionOk="0">
                  <a:moveTo>
                    <a:pt x="179" y="1"/>
                  </a:moveTo>
                  <a:cubicBezTo>
                    <a:pt x="95" y="1"/>
                    <a:pt x="0" y="72"/>
                    <a:pt x="0" y="179"/>
                  </a:cubicBezTo>
                  <a:cubicBezTo>
                    <a:pt x="0" y="287"/>
                    <a:pt x="83" y="358"/>
                    <a:pt x="179" y="358"/>
                  </a:cubicBezTo>
                  <a:lnTo>
                    <a:pt x="1286" y="358"/>
                  </a:lnTo>
                  <a:cubicBezTo>
                    <a:pt x="1369" y="358"/>
                    <a:pt x="1465" y="287"/>
                    <a:pt x="1465" y="179"/>
                  </a:cubicBezTo>
                  <a:cubicBezTo>
                    <a:pt x="1465" y="72"/>
                    <a:pt x="1381" y="1"/>
                    <a:pt x="12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53"/>
            <p:cNvSpPr/>
            <p:nvPr/>
          </p:nvSpPr>
          <p:spPr>
            <a:xfrm>
              <a:off x="5506823" y="2989149"/>
              <a:ext cx="46172" cy="11400"/>
            </a:xfrm>
            <a:custGeom>
              <a:avLst/>
              <a:gdLst/>
              <a:ahLst/>
              <a:cxnLst/>
              <a:rect l="l" t="t" r="r" b="b"/>
              <a:pathLst>
                <a:path w="1454" h="359" extrusionOk="0">
                  <a:moveTo>
                    <a:pt x="179" y="1"/>
                  </a:moveTo>
                  <a:cubicBezTo>
                    <a:pt x="84" y="1"/>
                    <a:pt x="1" y="72"/>
                    <a:pt x="1" y="179"/>
                  </a:cubicBezTo>
                  <a:cubicBezTo>
                    <a:pt x="1" y="287"/>
                    <a:pt x="72" y="358"/>
                    <a:pt x="179" y="358"/>
                  </a:cubicBezTo>
                  <a:lnTo>
                    <a:pt x="1275" y="358"/>
                  </a:lnTo>
                  <a:cubicBezTo>
                    <a:pt x="1370" y="358"/>
                    <a:pt x="1453" y="287"/>
                    <a:pt x="1453" y="179"/>
                  </a:cubicBezTo>
                  <a:cubicBezTo>
                    <a:pt x="1453" y="72"/>
                    <a:pt x="1370" y="1"/>
                    <a:pt x="1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3"/>
            <p:cNvSpPr/>
            <p:nvPr/>
          </p:nvSpPr>
          <p:spPr>
            <a:xfrm>
              <a:off x="5343507" y="3036051"/>
              <a:ext cx="46521" cy="10987"/>
            </a:xfrm>
            <a:custGeom>
              <a:avLst/>
              <a:gdLst/>
              <a:ahLst/>
              <a:cxnLst/>
              <a:rect l="l" t="t" r="r" b="b"/>
              <a:pathLst>
                <a:path w="1465" h="346" extrusionOk="0">
                  <a:moveTo>
                    <a:pt x="179" y="0"/>
                  </a:moveTo>
                  <a:cubicBezTo>
                    <a:pt x="95" y="0"/>
                    <a:pt x="0" y="72"/>
                    <a:pt x="0" y="179"/>
                  </a:cubicBezTo>
                  <a:cubicBezTo>
                    <a:pt x="0" y="274"/>
                    <a:pt x="83" y="346"/>
                    <a:pt x="179" y="346"/>
                  </a:cubicBezTo>
                  <a:lnTo>
                    <a:pt x="1286" y="346"/>
                  </a:lnTo>
                  <a:cubicBezTo>
                    <a:pt x="1369" y="346"/>
                    <a:pt x="1465" y="274"/>
                    <a:pt x="1465" y="179"/>
                  </a:cubicBezTo>
                  <a:cubicBezTo>
                    <a:pt x="1465" y="72"/>
                    <a:pt x="1381" y="0"/>
                    <a:pt x="12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3"/>
            <p:cNvSpPr/>
            <p:nvPr/>
          </p:nvSpPr>
          <p:spPr>
            <a:xfrm>
              <a:off x="5424768" y="3036051"/>
              <a:ext cx="46553" cy="10987"/>
            </a:xfrm>
            <a:custGeom>
              <a:avLst/>
              <a:gdLst/>
              <a:ahLst/>
              <a:cxnLst/>
              <a:rect l="l" t="t" r="r" b="b"/>
              <a:pathLst>
                <a:path w="1466" h="346" extrusionOk="0">
                  <a:moveTo>
                    <a:pt x="180" y="0"/>
                  </a:moveTo>
                  <a:cubicBezTo>
                    <a:pt x="96" y="0"/>
                    <a:pt x="1" y="72"/>
                    <a:pt x="1" y="179"/>
                  </a:cubicBezTo>
                  <a:cubicBezTo>
                    <a:pt x="1" y="274"/>
                    <a:pt x="84" y="346"/>
                    <a:pt x="180" y="346"/>
                  </a:cubicBezTo>
                  <a:lnTo>
                    <a:pt x="1287" y="346"/>
                  </a:lnTo>
                  <a:cubicBezTo>
                    <a:pt x="1370" y="346"/>
                    <a:pt x="1465" y="274"/>
                    <a:pt x="1465" y="179"/>
                  </a:cubicBezTo>
                  <a:cubicBezTo>
                    <a:pt x="1465" y="72"/>
                    <a:pt x="1394" y="0"/>
                    <a:pt x="12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3"/>
            <p:cNvSpPr/>
            <p:nvPr/>
          </p:nvSpPr>
          <p:spPr>
            <a:xfrm>
              <a:off x="5506823" y="3036051"/>
              <a:ext cx="46172" cy="10987"/>
            </a:xfrm>
            <a:custGeom>
              <a:avLst/>
              <a:gdLst/>
              <a:ahLst/>
              <a:cxnLst/>
              <a:rect l="l" t="t" r="r" b="b"/>
              <a:pathLst>
                <a:path w="1454" h="346" extrusionOk="0">
                  <a:moveTo>
                    <a:pt x="179" y="0"/>
                  </a:moveTo>
                  <a:cubicBezTo>
                    <a:pt x="84" y="0"/>
                    <a:pt x="1" y="72"/>
                    <a:pt x="1" y="179"/>
                  </a:cubicBezTo>
                  <a:cubicBezTo>
                    <a:pt x="1" y="274"/>
                    <a:pt x="72" y="346"/>
                    <a:pt x="179" y="346"/>
                  </a:cubicBezTo>
                  <a:lnTo>
                    <a:pt x="1275" y="346"/>
                  </a:lnTo>
                  <a:cubicBezTo>
                    <a:pt x="1370" y="346"/>
                    <a:pt x="1453" y="274"/>
                    <a:pt x="1453" y="179"/>
                  </a:cubicBezTo>
                  <a:cubicBezTo>
                    <a:pt x="1453" y="72"/>
                    <a:pt x="1370" y="0"/>
                    <a:pt x="12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3"/>
            <p:cNvSpPr/>
            <p:nvPr/>
          </p:nvSpPr>
          <p:spPr>
            <a:xfrm>
              <a:off x="5343126" y="2930752"/>
              <a:ext cx="46902" cy="33851"/>
            </a:xfrm>
            <a:custGeom>
              <a:avLst/>
              <a:gdLst/>
              <a:ahLst/>
              <a:cxnLst/>
              <a:rect l="l" t="t" r="r" b="b"/>
              <a:pathLst>
                <a:path w="1477" h="1066" extrusionOk="0">
                  <a:moveTo>
                    <a:pt x="1293" y="0"/>
                  </a:moveTo>
                  <a:cubicBezTo>
                    <a:pt x="1250" y="0"/>
                    <a:pt x="1209" y="18"/>
                    <a:pt x="1179" y="54"/>
                  </a:cubicBezTo>
                  <a:lnTo>
                    <a:pt x="572" y="661"/>
                  </a:lnTo>
                  <a:lnTo>
                    <a:pt x="322" y="411"/>
                  </a:lnTo>
                  <a:cubicBezTo>
                    <a:pt x="280" y="375"/>
                    <a:pt x="235" y="358"/>
                    <a:pt x="194" y="358"/>
                  </a:cubicBezTo>
                  <a:cubicBezTo>
                    <a:pt x="152" y="358"/>
                    <a:pt x="113" y="375"/>
                    <a:pt x="84" y="411"/>
                  </a:cubicBezTo>
                  <a:cubicBezTo>
                    <a:pt x="0" y="483"/>
                    <a:pt x="0" y="590"/>
                    <a:pt x="84" y="649"/>
                  </a:cubicBezTo>
                  <a:lnTo>
                    <a:pt x="453" y="1018"/>
                  </a:lnTo>
                  <a:cubicBezTo>
                    <a:pt x="476" y="1054"/>
                    <a:pt x="524" y="1066"/>
                    <a:pt x="572" y="1066"/>
                  </a:cubicBezTo>
                  <a:cubicBezTo>
                    <a:pt x="619" y="1066"/>
                    <a:pt x="655" y="1054"/>
                    <a:pt x="691" y="1018"/>
                  </a:cubicBezTo>
                  <a:lnTo>
                    <a:pt x="1417" y="292"/>
                  </a:lnTo>
                  <a:cubicBezTo>
                    <a:pt x="1477" y="233"/>
                    <a:pt x="1477" y="125"/>
                    <a:pt x="1417" y="54"/>
                  </a:cubicBezTo>
                  <a:cubicBezTo>
                    <a:pt x="1381" y="18"/>
                    <a:pt x="1337" y="0"/>
                    <a:pt x="12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3"/>
            <p:cNvSpPr/>
            <p:nvPr/>
          </p:nvSpPr>
          <p:spPr>
            <a:xfrm>
              <a:off x="5506442" y="2930752"/>
              <a:ext cx="47283" cy="33851"/>
            </a:xfrm>
            <a:custGeom>
              <a:avLst/>
              <a:gdLst/>
              <a:ahLst/>
              <a:cxnLst/>
              <a:rect l="l" t="t" r="r" b="b"/>
              <a:pathLst>
                <a:path w="1489" h="1066" extrusionOk="0">
                  <a:moveTo>
                    <a:pt x="1282" y="0"/>
                  </a:moveTo>
                  <a:cubicBezTo>
                    <a:pt x="1239" y="0"/>
                    <a:pt x="1197" y="18"/>
                    <a:pt x="1167" y="54"/>
                  </a:cubicBezTo>
                  <a:lnTo>
                    <a:pt x="560" y="661"/>
                  </a:lnTo>
                  <a:lnTo>
                    <a:pt x="310" y="411"/>
                  </a:lnTo>
                  <a:cubicBezTo>
                    <a:pt x="275" y="375"/>
                    <a:pt x="230" y="358"/>
                    <a:pt x="187" y="358"/>
                  </a:cubicBezTo>
                  <a:cubicBezTo>
                    <a:pt x="144" y="358"/>
                    <a:pt x="102" y="375"/>
                    <a:pt x="72" y="411"/>
                  </a:cubicBezTo>
                  <a:cubicBezTo>
                    <a:pt x="1" y="483"/>
                    <a:pt x="1" y="590"/>
                    <a:pt x="72" y="649"/>
                  </a:cubicBezTo>
                  <a:lnTo>
                    <a:pt x="441" y="1018"/>
                  </a:lnTo>
                  <a:cubicBezTo>
                    <a:pt x="477" y="1054"/>
                    <a:pt x="513" y="1066"/>
                    <a:pt x="560" y="1066"/>
                  </a:cubicBezTo>
                  <a:cubicBezTo>
                    <a:pt x="608" y="1066"/>
                    <a:pt x="656" y="1054"/>
                    <a:pt x="679" y="1018"/>
                  </a:cubicBezTo>
                  <a:lnTo>
                    <a:pt x="1406" y="292"/>
                  </a:lnTo>
                  <a:cubicBezTo>
                    <a:pt x="1489" y="233"/>
                    <a:pt x="1489" y="125"/>
                    <a:pt x="1406" y="54"/>
                  </a:cubicBezTo>
                  <a:cubicBezTo>
                    <a:pt x="1370" y="18"/>
                    <a:pt x="1325" y="0"/>
                    <a:pt x="1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3"/>
            <p:cNvSpPr/>
            <p:nvPr/>
          </p:nvSpPr>
          <p:spPr>
            <a:xfrm>
              <a:off x="5424419" y="2977336"/>
              <a:ext cx="47283" cy="34168"/>
            </a:xfrm>
            <a:custGeom>
              <a:avLst/>
              <a:gdLst/>
              <a:ahLst/>
              <a:cxnLst/>
              <a:rect l="l" t="t" r="r" b="b"/>
              <a:pathLst>
                <a:path w="1489" h="1076" extrusionOk="0">
                  <a:moveTo>
                    <a:pt x="1293" y="1"/>
                  </a:moveTo>
                  <a:cubicBezTo>
                    <a:pt x="1250" y="1"/>
                    <a:pt x="1208" y="22"/>
                    <a:pt x="1179" y="63"/>
                  </a:cubicBezTo>
                  <a:lnTo>
                    <a:pt x="572" y="671"/>
                  </a:lnTo>
                  <a:lnTo>
                    <a:pt x="321" y="421"/>
                  </a:lnTo>
                  <a:cubicBezTo>
                    <a:pt x="280" y="379"/>
                    <a:pt x="235" y="358"/>
                    <a:pt x="193" y="358"/>
                  </a:cubicBezTo>
                  <a:cubicBezTo>
                    <a:pt x="152" y="358"/>
                    <a:pt x="113" y="379"/>
                    <a:pt x="83" y="421"/>
                  </a:cubicBezTo>
                  <a:cubicBezTo>
                    <a:pt x="0" y="492"/>
                    <a:pt x="0" y="599"/>
                    <a:pt x="83" y="659"/>
                  </a:cubicBezTo>
                  <a:lnTo>
                    <a:pt x="452" y="1028"/>
                  </a:lnTo>
                  <a:cubicBezTo>
                    <a:pt x="476" y="1052"/>
                    <a:pt x="524" y="1075"/>
                    <a:pt x="572" y="1075"/>
                  </a:cubicBezTo>
                  <a:cubicBezTo>
                    <a:pt x="619" y="1075"/>
                    <a:pt x="655" y="1052"/>
                    <a:pt x="691" y="1028"/>
                  </a:cubicBezTo>
                  <a:lnTo>
                    <a:pt x="1417" y="301"/>
                  </a:lnTo>
                  <a:cubicBezTo>
                    <a:pt x="1488" y="242"/>
                    <a:pt x="1488" y="123"/>
                    <a:pt x="1417" y="63"/>
                  </a:cubicBezTo>
                  <a:cubicBezTo>
                    <a:pt x="1381" y="22"/>
                    <a:pt x="1336" y="1"/>
                    <a:pt x="12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53"/>
            <p:cNvSpPr/>
            <p:nvPr/>
          </p:nvSpPr>
          <p:spPr>
            <a:xfrm>
              <a:off x="5261453" y="3024143"/>
              <a:ext cx="47283" cy="33851"/>
            </a:xfrm>
            <a:custGeom>
              <a:avLst/>
              <a:gdLst/>
              <a:ahLst/>
              <a:cxnLst/>
              <a:rect l="l" t="t" r="r" b="b"/>
              <a:pathLst>
                <a:path w="1489" h="1066" extrusionOk="0">
                  <a:moveTo>
                    <a:pt x="1289" y="0"/>
                  </a:moveTo>
                  <a:cubicBezTo>
                    <a:pt x="1248" y="0"/>
                    <a:pt x="1209" y="18"/>
                    <a:pt x="1179" y="54"/>
                  </a:cubicBezTo>
                  <a:lnTo>
                    <a:pt x="572" y="673"/>
                  </a:lnTo>
                  <a:lnTo>
                    <a:pt x="310" y="411"/>
                  </a:lnTo>
                  <a:cubicBezTo>
                    <a:pt x="274" y="375"/>
                    <a:pt x="230" y="357"/>
                    <a:pt x="186" y="357"/>
                  </a:cubicBezTo>
                  <a:cubicBezTo>
                    <a:pt x="143" y="357"/>
                    <a:pt x="102" y="375"/>
                    <a:pt x="72" y="411"/>
                  </a:cubicBezTo>
                  <a:cubicBezTo>
                    <a:pt x="0" y="494"/>
                    <a:pt x="0" y="590"/>
                    <a:pt x="72" y="649"/>
                  </a:cubicBezTo>
                  <a:lnTo>
                    <a:pt x="453" y="1030"/>
                  </a:lnTo>
                  <a:cubicBezTo>
                    <a:pt x="477" y="1054"/>
                    <a:pt x="524" y="1066"/>
                    <a:pt x="572" y="1066"/>
                  </a:cubicBezTo>
                  <a:cubicBezTo>
                    <a:pt x="608" y="1066"/>
                    <a:pt x="655" y="1054"/>
                    <a:pt x="691" y="1030"/>
                  </a:cubicBezTo>
                  <a:lnTo>
                    <a:pt x="1417" y="292"/>
                  </a:lnTo>
                  <a:cubicBezTo>
                    <a:pt x="1489" y="220"/>
                    <a:pt x="1489" y="113"/>
                    <a:pt x="1417" y="54"/>
                  </a:cubicBezTo>
                  <a:cubicBezTo>
                    <a:pt x="1376" y="18"/>
                    <a:pt x="1331" y="0"/>
                    <a:pt x="12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53"/>
            <p:cNvSpPr/>
            <p:nvPr/>
          </p:nvSpPr>
          <p:spPr>
            <a:xfrm>
              <a:off x="5424419" y="2884231"/>
              <a:ext cx="47283" cy="33883"/>
            </a:xfrm>
            <a:custGeom>
              <a:avLst/>
              <a:gdLst/>
              <a:ahLst/>
              <a:cxnLst/>
              <a:rect l="l" t="t" r="r" b="b"/>
              <a:pathLst>
                <a:path w="1489" h="1067" extrusionOk="0">
                  <a:moveTo>
                    <a:pt x="1293" y="1"/>
                  </a:moveTo>
                  <a:cubicBezTo>
                    <a:pt x="1250" y="1"/>
                    <a:pt x="1208" y="19"/>
                    <a:pt x="1179" y="54"/>
                  </a:cubicBezTo>
                  <a:lnTo>
                    <a:pt x="572" y="674"/>
                  </a:lnTo>
                  <a:lnTo>
                    <a:pt x="321" y="412"/>
                  </a:lnTo>
                  <a:cubicBezTo>
                    <a:pt x="280" y="376"/>
                    <a:pt x="235" y="358"/>
                    <a:pt x="193" y="358"/>
                  </a:cubicBezTo>
                  <a:cubicBezTo>
                    <a:pt x="152" y="358"/>
                    <a:pt x="113" y="376"/>
                    <a:pt x="83" y="412"/>
                  </a:cubicBezTo>
                  <a:cubicBezTo>
                    <a:pt x="0" y="495"/>
                    <a:pt x="0" y="590"/>
                    <a:pt x="83" y="650"/>
                  </a:cubicBezTo>
                  <a:lnTo>
                    <a:pt x="452" y="1031"/>
                  </a:lnTo>
                  <a:cubicBezTo>
                    <a:pt x="476" y="1055"/>
                    <a:pt x="524" y="1067"/>
                    <a:pt x="572" y="1067"/>
                  </a:cubicBezTo>
                  <a:cubicBezTo>
                    <a:pt x="619" y="1067"/>
                    <a:pt x="655" y="1055"/>
                    <a:pt x="691" y="1031"/>
                  </a:cubicBezTo>
                  <a:lnTo>
                    <a:pt x="1417" y="293"/>
                  </a:lnTo>
                  <a:cubicBezTo>
                    <a:pt x="1488" y="221"/>
                    <a:pt x="1488" y="114"/>
                    <a:pt x="1417" y="54"/>
                  </a:cubicBezTo>
                  <a:cubicBezTo>
                    <a:pt x="1381" y="19"/>
                    <a:pt x="1336" y="1"/>
                    <a:pt x="12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 name="Google Shape;768;p53"/>
          <p:cNvGrpSpPr/>
          <p:nvPr/>
        </p:nvGrpSpPr>
        <p:grpSpPr>
          <a:xfrm>
            <a:off x="2668135" y="2921722"/>
            <a:ext cx="312179" cy="353431"/>
            <a:chOff x="2199565" y="2421172"/>
            <a:chExt cx="312179" cy="353431"/>
          </a:xfrm>
        </p:grpSpPr>
        <p:sp>
          <p:nvSpPr>
            <p:cNvPr id="769" name="Google Shape;769;p53"/>
            <p:cNvSpPr/>
            <p:nvPr/>
          </p:nvSpPr>
          <p:spPr>
            <a:xfrm>
              <a:off x="2199565" y="2421172"/>
              <a:ext cx="312179" cy="353431"/>
            </a:xfrm>
            <a:custGeom>
              <a:avLst/>
              <a:gdLst/>
              <a:ahLst/>
              <a:cxnLst/>
              <a:rect l="l" t="t" r="r" b="b"/>
              <a:pathLst>
                <a:path w="9800" h="11095" extrusionOk="0">
                  <a:moveTo>
                    <a:pt x="5156" y="322"/>
                  </a:moveTo>
                  <a:cubicBezTo>
                    <a:pt x="5228" y="322"/>
                    <a:pt x="5311" y="370"/>
                    <a:pt x="5311" y="465"/>
                  </a:cubicBezTo>
                  <a:lnTo>
                    <a:pt x="5311" y="858"/>
                  </a:lnTo>
                  <a:cubicBezTo>
                    <a:pt x="5202" y="822"/>
                    <a:pt x="5100" y="806"/>
                    <a:pt x="4999" y="806"/>
                  </a:cubicBezTo>
                  <a:cubicBezTo>
                    <a:pt x="4968" y="806"/>
                    <a:pt x="4937" y="807"/>
                    <a:pt x="4906" y="810"/>
                  </a:cubicBezTo>
                  <a:cubicBezTo>
                    <a:pt x="4775" y="810"/>
                    <a:pt x="4656" y="822"/>
                    <a:pt x="4549" y="858"/>
                  </a:cubicBezTo>
                  <a:lnTo>
                    <a:pt x="4549" y="465"/>
                  </a:lnTo>
                  <a:cubicBezTo>
                    <a:pt x="4549" y="394"/>
                    <a:pt x="4609" y="322"/>
                    <a:pt x="4692" y="322"/>
                  </a:cubicBezTo>
                  <a:close/>
                  <a:moveTo>
                    <a:pt x="4906" y="1132"/>
                  </a:moveTo>
                  <a:cubicBezTo>
                    <a:pt x="5502" y="1132"/>
                    <a:pt x="6002" y="1608"/>
                    <a:pt x="6002" y="2227"/>
                  </a:cubicBezTo>
                  <a:cubicBezTo>
                    <a:pt x="6002" y="2838"/>
                    <a:pt x="5504" y="3302"/>
                    <a:pt x="4927" y="3302"/>
                  </a:cubicBezTo>
                  <a:cubicBezTo>
                    <a:pt x="4807" y="3302"/>
                    <a:pt x="4684" y="3282"/>
                    <a:pt x="4561" y="3239"/>
                  </a:cubicBezTo>
                  <a:cubicBezTo>
                    <a:pt x="4144" y="3084"/>
                    <a:pt x="3847" y="2680"/>
                    <a:pt x="3847" y="2227"/>
                  </a:cubicBezTo>
                  <a:cubicBezTo>
                    <a:pt x="3835" y="1632"/>
                    <a:pt x="4311" y="1132"/>
                    <a:pt x="4906" y="1132"/>
                  </a:cubicBezTo>
                  <a:close/>
                  <a:moveTo>
                    <a:pt x="4978" y="3620"/>
                  </a:moveTo>
                  <a:lnTo>
                    <a:pt x="6061" y="6251"/>
                  </a:lnTo>
                  <a:lnTo>
                    <a:pt x="5621" y="6251"/>
                  </a:lnTo>
                  <a:cubicBezTo>
                    <a:pt x="5621" y="5918"/>
                    <a:pt x="5335" y="5644"/>
                    <a:pt x="4990" y="5644"/>
                  </a:cubicBezTo>
                  <a:lnTo>
                    <a:pt x="4847" y="5644"/>
                  </a:lnTo>
                  <a:cubicBezTo>
                    <a:pt x="4501" y="5644"/>
                    <a:pt x="4216" y="5918"/>
                    <a:pt x="4216" y="6251"/>
                  </a:cubicBezTo>
                  <a:lnTo>
                    <a:pt x="3775" y="6251"/>
                  </a:lnTo>
                  <a:lnTo>
                    <a:pt x="4859" y="3620"/>
                  </a:lnTo>
                  <a:close/>
                  <a:moveTo>
                    <a:pt x="1406" y="6573"/>
                  </a:moveTo>
                  <a:lnTo>
                    <a:pt x="1323" y="6740"/>
                  </a:lnTo>
                  <a:lnTo>
                    <a:pt x="430" y="6740"/>
                  </a:lnTo>
                  <a:cubicBezTo>
                    <a:pt x="423" y="6741"/>
                    <a:pt x="417" y="6742"/>
                    <a:pt x="411" y="6742"/>
                  </a:cubicBezTo>
                  <a:cubicBezTo>
                    <a:pt x="370" y="6742"/>
                    <a:pt x="334" y="6708"/>
                    <a:pt x="334" y="6656"/>
                  </a:cubicBezTo>
                  <a:cubicBezTo>
                    <a:pt x="334" y="6609"/>
                    <a:pt x="382" y="6573"/>
                    <a:pt x="430" y="6573"/>
                  </a:cubicBezTo>
                  <a:close/>
                  <a:moveTo>
                    <a:pt x="6204" y="6573"/>
                  </a:moveTo>
                  <a:lnTo>
                    <a:pt x="6276" y="6752"/>
                  </a:lnTo>
                  <a:lnTo>
                    <a:pt x="5621" y="6752"/>
                  </a:lnTo>
                  <a:lnTo>
                    <a:pt x="5621" y="6573"/>
                  </a:lnTo>
                  <a:close/>
                  <a:moveTo>
                    <a:pt x="9419" y="6573"/>
                  </a:moveTo>
                  <a:cubicBezTo>
                    <a:pt x="9454" y="6573"/>
                    <a:pt x="9502" y="6609"/>
                    <a:pt x="9502" y="6656"/>
                  </a:cubicBezTo>
                  <a:cubicBezTo>
                    <a:pt x="9502" y="6716"/>
                    <a:pt x="9454" y="6752"/>
                    <a:pt x="9419" y="6752"/>
                  </a:cubicBezTo>
                  <a:lnTo>
                    <a:pt x="8526" y="6752"/>
                  </a:lnTo>
                  <a:cubicBezTo>
                    <a:pt x="8526" y="6752"/>
                    <a:pt x="8451" y="6592"/>
                    <a:pt x="8434" y="6573"/>
                  </a:cubicBezTo>
                  <a:close/>
                  <a:moveTo>
                    <a:pt x="4216" y="6585"/>
                  </a:moveTo>
                  <a:lnTo>
                    <a:pt x="4216" y="6763"/>
                  </a:lnTo>
                  <a:lnTo>
                    <a:pt x="3573" y="6763"/>
                  </a:lnTo>
                  <a:lnTo>
                    <a:pt x="3644" y="6585"/>
                  </a:lnTo>
                  <a:close/>
                  <a:moveTo>
                    <a:pt x="4990" y="5954"/>
                  </a:moveTo>
                  <a:cubicBezTo>
                    <a:pt x="5156" y="5954"/>
                    <a:pt x="5287" y="6097"/>
                    <a:pt x="5287" y="6251"/>
                  </a:cubicBezTo>
                  <a:lnTo>
                    <a:pt x="5287" y="7061"/>
                  </a:lnTo>
                  <a:cubicBezTo>
                    <a:pt x="5287" y="7228"/>
                    <a:pt x="5156" y="7359"/>
                    <a:pt x="4990" y="7359"/>
                  </a:cubicBezTo>
                  <a:lnTo>
                    <a:pt x="4847" y="7359"/>
                  </a:lnTo>
                  <a:cubicBezTo>
                    <a:pt x="4680" y="7359"/>
                    <a:pt x="4549" y="7228"/>
                    <a:pt x="4549" y="7061"/>
                  </a:cubicBezTo>
                  <a:lnTo>
                    <a:pt x="4549" y="6251"/>
                  </a:lnTo>
                  <a:cubicBezTo>
                    <a:pt x="4549" y="6097"/>
                    <a:pt x="4680" y="5954"/>
                    <a:pt x="4847" y="5954"/>
                  </a:cubicBezTo>
                  <a:close/>
                  <a:moveTo>
                    <a:pt x="1299" y="10157"/>
                  </a:moveTo>
                  <a:lnTo>
                    <a:pt x="1477" y="10228"/>
                  </a:lnTo>
                  <a:lnTo>
                    <a:pt x="1287" y="10454"/>
                  </a:lnTo>
                  <a:lnTo>
                    <a:pt x="1299" y="10157"/>
                  </a:lnTo>
                  <a:close/>
                  <a:moveTo>
                    <a:pt x="8538" y="10157"/>
                  </a:moveTo>
                  <a:lnTo>
                    <a:pt x="8550" y="10454"/>
                  </a:lnTo>
                  <a:lnTo>
                    <a:pt x="8359" y="10228"/>
                  </a:lnTo>
                  <a:lnTo>
                    <a:pt x="8538" y="10157"/>
                  </a:lnTo>
                  <a:close/>
                  <a:moveTo>
                    <a:pt x="4680" y="1"/>
                  </a:moveTo>
                  <a:cubicBezTo>
                    <a:pt x="4430" y="1"/>
                    <a:pt x="4204" y="215"/>
                    <a:pt x="4204" y="477"/>
                  </a:cubicBezTo>
                  <a:lnTo>
                    <a:pt x="4204" y="1001"/>
                  </a:lnTo>
                  <a:cubicBezTo>
                    <a:pt x="3716" y="1287"/>
                    <a:pt x="3418" y="1870"/>
                    <a:pt x="3525" y="2441"/>
                  </a:cubicBezTo>
                  <a:lnTo>
                    <a:pt x="3108" y="3263"/>
                  </a:lnTo>
                  <a:cubicBezTo>
                    <a:pt x="3061" y="3334"/>
                    <a:pt x="3085" y="3442"/>
                    <a:pt x="3180" y="3489"/>
                  </a:cubicBezTo>
                  <a:cubicBezTo>
                    <a:pt x="3202" y="3504"/>
                    <a:pt x="3227" y="3511"/>
                    <a:pt x="3253" y="3511"/>
                  </a:cubicBezTo>
                  <a:cubicBezTo>
                    <a:pt x="3311" y="3511"/>
                    <a:pt x="3373" y="3476"/>
                    <a:pt x="3406" y="3418"/>
                  </a:cubicBezTo>
                  <a:lnTo>
                    <a:pt x="3680" y="2858"/>
                  </a:lnTo>
                  <a:cubicBezTo>
                    <a:pt x="3859" y="3203"/>
                    <a:pt x="4168" y="3453"/>
                    <a:pt x="4549" y="3561"/>
                  </a:cubicBezTo>
                  <a:cubicBezTo>
                    <a:pt x="4442" y="3811"/>
                    <a:pt x="2287" y="9073"/>
                    <a:pt x="1930" y="9919"/>
                  </a:cubicBezTo>
                  <a:cubicBezTo>
                    <a:pt x="1900" y="9968"/>
                    <a:pt x="1845" y="9993"/>
                    <a:pt x="1794" y="9993"/>
                  </a:cubicBezTo>
                  <a:cubicBezTo>
                    <a:pt x="1783" y="9993"/>
                    <a:pt x="1773" y="9992"/>
                    <a:pt x="1763" y="9990"/>
                  </a:cubicBezTo>
                  <a:lnTo>
                    <a:pt x="1168" y="9752"/>
                  </a:lnTo>
                  <a:cubicBezTo>
                    <a:pt x="1120" y="9740"/>
                    <a:pt x="1096" y="9692"/>
                    <a:pt x="1096" y="9645"/>
                  </a:cubicBezTo>
                  <a:cubicBezTo>
                    <a:pt x="882" y="7990"/>
                    <a:pt x="1632" y="6906"/>
                    <a:pt x="1692" y="6763"/>
                  </a:cubicBezTo>
                  <a:cubicBezTo>
                    <a:pt x="1846" y="6430"/>
                    <a:pt x="2847" y="4501"/>
                    <a:pt x="3120" y="3977"/>
                  </a:cubicBezTo>
                  <a:cubicBezTo>
                    <a:pt x="3156" y="3906"/>
                    <a:pt x="3132" y="3799"/>
                    <a:pt x="3037" y="3751"/>
                  </a:cubicBezTo>
                  <a:cubicBezTo>
                    <a:pt x="3016" y="3741"/>
                    <a:pt x="2992" y="3735"/>
                    <a:pt x="2968" y="3735"/>
                  </a:cubicBezTo>
                  <a:cubicBezTo>
                    <a:pt x="2909" y="3735"/>
                    <a:pt x="2848" y="3767"/>
                    <a:pt x="2823" y="3834"/>
                  </a:cubicBezTo>
                  <a:lnTo>
                    <a:pt x="1573" y="6251"/>
                  </a:lnTo>
                  <a:lnTo>
                    <a:pt x="430" y="6251"/>
                  </a:lnTo>
                  <a:cubicBezTo>
                    <a:pt x="203" y="6251"/>
                    <a:pt x="1" y="6430"/>
                    <a:pt x="1" y="6668"/>
                  </a:cubicBezTo>
                  <a:cubicBezTo>
                    <a:pt x="1" y="6894"/>
                    <a:pt x="180" y="7085"/>
                    <a:pt x="430" y="7085"/>
                  </a:cubicBezTo>
                  <a:lnTo>
                    <a:pt x="1156" y="7085"/>
                  </a:lnTo>
                  <a:cubicBezTo>
                    <a:pt x="775" y="7906"/>
                    <a:pt x="644" y="8799"/>
                    <a:pt x="751" y="9704"/>
                  </a:cubicBezTo>
                  <a:cubicBezTo>
                    <a:pt x="763" y="9847"/>
                    <a:pt x="858" y="9978"/>
                    <a:pt x="977" y="10038"/>
                  </a:cubicBezTo>
                  <a:lnTo>
                    <a:pt x="930" y="10919"/>
                  </a:lnTo>
                  <a:cubicBezTo>
                    <a:pt x="930" y="11017"/>
                    <a:pt x="1014" y="11081"/>
                    <a:pt x="1101" y="11081"/>
                  </a:cubicBezTo>
                  <a:cubicBezTo>
                    <a:pt x="1141" y="11081"/>
                    <a:pt x="1182" y="11068"/>
                    <a:pt x="1215" y="11038"/>
                  </a:cubicBezTo>
                  <a:lnTo>
                    <a:pt x="1823" y="10347"/>
                  </a:lnTo>
                  <a:cubicBezTo>
                    <a:pt x="1989" y="10335"/>
                    <a:pt x="2132" y="10228"/>
                    <a:pt x="2215" y="10061"/>
                  </a:cubicBezTo>
                  <a:lnTo>
                    <a:pt x="3430" y="7109"/>
                  </a:lnTo>
                  <a:lnTo>
                    <a:pt x="4204" y="7109"/>
                  </a:lnTo>
                  <a:cubicBezTo>
                    <a:pt x="4204" y="7442"/>
                    <a:pt x="4490" y="7716"/>
                    <a:pt x="4823" y="7716"/>
                  </a:cubicBezTo>
                  <a:lnTo>
                    <a:pt x="4978" y="7716"/>
                  </a:lnTo>
                  <a:cubicBezTo>
                    <a:pt x="5323" y="7716"/>
                    <a:pt x="5597" y="7442"/>
                    <a:pt x="5597" y="7109"/>
                  </a:cubicBezTo>
                  <a:lnTo>
                    <a:pt x="6371" y="7109"/>
                  </a:lnTo>
                  <a:lnTo>
                    <a:pt x="7014" y="8668"/>
                  </a:lnTo>
                  <a:cubicBezTo>
                    <a:pt x="7040" y="8730"/>
                    <a:pt x="7099" y="8766"/>
                    <a:pt x="7161" y="8766"/>
                  </a:cubicBezTo>
                  <a:cubicBezTo>
                    <a:pt x="7184" y="8766"/>
                    <a:pt x="7206" y="8761"/>
                    <a:pt x="7228" y="8752"/>
                  </a:cubicBezTo>
                  <a:cubicBezTo>
                    <a:pt x="7311" y="8728"/>
                    <a:pt x="7347" y="8621"/>
                    <a:pt x="7311" y="8549"/>
                  </a:cubicBezTo>
                  <a:cubicBezTo>
                    <a:pt x="7192" y="8252"/>
                    <a:pt x="5394" y="3870"/>
                    <a:pt x="5275" y="3608"/>
                  </a:cubicBezTo>
                  <a:cubicBezTo>
                    <a:pt x="5644" y="3501"/>
                    <a:pt x="5954" y="3251"/>
                    <a:pt x="6133" y="2906"/>
                  </a:cubicBezTo>
                  <a:cubicBezTo>
                    <a:pt x="6168" y="2953"/>
                    <a:pt x="8145" y="6811"/>
                    <a:pt x="8264" y="7061"/>
                  </a:cubicBezTo>
                  <a:cubicBezTo>
                    <a:pt x="8681" y="7859"/>
                    <a:pt x="8847" y="8776"/>
                    <a:pt x="8728" y="9680"/>
                  </a:cubicBezTo>
                  <a:cubicBezTo>
                    <a:pt x="8728" y="9728"/>
                    <a:pt x="8692" y="9764"/>
                    <a:pt x="8657" y="9788"/>
                  </a:cubicBezTo>
                  <a:lnTo>
                    <a:pt x="8061" y="10026"/>
                  </a:lnTo>
                  <a:cubicBezTo>
                    <a:pt x="8047" y="10031"/>
                    <a:pt x="8032" y="10034"/>
                    <a:pt x="8017" y="10034"/>
                  </a:cubicBezTo>
                  <a:cubicBezTo>
                    <a:pt x="7969" y="10034"/>
                    <a:pt x="7922" y="10005"/>
                    <a:pt x="7895" y="9942"/>
                  </a:cubicBezTo>
                  <a:lnTo>
                    <a:pt x="7573" y="9145"/>
                  </a:lnTo>
                  <a:cubicBezTo>
                    <a:pt x="7546" y="9072"/>
                    <a:pt x="7477" y="9041"/>
                    <a:pt x="7414" y="9041"/>
                  </a:cubicBezTo>
                  <a:cubicBezTo>
                    <a:pt x="7395" y="9041"/>
                    <a:pt x="7376" y="9044"/>
                    <a:pt x="7359" y="9049"/>
                  </a:cubicBezTo>
                  <a:cubicBezTo>
                    <a:pt x="7276" y="9085"/>
                    <a:pt x="7240" y="9192"/>
                    <a:pt x="7276" y="9264"/>
                  </a:cubicBezTo>
                  <a:lnTo>
                    <a:pt x="7597" y="10061"/>
                  </a:lnTo>
                  <a:cubicBezTo>
                    <a:pt x="7657" y="10228"/>
                    <a:pt x="7823" y="10335"/>
                    <a:pt x="7990" y="10347"/>
                  </a:cubicBezTo>
                  <a:lnTo>
                    <a:pt x="8597" y="11038"/>
                  </a:lnTo>
                  <a:cubicBezTo>
                    <a:pt x="8632" y="11077"/>
                    <a:pt x="8676" y="11094"/>
                    <a:pt x="8717" y="11094"/>
                  </a:cubicBezTo>
                  <a:cubicBezTo>
                    <a:pt x="8803" y="11094"/>
                    <a:pt x="8883" y="11023"/>
                    <a:pt x="8883" y="10919"/>
                  </a:cubicBezTo>
                  <a:lnTo>
                    <a:pt x="8835" y="10038"/>
                  </a:lnTo>
                  <a:cubicBezTo>
                    <a:pt x="8954" y="9966"/>
                    <a:pt x="9038" y="9847"/>
                    <a:pt x="9062" y="9704"/>
                  </a:cubicBezTo>
                  <a:cubicBezTo>
                    <a:pt x="9181" y="8811"/>
                    <a:pt x="9038" y="7906"/>
                    <a:pt x="8657" y="7085"/>
                  </a:cubicBezTo>
                  <a:lnTo>
                    <a:pt x="9383" y="7085"/>
                  </a:lnTo>
                  <a:cubicBezTo>
                    <a:pt x="9609" y="7085"/>
                    <a:pt x="9800" y="6906"/>
                    <a:pt x="9800" y="6668"/>
                  </a:cubicBezTo>
                  <a:cubicBezTo>
                    <a:pt x="9800" y="6430"/>
                    <a:pt x="9633" y="6251"/>
                    <a:pt x="9419" y="6251"/>
                  </a:cubicBezTo>
                  <a:lnTo>
                    <a:pt x="8264" y="6251"/>
                  </a:lnTo>
                  <a:lnTo>
                    <a:pt x="6299" y="2441"/>
                  </a:lnTo>
                  <a:cubicBezTo>
                    <a:pt x="6395" y="1846"/>
                    <a:pt x="6109" y="1287"/>
                    <a:pt x="5621" y="1001"/>
                  </a:cubicBezTo>
                  <a:lnTo>
                    <a:pt x="5621" y="477"/>
                  </a:lnTo>
                  <a:cubicBezTo>
                    <a:pt x="5621" y="227"/>
                    <a:pt x="5406" y="1"/>
                    <a:pt x="5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3"/>
            <p:cNvSpPr/>
            <p:nvPr/>
          </p:nvSpPr>
          <p:spPr>
            <a:xfrm>
              <a:off x="2335745" y="2471248"/>
              <a:ext cx="40997" cy="40615"/>
            </a:xfrm>
            <a:custGeom>
              <a:avLst/>
              <a:gdLst/>
              <a:ahLst/>
              <a:cxnLst/>
              <a:rect l="l" t="t" r="r" b="b"/>
              <a:pathLst>
                <a:path w="1287" h="1275" extrusionOk="0">
                  <a:moveTo>
                    <a:pt x="643" y="322"/>
                  </a:moveTo>
                  <a:cubicBezTo>
                    <a:pt x="822" y="322"/>
                    <a:pt x="953" y="477"/>
                    <a:pt x="953" y="631"/>
                  </a:cubicBezTo>
                  <a:cubicBezTo>
                    <a:pt x="953" y="798"/>
                    <a:pt x="810" y="953"/>
                    <a:pt x="643" y="953"/>
                  </a:cubicBezTo>
                  <a:cubicBezTo>
                    <a:pt x="477" y="953"/>
                    <a:pt x="334" y="798"/>
                    <a:pt x="334" y="631"/>
                  </a:cubicBezTo>
                  <a:cubicBezTo>
                    <a:pt x="334" y="477"/>
                    <a:pt x="465" y="322"/>
                    <a:pt x="643" y="322"/>
                  </a:cubicBezTo>
                  <a:close/>
                  <a:moveTo>
                    <a:pt x="643" y="0"/>
                  </a:moveTo>
                  <a:cubicBezTo>
                    <a:pt x="286" y="0"/>
                    <a:pt x="0" y="274"/>
                    <a:pt x="0" y="631"/>
                  </a:cubicBezTo>
                  <a:cubicBezTo>
                    <a:pt x="0" y="989"/>
                    <a:pt x="286" y="1274"/>
                    <a:pt x="643" y="1274"/>
                  </a:cubicBezTo>
                  <a:cubicBezTo>
                    <a:pt x="1000" y="1274"/>
                    <a:pt x="1286" y="989"/>
                    <a:pt x="1286" y="631"/>
                  </a:cubicBezTo>
                  <a:cubicBezTo>
                    <a:pt x="1286" y="274"/>
                    <a:pt x="1000" y="0"/>
                    <a:pt x="6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763;p53">
            <a:extLst>
              <a:ext uri="{FF2B5EF4-FFF2-40B4-BE49-F238E27FC236}">
                <a16:creationId xmlns:a16="http://schemas.microsoft.com/office/drawing/2014/main" id="{D66E8170-9987-3FB7-7476-F67D180FA063}"/>
              </a:ext>
            </a:extLst>
          </p:cNvPr>
          <p:cNvGrpSpPr/>
          <p:nvPr/>
        </p:nvGrpSpPr>
        <p:grpSpPr>
          <a:xfrm>
            <a:off x="6206721" y="1260057"/>
            <a:ext cx="221902" cy="380795"/>
            <a:chOff x="916127" y="3807056"/>
            <a:chExt cx="221902" cy="380795"/>
          </a:xfrm>
        </p:grpSpPr>
        <p:sp>
          <p:nvSpPr>
            <p:cNvPr id="3" name="Google Shape;764;p53">
              <a:extLst>
                <a:ext uri="{FF2B5EF4-FFF2-40B4-BE49-F238E27FC236}">
                  <a16:creationId xmlns:a16="http://schemas.microsoft.com/office/drawing/2014/main" id="{C410D333-4773-25CC-1C44-27D2FC9A08D2}"/>
                </a:ext>
              </a:extLst>
            </p:cNvPr>
            <p:cNvSpPr/>
            <p:nvPr/>
          </p:nvSpPr>
          <p:spPr>
            <a:xfrm>
              <a:off x="916127" y="3807056"/>
              <a:ext cx="221902" cy="380795"/>
            </a:xfrm>
            <a:custGeom>
              <a:avLst/>
              <a:gdLst/>
              <a:ahLst/>
              <a:cxnLst/>
              <a:rect l="l" t="t" r="r" b="b"/>
              <a:pathLst>
                <a:path w="6966" h="11954" extrusionOk="0">
                  <a:moveTo>
                    <a:pt x="4120" y="6429"/>
                  </a:moveTo>
                  <a:lnTo>
                    <a:pt x="4120" y="7799"/>
                  </a:lnTo>
                  <a:lnTo>
                    <a:pt x="2810" y="7799"/>
                  </a:lnTo>
                  <a:lnTo>
                    <a:pt x="2810" y="6429"/>
                  </a:lnTo>
                  <a:cubicBezTo>
                    <a:pt x="3024" y="6489"/>
                    <a:pt x="3245" y="6519"/>
                    <a:pt x="3465" y="6519"/>
                  </a:cubicBezTo>
                  <a:cubicBezTo>
                    <a:pt x="3685" y="6519"/>
                    <a:pt x="3905" y="6489"/>
                    <a:pt x="4120" y="6429"/>
                  </a:cubicBezTo>
                  <a:close/>
                  <a:moveTo>
                    <a:pt x="4882" y="8144"/>
                  </a:moveTo>
                  <a:lnTo>
                    <a:pt x="4882" y="8680"/>
                  </a:lnTo>
                  <a:lnTo>
                    <a:pt x="2060" y="8680"/>
                  </a:lnTo>
                  <a:lnTo>
                    <a:pt x="2060" y="8144"/>
                  </a:lnTo>
                  <a:close/>
                  <a:moveTo>
                    <a:pt x="5596" y="9037"/>
                  </a:moveTo>
                  <a:lnTo>
                    <a:pt x="5596" y="9335"/>
                  </a:lnTo>
                  <a:lnTo>
                    <a:pt x="1346" y="9335"/>
                  </a:lnTo>
                  <a:lnTo>
                    <a:pt x="1346" y="9037"/>
                  </a:lnTo>
                  <a:lnTo>
                    <a:pt x="2060" y="9037"/>
                  </a:lnTo>
                  <a:lnTo>
                    <a:pt x="2060" y="9049"/>
                  </a:lnTo>
                  <a:lnTo>
                    <a:pt x="4882" y="9049"/>
                  </a:lnTo>
                  <a:lnTo>
                    <a:pt x="4882" y="9037"/>
                  </a:lnTo>
                  <a:close/>
                  <a:moveTo>
                    <a:pt x="6227" y="9692"/>
                  </a:moveTo>
                  <a:cubicBezTo>
                    <a:pt x="6441" y="9692"/>
                    <a:pt x="6608" y="9858"/>
                    <a:pt x="6608" y="10061"/>
                  </a:cubicBezTo>
                  <a:lnTo>
                    <a:pt x="6608" y="11251"/>
                  </a:lnTo>
                  <a:cubicBezTo>
                    <a:pt x="6608" y="11466"/>
                    <a:pt x="6441" y="11620"/>
                    <a:pt x="6227" y="11620"/>
                  </a:cubicBezTo>
                  <a:lnTo>
                    <a:pt x="715" y="11620"/>
                  </a:lnTo>
                  <a:cubicBezTo>
                    <a:pt x="500" y="11620"/>
                    <a:pt x="334" y="11466"/>
                    <a:pt x="334" y="11251"/>
                  </a:cubicBezTo>
                  <a:lnTo>
                    <a:pt x="334" y="10061"/>
                  </a:lnTo>
                  <a:cubicBezTo>
                    <a:pt x="334" y="9858"/>
                    <a:pt x="500" y="9692"/>
                    <a:pt x="715" y="9692"/>
                  </a:cubicBezTo>
                  <a:close/>
                  <a:moveTo>
                    <a:pt x="655" y="0"/>
                  </a:moveTo>
                  <a:cubicBezTo>
                    <a:pt x="298" y="0"/>
                    <a:pt x="0" y="298"/>
                    <a:pt x="0" y="655"/>
                  </a:cubicBezTo>
                  <a:lnTo>
                    <a:pt x="0" y="964"/>
                  </a:lnTo>
                  <a:cubicBezTo>
                    <a:pt x="0" y="1322"/>
                    <a:pt x="298" y="1619"/>
                    <a:pt x="655" y="1619"/>
                  </a:cubicBezTo>
                  <a:lnTo>
                    <a:pt x="1012" y="1619"/>
                  </a:lnTo>
                  <a:lnTo>
                    <a:pt x="1012" y="4048"/>
                  </a:lnTo>
                  <a:cubicBezTo>
                    <a:pt x="1012" y="5060"/>
                    <a:pt x="1619" y="5929"/>
                    <a:pt x="2477" y="6310"/>
                  </a:cubicBezTo>
                  <a:lnTo>
                    <a:pt x="2477" y="7799"/>
                  </a:lnTo>
                  <a:lnTo>
                    <a:pt x="1905" y="7799"/>
                  </a:lnTo>
                  <a:cubicBezTo>
                    <a:pt x="1798" y="7799"/>
                    <a:pt x="1727" y="7870"/>
                    <a:pt x="1727" y="7977"/>
                  </a:cubicBezTo>
                  <a:lnTo>
                    <a:pt x="1727" y="8680"/>
                  </a:lnTo>
                  <a:lnTo>
                    <a:pt x="1191" y="8680"/>
                  </a:lnTo>
                  <a:cubicBezTo>
                    <a:pt x="1084" y="8680"/>
                    <a:pt x="1012" y="8751"/>
                    <a:pt x="1012" y="8858"/>
                  </a:cubicBezTo>
                  <a:lnTo>
                    <a:pt x="1012" y="9335"/>
                  </a:lnTo>
                  <a:lnTo>
                    <a:pt x="726" y="9335"/>
                  </a:lnTo>
                  <a:cubicBezTo>
                    <a:pt x="322" y="9335"/>
                    <a:pt x="12" y="9656"/>
                    <a:pt x="12" y="10049"/>
                  </a:cubicBezTo>
                  <a:lnTo>
                    <a:pt x="12" y="11240"/>
                  </a:lnTo>
                  <a:cubicBezTo>
                    <a:pt x="12" y="11644"/>
                    <a:pt x="334" y="11954"/>
                    <a:pt x="726" y="11954"/>
                  </a:cubicBezTo>
                  <a:lnTo>
                    <a:pt x="6251" y="11954"/>
                  </a:lnTo>
                  <a:cubicBezTo>
                    <a:pt x="6644" y="11954"/>
                    <a:pt x="6965" y="11620"/>
                    <a:pt x="6965" y="11240"/>
                  </a:cubicBezTo>
                  <a:lnTo>
                    <a:pt x="6965" y="10049"/>
                  </a:lnTo>
                  <a:cubicBezTo>
                    <a:pt x="6965" y="9644"/>
                    <a:pt x="6632" y="9335"/>
                    <a:pt x="6251" y="9335"/>
                  </a:cubicBezTo>
                  <a:lnTo>
                    <a:pt x="5953" y="9335"/>
                  </a:lnTo>
                  <a:lnTo>
                    <a:pt x="5953" y="8858"/>
                  </a:lnTo>
                  <a:cubicBezTo>
                    <a:pt x="5953" y="8751"/>
                    <a:pt x="5870" y="8680"/>
                    <a:pt x="5775" y="8680"/>
                  </a:cubicBezTo>
                  <a:lnTo>
                    <a:pt x="5239" y="8680"/>
                  </a:lnTo>
                  <a:lnTo>
                    <a:pt x="5239" y="7977"/>
                  </a:lnTo>
                  <a:cubicBezTo>
                    <a:pt x="5239" y="7870"/>
                    <a:pt x="5156" y="7799"/>
                    <a:pt x="5060" y="7799"/>
                  </a:cubicBezTo>
                  <a:lnTo>
                    <a:pt x="4477" y="7799"/>
                  </a:lnTo>
                  <a:lnTo>
                    <a:pt x="4477" y="6310"/>
                  </a:lnTo>
                  <a:cubicBezTo>
                    <a:pt x="4786" y="6179"/>
                    <a:pt x="5072" y="5965"/>
                    <a:pt x="5310" y="5703"/>
                  </a:cubicBezTo>
                  <a:cubicBezTo>
                    <a:pt x="5370" y="5632"/>
                    <a:pt x="5370" y="5525"/>
                    <a:pt x="5298" y="5453"/>
                  </a:cubicBezTo>
                  <a:cubicBezTo>
                    <a:pt x="5259" y="5425"/>
                    <a:pt x="5216" y="5410"/>
                    <a:pt x="5174" y="5410"/>
                  </a:cubicBezTo>
                  <a:cubicBezTo>
                    <a:pt x="5127" y="5410"/>
                    <a:pt x="5080" y="5428"/>
                    <a:pt x="5037" y="5465"/>
                  </a:cubicBezTo>
                  <a:cubicBezTo>
                    <a:pt x="4882" y="5644"/>
                    <a:pt x="4679" y="5786"/>
                    <a:pt x="4477" y="5906"/>
                  </a:cubicBezTo>
                  <a:cubicBezTo>
                    <a:pt x="4158" y="6080"/>
                    <a:pt x="3812" y="6165"/>
                    <a:pt x="3467" y="6165"/>
                  </a:cubicBezTo>
                  <a:cubicBezTo>
                    <a:pt x="3245" y="6165"/>
                    <a:pt x="3024" y="6130"/>
                    <a:pt x="2810" y="6060"/>
                  </a:cubicBezTo>
                  <a:cubicBezTo>
                    <a:pt x="1965" y="5786"/>
                    <a:pt x="1334" y="4989"/>
                    <a:pt x="1334" y="4036"/>
                  </a:cubicBezTo>
                  <a:lnTo>
                    <a:pt x="1334" y="1607"/>
                  </a:lnTo>
                  <a:lnTo>
                    <a:pt x="5572" y="1607"/>
                  </a:lnTo>
                  <a:lnTo>
                    <a:pt x="5572" y="4048"/>
                  </a:lnTo>
                  <a:cubicBezTo>
                    <a:pt x="5596" y="4358"/>
                    <a:pt x="5537" y="4655"/>
                    <a:pt x="5394" y="4929"/>
                  </a:cubicBezTo>
                  <a:cubicBezTo>
                    <a:pt x="5358" y="5013"/>
                    <a:pt x="5394" y="5120"/>
                    <a:pt x="5489" y="5167"/>
                  </a:cubicBezTo>
                  <a:cubicBezTo>
                    <a:pt x="5513" y="5179"/>
                    <a:pt x="5537" y="5179"/>
                    <a:pt x="5560" y="5179"/>
                  </a:cubicBezTo>
                  <a:cubicBezTo>
                    <a:pt x="5620" y="5179"/>
                    <a:pt x="5691" y="5132"/>
                    <a:pt x="5727" y="5072"/>
                  </a:cubicBezTo>
                  <a:cubicBezTo>
                    <a:pt x="5870" y="4751"/>
                    <a:pt x="5953" y="4405"/>
                    <a:pt x="5953" y="4048"/>
                  </a:cubicBezTo>
                  <a:lnTo>
                    <a:pt x="5953" y="1619"/>
                  </a:lnTo>
                  <a:lnTo>
                    <a:pt x="6310" y="1619"/>
                  </a:lnTo>
                  <a:cubicBezTo>
                    <a:pt x="6668" y="1619"/>
                    <a:pt x="6965" y="1322"/>
                    <a:pt x="6965" y="964"/>
                  </a:cubicBezTo>
                  <a:lnTo>
                    <a:pt x="6965" y="655"/>
                  </a:lnTo>
                  <a:cubicBezTo>
                    <a:pt x="6965" y="298"/>
                    <a:pt x="6668" y="0"/>
                    <a:pt x="6310" y="0"/>
                  </a:cubicBezTo>
                  <a:lnTo>
                    <a:pt x="2215" y="0"/>
                  </a:lnTo>
                  <a:cubicBezTo>
                    <a:pt x="2108" y="0"/>
                    <a:pt x="2036" y="71"/>
                    <a:pt x="2036" y="179"/>
                  </a:cubicBezTo>
                  <a:cubicBezTo>
                    <a:pt x="2036" y="286"/>
                    <a:pt x="2108" y="357"/>
                    <a:pt x="2215" y="357"/>
                  </a:cubicBezTo>
                  <a:lnTo>
                    <a:pt x="6310" y="357"/>
                  </a:lnTo>
                  <a:cubicBezTo>
                    <a:pt x="6465" y="357"/>
                    <a:pt x="6608" y="488"/>
                    <a:pt x="6608" y="655"/>
                  </a:cubicBezTo>
                  <a:lnTo>
                    <a:pt x="6608" y="964"/>
                  </a:lnTo>
                  <a:cubicBezTo>
                    <a:pt x="6608" y="1131"/>
                    <a:pt x="6465" y="1262"/>
                    <a:pt x="6310" y="1262"/>
                  </a:cubicBezTo>
                  <a:lnTo>
                    <a:pt x="655" y="1262"/>
                  </a:lnTo>
                  <a:cubicBezTo>
                    <a:pt x="488" y="1262"/>
                    <a:pt x="357" y="1131"/>
                    <a:pt x="357" y="964"/>
                  </a:cubicBezTo>
                  <a:lnTo>
                    <a:pt x="357" y="655"/>
                  </a:lnTo>
                  <a:cubicBezTo>
                    <a:pt x="357" y="488"/>
                    <a:pt x="488" y="357"/>
                    <a:pt x="655" y="357"/>
                  </a:cubicBezTo>
                  <a:lnTo>
                    <a:pt x="1500" y="357"/>
                  </a:lnTo>
                  <a:cubicBezTo>
                    <a:pt x="1608" y="357"/>
                    <a:pt x="1679" y="286"/>
                    <a:pt x="1679" y="179"/>
                  </a:cubicBezTo>
                  <a:cubicBezTo>
                    <a:pt x="1679" y="71"/>
                    <a:pt x="1608" y="0"/>
                    <a:pt x="15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765;p53">
              <a:extLst>
                <a:ext uri="{FF2B5EF4-FFF2-40B4-BE49-F238E27FC236}">
                  <a16:creationId xmlns:a16="http://schemas.microsoft.com/office/drawing/2014/main" id="{A3800BA3-0D50-48C7-0F9F-123C4F017D53}"/>
                </a:ext>
              </a:extLst>
            </p:cNvPr>
            <p:cNvSpPr/>
            <p:nvPr/>
          </p:nvSpPr>
          <p:spPr>
            <a:xfrm>
              <a:off x="969580" y="3869746"/>
              <a:ext cx="110792" cy="102955"/>
            </a:xfrm>
            <a:custGeom>
              <a:avLst/>
              <a:gdLst/>
              <a:ahLst/>
              <a:cxnLst/>
              <a:rect l="l" t="t" r="r" b="b"/>
              <a:pathLst>
                <a:path w="3478" h="3232" extrusionOk="0">
                  <a:moveTo>
                    <a:pt x="1815" y="1"/>
                  </a:moveTo>
                  <a:cubicBezTo>
                    <a:pt x="1680" y="1"/>
                    <a:pt x="1543" y="72"/>
                    <a:pt x="1477" y="211"/>
                  </a:cubicBezTo>
                  <a:cubicBezTo>
                    <a:pt x="1175" y="806"/>
                    <a:pt x="1156" y="843"/>
                    <a:pt x="1155" y="843"/>
                  </a:cubicBezTo>
                  <a:cubicBezTo>
                    <a:pt x="1155" y="843"/>
                    <a:pt x="1156" y="842"/>
                    <a:pt x="1156" y="842"/>
                  </a:cubicBezTo>
                  <a:lnTo>
                    <a:pt x="1156" y="842"/>
                  </a:lnTo>
                  <a:cubicBezTo>
                    <a:pt x="1052" y="977"/>
                    <a:pt x="1162" y="1139"/>
                    <a:pt x="1292" y="1139"/>
                  </a:cubicBezTo>
                  <a:cubicBezTo>
                    <a:pt x="1356" y="1139"/>
                    <a:pt x="1426" y="1099"/>
                    <a:pt x="1477" y="997"/>
                  </a:cubicBezTo>
                  <a:cubicBezTo>
                    <a:pt x="1762" y="396"/>
                    <a:pt x="1786" y="352"/>
                    <a:pt x="1795" y="352"/>
                  </a:cubicBezTo>
                  <a:cubicBezTo>
                    <a:pt x="1796" y="352"/>
                    <a:pt x="1797" y="354"/>
                    <a:pt x="1799" y="354"/>
                  </a:cubicBezTo>
                  <a:cubicBezTo>
                    <a:pt x="1801" y="354"/>
                    <a:pt x="1801" y="352"/>
                    <a:pt x="1803" y="352"/>
                  </a:cubicBezTo>
                  <a:cubicBezTo>
                    <a:pt x="1812" y="352"/>
                    <a:pt x="1837" y="396"/>
                    <a:pt x="2132" y="997"/>
                  </a:cubicBezTo>
                  <a:cubicBezTo>
                    <a:pt x="2192" y="1104"/>
                    <a:pt x="2287" y="1175"/>
                    <a:pt x="2406" y="1199"/>
                  </a:cubicBezTo>
                  <a:lnTo>
                    <a:pt x="3108" y="1306"/>
                  </a:lnTo>
                  <a:cubicBezTo>
                    <a:pt x="3120" y="1306"/>
                    <a:pt x="3120" y="1318"/>
                    <a:pt x="3120" y="1318"/>
                  </a:cubicBezTo>
                  <a:cubicBezTo>
                    <a:pt x="3120" y="1342"/>
                    <a:pt x="3156" y="1306"/>
                    <a:pt x="2608" y="1830"/>
                  </a:cubicBezTo>
                  <a:cubicBezTo>
                    <a:pt x="2525" y="1902"/>
                    <a:pt x="2489" y="1997"/>
                    <a:pt x="2489" y="2092"/>
                  </a:cubicBezTo>
                  <a:cubicBezTo>
                    <a:pt x="2489" y="2152"/>
                    <a:pt x="2608" y="2842"/>
                    <a:pt x="2608" y="2866"/>
                  </a:cubicBezTo>
                  <a:cubicBezTo>
                    <a:pt x="2608" y="2883"/>
                    <a:pt x="2596" y="2894"/>
                    <a:pt x="2584" y="2894"/>
                  </a:cubicBezTo>
                  <a:cubicBezTo>
                    <a:pt x="2580" y="2894"/>
                    <a:pt x="2576" y="2893"/>
                    <a:pt x="2573" y="2890"/>
                  </a:cubicBezTo>
                  <a:lnTo>
                    <a:pt x="1954" y="2556"/>
                  </a:lnTo>
                  <a:cubicBezTo>
                    <a:pt x="1900" y="2527"/>
                    <a:pt x="1840" y="2512"/>
                    <a:pt x="1781" y="2512"/>
                  </a:cubicBezTo>
                  <a:cubicBezTo>
                    <a:pt x="1721" y="2512"/>
                    <a:pt x="1662" y="2527"/>
                    <a:pt x="1608" y="2556"/>
                  </a:cubicBezTo>
                  <a:cubicBezTo>
                    <a:pt x="996" y="2879"/>
                    <a:pt x="977" y="2890"/>
                    <a:pt x="967" y="2890"/>
                  </a:cubicBezTo>
                  <a:cubicBezTo>
                    <a:pt x="967" y="2890"/>
                    <a:pt x="966" y="2890"/>
                    <a:pt x="965" y="2890"/>
                  </a:cubicBezTo>
                  <a:cubicBezTo>
                    <a:pt x="953" y="2890"/>
                    <a:pt x="953" y="2866"/>
                    <a:pt x="953" y="2854"/>
                  </a:cubicBezTo>
                  <a:cubicBezTo>
                    <a:pt x="1073" y="2116"/>
                    <a:pt x="1073" y="2152"/>
                    <a:pt x="1073" y="2092"/>
                  </a:cubicBezTo>
                  <a:cubicBezTo>
                    <a:pt x="1073" y="1997"/>
                    <a:pt x="1025" y="1902"/>
                    <a:pt x="953" y="1830"/>
                  </a:cubicBezTo>
                  <a:lnTo>
                    <a:pt x="441" y="1342"/>
                  </a:lnTo>
                  <a:cubicBezTo>
                    <a:pt x="430" y="1318"/>
                    <a:pt x="441" y="1306"/>
                    <a:pt x="465" y="1306"/>
                  </a:cubicBezTo>
                  <a:lnTo>
                    <a:pt x="608" y="1294"/>
                  </a:lnTo>
                  <a:cubicBezTo>
                    <a:pt x="703" y="1282"/>
                    <a:pt x="775" y="1187"/>
                    <a:pt x="763" y="1104"/>
                  </a:cubicBezTo>
                  <a:cubicBezTo>
                    <a:pt x="741" y="1016"/>
                    <a:pt x="668" y="948"/>
                    <a:pt x="581" y="948"/>
                  </a:cubicBezTo>
                  <a:cubicBezTo>
                    <a:pt x="574" y="948"/>
                    <a:pt x="568" y="948"/>
                    <a:pt x="561" y="949"/>
                  </a:cubicBezTo>
                  <a:lnTo>
                    <a:pt x="418" y="961"/>
                  </a:lnTo>
                  <a:cubicBezTo>
                    <a:pt x="108" y="1009"/>
                    <a:pt x="1" y="1378"/>
                    <a:pt x="203" y="1592"/>
                  </a:cubicBezTo>
                  <a:cubicBezTo>
                    <a:pt x="739" y="2116"/>
                    <a:pt x="727" y="2080"/>
                    <a:pt x="727" y="2092"/>
                  </a:cubicBezTo>
                  <a:cubicBezTo>
                    <a:pt x="608" y="2842"/>
                    <a:pt x="608" y="2806"/>
                    <a:pt x="608" y="2854"/>
                  </a:cubicBezTo>
                  <a:cubicBezTo>
                    <a:pt x="608" y="3074"/>
                    <a:pt x="785" y="3231"/>
                    <a:pt x="976" y="3231"/>
                  </a:cubicBezTo>
                  <a:cubicBezTo>
                    <a:pt x="1032" y="3231"/>
                    <a:pt x="1089" y="3217"/>
                    <a:pt x="1144" y="3187"/>
                  </a:cubicBezTo>
                  <a:cubicBezTo>
                    <a:pt x="1696" y="2896"/>
                    <a:pt x="1757" y="2851"/>
                    <a:pt x="1777" y="2851"/>
                  </a:cubicBezTo>
                  <a:cubicBezTo>
                    <a:pt x="1781" y="2851"/>
                    <a:pt x="1783" y="2852"/>
                    <a:pt x="1787" y="2854"/>
                  </a:cubicBezTo>
                  <a:cubicBezTo>
                    <a:pt x="2382" y="3152"/>
                    <a:pt x="2442" y="3223"/>
                    <a:pt x="2585" y="3223"/>
                  </a:cubicBezTo>
                  <a:cubicBezTo>
                    <a:pt x="2811" y="3223"/>
                    <a:pt x="2989" y="3021"/>
                    <a:pt x="2966" y="2795"/>
                  </a:cubicBezTo>
                  <a:cubicBezTo>
                    <a:pt x="2847" y="2068"/>
                    <a:pt x="2847" y="2092"/>
                    <a:pt x="2858" y="2080"/>
                  </a:cubicBezTo>
                  <a:lnTo>
                    <a:pt x="3359" y="1592"/>
                  </a:lnTo>
                  <a:cubicBezTo>
                    <a:pt x="3442" y="1521"/>
                    <a:pt x="3478" y="1425"/>
                    <a:pt x="3478" y="1318"/>
                  </a:cubicBezTo>
                  <a:cubicBezTo>
                    <a:pt x="3478" y="1128"/>
                    <a:pt x="3347" y="985"/>
                    <a:pt x="3168" y="949"/>
                  </a:cubicBezTo>
                  <a:lnTo>
                    <a:pt x="2466" y="842"/>
                  </a:lnTo>
                  <a:cubicBezTo>
                    <a:pt x="2465" y="842"/>
                    <a:pt x="2464" y="842"/>
                    <a:pt x="2463" y="842"/>
                  </a:cubicBezTo>
                  <a:cubicBezTo>
                    <a:pt x="2454" y="842"/>
                    <a:pt x="2444" y="821"/>
                    <a:pt x="2144" y="211"/>
                  </a:cubicBezTo>
                  <a:cubicBezTo>
                    <a:pt x="2079" y="70"/>
                    <a:pt x="1947" y="1"/>
                    <a:pt x="18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66;p53">
              <a:extLst>
                <a:ext uri="{FF2B5EF4-FFF2-40B4-BE49-F238E27FC236}">
                  <a16:creationId xmlns:a16="http://schemas.microsoft.com/office/drawing/2014/main" id="{630D1E9F-C749-2022-A5ED-63B075A10DC8}"/>
                </a:ext>
              </a:extLst>
            </p:cNvPr>
            <p:cNvSpPr/>
            <p:nvPr/>
          </p:nvSpPr>
          <p:spPr>
            <a:xfrm>
              <a:off x="982863" y="4127517"/>
              <a:ext cx="88015" cy="11404"/>
            </a:xfrm>
            <a:custGeom>
              <a:avLst/>
              <a:gdLst/>
              <a:ahLst/>
              <a:cxnLst/>
              <a:rect l="l" t="t" r="r" b="b"/>
              <a:pathLst>
                <a:path w="2763" h="358" extrusionOk="0">
                  <a:moveTo>
                    <a:pt x="179" y="1"/>
                  </a:moveTo>
                  <a:cubicBezTo>
                    <a:pt x="72" y="1"/>
                    <a:pt x="1" y="72"/>
                    <a:pt x="1" y="179"/>
                  </a:cubicBezTo>
                  <a:cubicBezTo>
                    <a:pt x="1" y="287"/>
                    <a:pt x="72" y="358"/>
                    <a:pt x="179" y="358"/>
                  </a:cubicBezTo>
                  <a:lnTo>
                    <a:pt x="2584" y="358"/>
                  </a:lnTo>
                  <a:cubicBezTo>
                    <a:pt x="2691" y="358"/>
                    <a:pt x="2763" y="287"/>
                    <a:pt x="2763" y="179"/>
                  </a:cubicBezTo>
                  <a:cubicBezTo>
                    <a:pt x="2763" y="72"/>
                    <a:pt x="2680" y="1"/>
                    <a:pt x="2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67;p53">
              <a:extLst>
                <a:ext uri="{FF2B5EF4-FFF2-40B4-BE49-F238E27FC236}">
                  <a16:creationId xmlns:a16="http://schemas.microsoft.com/office/drawing/2014/main" id="{2E367315-6789-5136-C026-AB878A5DEC83}"/>
                </a:ext>
              </a:extLst>
            </p:cNvPr>
            <p:cNvSpPr/>
            <p:nvPr/>
          </p:nvSpPr>
          <p:spPr>
            <a:xfrm>
              <a:off x="982863" y="4152173"/>
              <a:ext cx="88015" cy="11404"/>
            </a:xfrm>
            <a:custGeom>
              <a:avLst/>
              <a:gdLst/>
              <a:ahLst/>
              <a:cxnLst/>
              <a:rect l="l" t="t" r="r" b="b"/>
              <a:pathLst>
                <a:path w="2763" h="358" extrusionOk="0">
                  <a:moveTo>
                    <a:pt x="179" y="1"/>
                  </a:moveTo>
                  <a:cubicBezTo>
                    <a:pt x="72" y="1"/>
                    <a:pt x="1" y="72"/>
                    <a:pt x="1" y="179"/>
                  </a:cubicBezTo>
                  <a:cubicBezTo>
                    <a:pt x="1" y="286"/>
                    <a:pt x="72" y="358"/>
                    <a:pt x="179" y="358"/>
                  </a:cubicBezTo>
                  <a:lnTo>
                    <a:pt x="2584" y="358"/>
                  </a:lnTo>
                  <a:cubicBezTo>
                    <a:pt x="2691" y="358"/>
                    <a:pt x="2763" y="286"/>
                    <a:pt x="2763" y="179"/>
                  </a:cubicBezTo>
                  <a:cubicBezTo>
                    <a:pt x="2751" y="72"/>
                    <a:pt x="2680" y="1"/>
                    <a:pt x="2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78703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56"/>
          <p:cNvSpPr txBox="1">
            <a:spLocks noGrp="1"/>
          </p:cNvSpPr>
          <p:nvPr>
            <p:ph type="title"/>
          </p:nvPr>
        </p:nvSpPr>
        <p:spPr>
          <a:xfrm>
            <a:off x="2347938" y="540000"/>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Gracias!</a:t>
            </a:r>
            <a:endParaRPr dirty="0"/>
          </a:p>
        </p:txBody>
      </p:sp>
      <p:sp>
        <p:nvSpPr>
          <p:cNvPr id="800" name="Google Shape;800;p56"/>
          <p:cNvSpPr txBox="1">
            <a:spLocks noGrp="1"/>
          </p:cNvSpPr>
          <p:nvPr>
            <p:ph type="subTitle" idx="1"/>
          </p:nvPr>
        </p:nvSpPr>
        <p:spPr>
          <a:xfrm>
            <a:off x="2347900" y="1717825"/>
            <a:ext cx="4448100" cy="12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solidFill>
                  <a:schemeClr val="dk2"/>
                </a:solidFill>
                <a:latin typeface="Quicksand"/>
                <a:ea typeface="Quicksand"/>
                <a:cs typeface="Quicksand"/>
                <a:sym typeface="Quicksand"/>
              </a:rPr>
              <a:t>¿Alguna pregunta? ¡Es el momento!</a:t>
            </a:r>
            <a:endParaRPr sz="1800" b="1" dirty="0">
              <a:solidFill>
                <a:schemeClr val="dk2"/>
              </a:solidFill>
              <a:latin typeface="Quicksand"/>
              <a:ea typeface="Quicksand"/>
              <a:cs typeface="Quicksand"/>
              <a:sym typeface="Quicksand"/>
            </a:endParaRPr>
          </a:p>
          <a:p>
            <a:pPr marL="0" lvl="0" indent="0" algn="ctr" rtl="0">
              <a:spcBef>
                <a:spcPts val="0"/>
              </a:spcBef>
              <a:spcAft>
                <a:spcPts val="0"/>
              </a:spcAft>
              <a:buNone/>
            </a:pPr>
            <a:endParaRPr lang="es-ES" dirty="0"/>
          </a:p>
          <a:p>
            <a:pPr marL="0" lvl="0" indent="0" algn="ctr" rtl="0">
              <a:spcBef>
                <a:spcPts val="0"/>
              </a:spcBef>
              <a:spcAft>
                <a:spcPts val="0"/>
              </a:spcAft>
              <a:buNone/>
            </a:pPr>
            <a:r>
              <a:rPr lang="es-ES" sz="1200" dirty="0" err="1"/>
              <a:t>Github</a:t>
            </a:r>
            <a:r>
              <a:rPr lang="es-ES" sz="1200" dirty="0"/>
              <a:t> con toda la información del trabajo: </a:t>
            </a:r>
          </a:p>
          <a:p>
            <a:pPr marL="0" indent="0"/>
            <a:r>
              <a:rPr lang="es-ES" sz="1200" b="0" dirty="0">
                <a:solidFill>
                  <a:srgbClr val="C6D0F5"/>
                </a:solidFill>
                <a:effectLst/>
                <a:latin typeface="Consolas" panose="020B0609020204030204" pitchFamily="49" charset="0"/>
              </a:rPr>
              <a:t>https://github.com/RhysMoonbeam/TFM-MARTINEZ-REQUENA-ADRIAN</a:t>
            </a:r>
          </a:p>
          <a:p>
            <a:pPr marL="0" lvl="0" indent="0" algn="ctr" rtl="0">
              <a:spcBef>
                <a:spcPts val="0"/>
              </a:spcBef>
              <a:spcAft>
                <a:spcPts val="0"/>
              </a:spcAft>
              <a:buNone/>
            </a:pPr>
            <a:endParaRPr dirty="0"/>
          </a:p>
        </p:txBody>
      </p:sp>
      <p:cxnSp>
        <p:nvCxnSpPr>
          <p:cNvPr id="802" name="Google Shape;802;p56"/>
          <p:cNvCxnSpPr/>
          <p:nvPr/>
        </p:nvCxnSpPr>
        <p:spPr>
          <a:xfrm>
            <a:off x="2202000" y="1717825"/>
            <a:ext cx="4740000" cy="0"/>
          </a:xfrm>
          <a:prstGeom prst="straightConnector1">
            <a:avLst/>
          </a:prstGeom>
          <a:noFill/>
          <a:ln w="19050" cap="flat" cmpd="sng">
            <a:solidFill>
              <a:schemeClr val="lt1"/>
            </a:solidFill>
            <a:prstDash val="solid"/>
            <a:round/>
            <a:headEnd type="oval" w="med" len="med"/>
            <a:tailEnd type="oval" w="med" len="med"/>
          </a:ln>
        </p:spPr>
      </p:cxnSp>
      <p:sp>
        <p:nvSpPr>
          <p:cNvPr id="803" name="Google Shape;803;p56"/>
          <p:cNvSpPr/>
          <p:nvPr/>
        </p:nvSpPr>
        <p:spPr>
          <a:xfrm>
            <a:off x="1650400" y="10748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56"/>
          <p:cNvSpPr/>
          <p:nvPr/>
        </p:nvSpPr>
        <p:spPr>
          <a:xfrm>
            <a:off x="7254100" y="10748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Elegant Bachelor Thesis by Slidesgo">
  <a:themeElements>
    <a:clrScheme name="Simple Light">
      <a:dk1>
        <a:srgbClr val="5C5C5F"/>
      </a:dk1>
      <a:lt1>
        <a:srgbClr val="D0C9DD"/>
      </a:lt1>
      <a:dk2>
        <a:srgbClr val="85789C"/>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TotalTime>
  <Words>987</Words>
  <Application>Microsoft Office PowerPoint</Application>
  <PresentationFormat>Presentación en pantalla (16:9)</PresentationFormat>
  <Paragraphs>155</Paragraphs>
  <Slides>26</Slides>
  <Notes>17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26</vt:i4>
      </vt:variant>
    </vt:vector>
  </HeadingPairs>
  <TitlesOfParts>
    <vt:vector size="32" baseType="lpstr">
      <vt:lpstr>Arial</vt:lpstr>
      <vt:lpstr>Quicksand</vt:lpstr>
      <vt:lpstr>Consolas</vt:lpstr>
      <vt:lpstr>Mulish</vt:lpstr>
      <vt:lpstr>Bebas Neue</vt:lpstr>
      <vt:lpstr>Elegant Bachelor Thesis by Slidesgo</vt:lpstr>
      <vt:lpstr>Evaluación de Propensity Scores en estudios observacionales  </vt:lpstr>
      <vt:lpstr>Estado del Arte</vt:lpstr>
      <vt:lpstr>¿Qué son los estudios Observacionales?</vt:lpstr>
      <vt:lpstr>Propensity Scores (PS)</vt:lpstr>
      <vt:lpstr>PS: Matching</vt:lpstr>
      <vt:lpstr>PS: Weighting</vt:lpstr>
      <vt:lpstr>Otro Problema de Interés</vt:lpstr>
      <vt:lpstr>Hipótesis </vt:lpstr>
      <vt:lpstr>Metodología</vt:lpstr>
      <vt:lpstr>Methodology</vt:lpstr>
      <vt:lpstr>Datos Simulados: Variables Principales</vt:lpstr>
      <vt:lpstr>Datos Simulados: Covariables (C)</vt:lpstr>
      <vt:lpstr>Presentación de PowerPoint</vt:lpstr>
      <vt:lpstr>Resultados</vt:lpstr>
      <vt:lpstr>Presentación de PowerPoint</vt:lpstr>
      <vt:lpstr>Presentación de PowerPoint</vt:lpstr>
      <vt:lpstr>Asociaciones Significativas (1)</vt:lpstr>
      <vt:lpstr>Asociaciones Significativas (2)</vt:lpstr>
      <vt:lpstr>Balance de las variables ANTES y DESPUÉS de los PS (Emparejamiento)</vt:lpstr>
      <vt:lpstr>Resumen de los Modelos Logísticos</vt:lpstr>
      <vt:lpstr>Discusión</vt:lpstr>
      <vt:lpstr>Comparación de Asociaciones</vt:lpstr>
      <vt:lpstr>Validez Predictiva</vt:lpstr>
      <vt:lpstr>Conclusión</vt:lpstr>
      <vt:lpstr>Conclusiones</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Adrián Martínez Requena</cp:lastModifiedBy>
  <cp:revision>9</cp:revision>
  <dcterms:modified xsi:type="dcterms:W3CDTF">2025-01-13T17:15:36Z</dcterms:modified>
</cp:coreProperties>
</file>